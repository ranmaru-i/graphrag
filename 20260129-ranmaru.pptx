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handoutMasterIdLst>
    <p:handoutMasterId r:id="rId28"/>
  </p:handoutMasterIdLst>
  <p:sldIdLst>
    <p:sldId id="296" r:id="rId5"/>
    <p:sldId id="352" r:id="rId6"/>
    <p:sldId id="353" r:id="rId7"/>
    <p:sldId id="316" r:id="rId8"/>
    <p:sldId id="338" r:id="rId9"/>
    <p:sldId id="327" r:id="rId10"/>
    <p:sldId id="345" r:id="rId11"/>
    <p:sldId id="332" r:id="rId12"/>
    <p:sldId id="350" r:id="rId13"/>
    <p:sldId id="354" r:id="rId14"/>
    <p:sldId id="356" r:id="rId15"/>
    <p:sldId id="355" r:id="rId16"/>
    <p:sldId id="359" r:id="rId17"/>
    <p:sldId id="360" r:id="rId18"/>
    <p:sldId id="357" r:id="rId19"/>
    <p:sldId id="349" r:id="rId20"/>
    <p:sldId id="340" r:id="rId21"/>
    <p:sldId id="339" r:id="rId22"/>
    <p:sldId id="334" r:id="rId23"/>
    <p:sldId id="311" r:id="rId24"/>
    <p:sldId id="330" r:id="rId25"/>
    <p:sldId id="358" r:id="rId2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1D1"/>
    <a:srgbClr val="FFC000"/>
    <a:srgbClr val="71AD47"/>
    <a:srgbClr val="D0DEF0"/>
    <a:srgbClr val="DC8583"/>
    <a:srgbClr val="3B6FBB"/>
    <a:srgbClr val="FFFFFF"/>
    <a:srgbClr val="F8F8F8"/>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603" autoAdjust="0"/>
    <p:restoredTop sz="95624"/>
  </p:normalViewPr>
  <p:slideViewPr>
    <p:cSldViewPr snapToGrid="0">
      <p:cViewPr>
        <p:scale>
          <a:sx n="85" d="100"/>
          <a:sy n="85" d="100"/>
        </p:scale>
        <p:origin x="280" y="632"/>
      </p:cViewPr>
      <p:guideLst/>
    </p:cSldViewPr>
  </p:slideViewPr>
  <p:notesTextViewPr>
    <p:cViewPr>
      <p:scale>
        <a:sx n="1" d="1"/>
        <a:sy n="1" d="1"/>
      </p:scale>
      <p:origin x="0" y="0"/>
    </p:cViewPr>
  </p:notesTextViewPr>
  <p:notesViewPr>
    <p:cSldViewPr snapToGrid="0">
      <p:cViewPr varScale="1">
        <p:scale>
          <a:sx n="49" d="100"/>
          <a:sy n="49" d="100"/>
        </p:scale>
        <p:origin x="2733" y="3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ranmaru/Library/Containers/com.microsoft.Excel/Data/Library/Application%20Support/Microsoft/Microsoft%20PowerPoint%20&#20869;&#12398;&#12463;&#12441;&#12521;&#12501;%20(version%201).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ranmaru/Library/Containers/com.microsoft.Excel/Data/Library/Application%20Support/Microsoft/Microsoft%20PowerPoint%20&#20869;&#12398;&#12463;&#12441;&#12521;&#12501;%20(version%201).xlsb"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___1.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___2.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baseline="0">
                <a:solidFill>
                  <a:schemeClr val="dk1">
                    <a:lumMod val="75000"/>
                    <a:lumOff val="25000"/>
                  </a:schemeClr>
                </a:solidFill>
                <a:latin typeface="+mn-lt"/>
                <a:ea typeface="+mn-ea"/>
                <a:cs typeface="+mn-cs"/>
              </a:defRPr>
            </a:pPr>
            <a:r>
              <a:rPr lang="ja-JP" sz="2000"/>
              <a:t>各項目の所要時間</a:t>
            </a:r>
            <a:r>
              <a:rPr lang="en-US" sz="2000"/>
              <a:t> (sec)</a:t>
            </a:r>
            <a:endParaRPr lang="ja-JP" sz="2000"/>
          </a:p>
        </c:rich>
      </c:tx>
      <c:overlay val="0"/>
      <c:spPr>
        <a:noFill/>
        <a:ln>
          <a:noFill/>
        </a:ln>
        <a:effectLst/>
      </c:spPr>
      <c:txPr>
        <a:bodyPr rot="0" spcFirstLastPara="1" vertOverflow="ellipsis" vert="horz" wrap="square" anchor="ctr" anchorCtr="1"/>
        <a:lstStyle/>
        <a:p>
          <a:pPr>
            <a:defRPr sz="2000" b="1" i="0" u="none" strike="noStrike" kern="1200" baseline="0">
              <a:solidFill>
                <a:schemeClr val="dk1">
                  <a:lumMod val="75000"/>
                  <a:lumOff val="25000"/>
                </a:schemeClr>
              </a:solidFill>
              <a:latin typeface="+mn-lt"/>
              <a:ea typeface="+mn-ea"/>
              <a:cs typeface="+mn-cs"/>
            </a:defRPr>
          </a:pPr>
          <a:endParaRPr lang="ja-JP"/>
        </a:p>
      </c:txPr>
    </c:title>
    <c:autoTitleDeleted val="0"/>
    <c:plotArea>
      <c:layout>
        <c:manualLayout>
          <c:layoutTarget val="inner"/>
          <c:xMode val="edge"/>
          <c:yMode val="edge"/>
          <c:x val="0.12079768391434058"/>
          <c:y val="0.30940441835919147"/>
          <c:w val="0.8599886731465739"/>
          <c:h val="0.38474439773774155"/>
        </c:manualLayout>
      </c:layout>
      <c:barChart>
        <c:barDir val="col"/>
        <c:grouping val="clustered"/>
        <c:varyColors val="0"/>
        <c:ser>
          <c:idx val="0"/>
          <c:order val="0"/>
          <c:tx>
            <c:strRef>
              <c:f>Sheet1!$G$5</c:f>
              <c:strCache>
                <c:ptCount val="1"/>
                <c:pt idx="0">
                  <c:v>GraphRAG</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10000"/>
                      </a:schemeClr>
                    </a:solidFill>
                    <a:latin typeface="+mn-lt"/>
                    <a:ea typeface="+mn-ea"/>
                    <a:cs typeface="+mn-cs"/>
                  </a:defRPr>
                </a:pPr>
                <a:endParaRPr lang="ja-JP"/>
              </a:p>
            </c:txPr>
            <c:dLblPos val="inEnd"/>
            <c:showLegendKey val="0"/>
            <c:showVal val="1"/>
            <c:showCatName val="0"/>
            <c:showSerName val="0"/>
            <c:showPercent val="0"/>
            <c:showBubbleSize val="0"/>
            <c:separator>, </c:separator>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Sheet1!$F$6:$F$9</c:f>
              <c:strCache>
                <c:ptCount val="4"/>
                <c:pt idx="0">
                  <c:v>グラフ構築</c:v>
                </c:pt>
                <c:pt idx="1">
                  <c:v>コミュニティ検出・要約</c:v>
                </c:pt>
                <c:pt idx="2">
                  <c:v>埋め込み作成</c:v>
                </c:pt>
                <c:pt idx="3">
                  <c:v>合計</c:v>
                </c:pt>
              </c:strCache>
            </c:strRef>
          </c:cat>
          <c:val>
            <c:numRef>
              <c:f>Sheet1!$G$6:$G$9</c:f>
              <c:numCache>
                <c:formatCode>0.0</c:formatCode>
                <c:ptCount val="4"/>
                <c:pt idx="0">
                  <c:v>3587.6346580982167</c:v>
                </c:pt>
                <c:pt idx="1">
                  <c:v>2590.4890427589362</c:v>
                </c:pt>
                <c:pt idx="2">
                  <c:v>3389.8203732967299</c:v>
                </c:pt>
                <c:pt idx="3">
                  <c:v>9569.1953070163563</c:v>
                </c:pt>
              </c:numCache>
            </c:numRef>
          </c:val>
          <c:extLst>
            <c:ext xmlns:c16="http://schemas.microsoft.com/office/drawing/2014/chart" uri="{C3380CC4-5D6E-409C-BE32-E72D297353CC}">
              <c16:uniqueId val="{00000000-C24B-2940-821F-4965E1152906}"/>
            </c:ext>
          </c:extLst>
        </c:ser>
        <c:ser>
          <c:idx val="1"/>
          <c:order val="1"/>
          <c:tx>
            <c:strRef>
              <c:f>Sheet1!$H$5</c:f>
              <c:strCache>
                <c:ptCount val="1"/>
                <c:pt idx="0">
                  <c:v>RAG</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10000"/>
                      </a:schemeClr>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Sheet1!$F$6:$F$9</c:f>
              <c:strCache>
                <c:ptCount val="4"/>
                <c:pt idx="0">
                  <c:v>グラフ構築</c:v>
                </c:pt>
                <c:pt idx="1">
                  <c:v>コミュニティ検出・要約</c:v>
                </c:pt>
                <c:pt idx="2">
                  <c:v>埋め込み作成</c:v>
                </c:pt>
                <c:pt idx="3">
                  <c:v>合計</c:v>
                </c:pt>
              </c:strCache>
            </c:strRef>
          </c:cat>
          <c:val>
            <c:numRef>
              <c:f>Sheet1!$H$6:$H$9</c:f>
              <c:numCache>
                <c:formatCode>0.0</c:formatCode>
                <c:ptCount val="4"/>
                <c:pt idx="0">
                  <c:v>0</c:v>
                </c:pt>
                <c:pt idx="1">
                  <c:v>0</c:v>
                </c:pt>
                <c:pt idx="2">
                  <c:v>84.496503114700303</c:v>
                </c:pt>
                <c:pt idx="3">
                  <c:v>85.637134552001939</c:v>
                </c:pt>
              </c:numCache>
            </c:numRef>
          </c:val>
          <c:extLst>
            <c:ext xmlns:c16="http://schemas.microsoft.com/office/drawing/2014/chart" uri="{C3380CC4-5D6E-409C-BE32-E72D297353CC}">
              <c16:uniqueId val="{00000001-C24B-2940-821F-4965E1152906}"/>
            </c:ext>
          </c:extLst>
        </c:ser>
        <c:ser>
          <c:idx val="2"/>
          <c:order val="2"/>
          <c:tx>
            <c:strRef>
              <c:f>Sheet1!$I$5</c:f>
              <c:strCache>
                <c:ptCount val="1"/>
                <c:pt idx="0">
                  <c:v>提案手法</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lumMod val="10000"/>
                      </a:schemeClr>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Sheet1!$F$6:$F$9</c:f>
              <c:strCache>
                <c:ptCount val="4"/>
                <c:pt idx="0">
                  <c:v>グラフ構築</c:v>
                </c:pt>
                <c:pt idx="1">
                  <c:v>コミュニティ検出・要約</c:v>
                </c:pt>
                <c:pt idx="2">
                  <c:v>埋め込み作成</c:v>
                </c:pt>
                <c:pt idx="3">
                  <c:v>合計</c:v>
                </c:pt>
              </c:strCache>
            </c:strRef>
          </c:cat>
          <c:val>
            <c:numRef>
              <c:f>Sheet1!$I$6:$I$9</c:f>
              <c:numCache>
                <c:formatCode>0.0</c:formatCode>
                <c:ptCount val="4"/>
                <c:pt idx="0">
                  <c:v>2.1499450206756583</c:v>
                </c:pt>
                <c:pt idx="1">
                  <c:v>0</c:v>
                </c:pt>
                <c:pt idx="2">
                  <c:v>0</c:v>
                </c:pt>
                <c:pt idx="3">
                  <c:v>2.7057340145111071</c:v>
                </c:pt>
              </c:numCache>
            </c:numRef>
          </c:val>
          <c:extLst>
            <c:ext xmlns:c16="http://schemas.microsoft.com/office/drawing/2014/chart" uri="{C3380CC4-5D6E-409C-BE32-E72D297353CC}">
              <c16:uniqueId val="{00000004-C24B-2940-821F-4965E1152906}"/>
            </c:ext>
          </c:extLst>
        </c:ser>
        <c:dLbls>
          <c:dLblPos val="inEnd"/>
          <c:showLegendKey val="0"/>
          <c:showVal val="1"/>
          <c:showCatName val="0"/>
          <c:showSerName val="0"/>
          <c:showPercent val="0"/>
          <c:showBubbleSize val="0"/>
        </c:dLbls>
        <c:gapWidth val="65"/>
        <c:axId val="2003227760"/>
        <c:axId val="2025187375"/>
      </c:barChart>
      <c:catAx>
        <c:axId val="2003227760"/>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800" b="0" i="0" u="none" strike="noStrike" kern="1200" cap="all" baseline="0">
                <a:solidFill>
                  <a:schemeClr val="dk1">
                    <a:lumMod val="75000"/>
                    <a:lumOff val="25000"/>
                  </a:schemeClr>
                </a:solidFill>
                <a:latin typeface="+mn-lt"/>
                <a:ea typeface="+mn-ea"/>
                <a:cs typeface="+mn-cs"/>
              </a:defRPr>
            </a:pPr>
            <a:endParaRPr lang="ja-JP"/>
          </a:p>
        </c:txPr>
        <c:crossAx val="2025187375"/>
        <c:crosses val="autoZero"/>
        <c:auto val="1"/>
        <c:lblAlgn val="ctr"/>
        <c:lblOffset val="100"/>
        <c:noMultiLvlLbl val="0"/>
      </c:catAx>
      <c:valAx>
        <c:axId val="2025187375"/>
        <c:scaling>
          <c:logBase val="10"/>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dk1">
                    <a:lumMod val="75000"/>
                    <a:lumOff val="25000"/>
                  </a:schemeClr>
                </a:solidFill>
                <a:latin typeface="+mn-lt"/>
                <a:ea typeface="+mn-ea"/>
                <a:cs typeface="+mn-cs"/>
              </a:defRPr>
            </a:pPr>
            <a:endParaRPr lang="ja-JP"/>
          </a:p>
        </c:txPr>
        <c:crossAx val="2003227760"/>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200" b="1" i="0" u="none" strike="noStrike" kern="1200" cap="none" baseline="0">
                <a:solidFill>
                  <a:schemeClr val="lt1">
                    <a:lumMod val="85000"/>
                  </a:schemeClr>
                </a:solidFill>
                <a:latin typeface="+mn-lt"/>
                <a:ea typeface="+mn-ea"/>
                <a:cs typeface="+mn-cs"/>
              </a:defRPr>
            </a:pPr>
            <a:r>
              <a:rPr lang="en-US" sz="1200" dirty="0" err="1"/>
              <a:t>提案手法がGraphRAG</a:t>
            </a:r>
            <a:r>
              <a:rPr lang="ja-JP" sz="1200"/>
              <a:t>より</a:t>
            </a:r>
            <a:endParaRPr lang="en-US" altLang="ja-JP" sz="1200" dirty="0"/>
          </a:p>
          <a:p>
            <a:pPr>
              <a:defRPr sz="1200"/>
            </a:pPr>
            <a:r>
              <a:rPr lang="ja-JP" sz="1200"/>
              <a:t>優れていると判断した割合</a:t>
            </a:r>
            <a:r>
              <a:rPr lang="en-US" sz="1200" dirty="0"/>
              <a:t> (%)</a:t>
            </a:r>
          </a:p>
        </c:rich>
      </c:tx>
      <c:layout>
        <c:manualLayout>
          <c:xMode val="edge"/>
          <c:yMode val="edge"/>
          <c:x val="0.16853996469320534"/>
          <c:y val="3.8800997562704498E-2"/>
        </c:manualLayout>
      </c:layout>
      <c:overlay val="0"/>
      <c:spPr>
        <a:noFill/>
        <a:ln>
          <a:noFill/>
        </a:ln>
        <a:effectLst/>
      </c:spPr>
      <c:txPr>
        <a:bodyPr rot="0" spcFirstLastPara="1" vertOverflow="ellipsis" vert="horz" wrap="square" anchor="ctr" anchorCtr="1"/>
        <a:lstStyle/>
        <a:p>
          <a:pPr>
            <a:defRPr sz="1200" b="1" i="0" u="none" strike="noStrike" kern="1200" cap="none" baseline="0">
              <a:solidFill>
                <a:schemeClr val="lt1">
                  <a:lumMod val="85000"/>
                </a:schemeClr>
              </a:solidFill>
              <a:latin typeface="+mn-lt"/>
              <a:ea typeface="+mn-ea"/>
              <a:cs typeface="+mn-cs"/>
            </a:defRPr>
          </a:pPr>
          <a:endParaRPr lang="en-US" altLang="ja-JP"/>
        </a:p>
      </c:txPr>
    </c:title>
    <c:autoTitleDeleted val="0"/>
    <c:plotArea>
      <c:layout>
        <c:manualLayout>
          <c:layoutTarget val="inner"/>
          <c:xMode val="edge"/>
          <c:yMode val="edge"/>
          <c:x val="0.23585519628896548"/>
          <c:y val="0.36570092270334437"/>
          <c:w val="0.53656515326358589"/>
          <c:h val="0.57155779385088779"/>
        </c:manualLayout>
      </c:layout>
      <c:radarChart>
        <c:radarStyle val="marker"/>
        <c:varyColors val="0"/>
        <c:ser>
          <c:idx val="0"/>
          <c:order val="0"/>
          <c:tx>
            <c:strRef>
              <c:f>Sheet1!$I$7</c:f>
              <c:strCache>
                <c:ptCount val="1"/>
                <c:pt idx="0">
                  <c:v>GraphRAGとの比較</c:v>
                </c:pt>
              </c:strCache>
            </c:strRef>
          </c:tx>
          <c:spPr>
            <a:ln w="34925" cap="rnd">
              <a:solidFill>
                <a:schemeClr val="accent1">
                  <a:tint val="77000"/>
                </a:schemeClr>
              </a:solidFill>
              <a:round/>
            </a:ln>
            <a:effectLst>
              <a:outerShdw blurRad="57150" dist="19050" dir="5400000" algn="ctr" rotWithShape="0">
                <a:srgbClr val="000000">
                  <a:alpha val="63000"/>
                </a:srgbClr>
              </a:outerShdw>
            </a:effectLst>
          </c:spPr>
          <c:marker>
            <c:symbol val="none"/>
          </c:marker>
          <c:dLbls>
            <c:dLbl>
              <c:idx val="0"/>
              <c:layout>
                <c:manualLayout>
                  <c:x val="7.3762160592420425E-2"/>
                  <c:y val="0"/>
                </c:manualLayout>
              </c:layout>
              <c:tx>
                <c:rich>
                  <a:bodyPr/>
                  <a:lstStyle/>
                  <a:p>
                    <a:fld id="{D1CE2F20-3807-C745-898A-C6572C364554}" type="VALUE">
                      <a:rPr lang="en-US" altLang="ja-JP" sz="900" baseline="0" smtClean="0"/>
                      <a:pPr/>
                      <a:t>[値]</a:t>
                    </a:fld>
                    <a:endParaRPr lang="ja-JP" alt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3C3-5547-A6AE-52BE43F753E3}"/>
                </c:ext>
              </c:extLst>
            </c:dLbl>
            <c:dLbl>
              <c:idx val="1"/>
              <c:layout>
                <c:manualLayout>
                  <c:x val="7.7644379570968947E-3"/>
                  <c:y val="-7.266115690533935E-2"/>
                </c:manualLayout>
              </c:layout>
              <c:tx>
                <c:rich>
                  <a:bodyPr/>
                  <a:lstStyle/>
                  <a:p>
                    <a:fld id="{ADA5BDF5-DA2E-6446-AE86-568063409883}" type="VALUE">
                      <a:rPr lang="en-US" altLang="ja-JP" baseline="0" smtClean="0"/>
                      <a:pPr/>
                      <a:t>[値]</a:t>
                    </a:fld>
                    <a:endParaRPr lang="ja-JP" alt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3C3-5547-A6AE-52BE43F753E3}"/>
                </c:ext>
              </c:extLst>
            </c:dLbl>
            <c:dLbl>
              <c:idx val="2"/>
              <c:layout>
                <c:manualLayout>
                  <c:x val="0.10093769344225949"/>
                  <c:y val="3.4418442744634424E-2"/>
                </c:manualLayout>
              </c:layout>
              <c:tx>
                <c:rich>
                  <a:bodyPr/>
                  <a:lstStyle/>
                  <a:p>
                    <a:fld id="{C2C4B3F1-60F0-8C47-9597-98924A8A3ACA}" type="VALUE">
                      <a:rPr lang="en-US" altLang="ja-JP" baseline="0" smtClean="0"/>
                      <a:pPr/>
                      <a:t>[値]</a:t>
                    </a:fld>
                    <a:endParaRPr lang="ja-JP" alt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33C3-5547-A6AE-52BE43F753E3}"/>
                </c:ext>
              </c:extLst>
            </c:dLbl>
            <c:dLbl>
              <c:idx val="3"/>
              <c:layout>
                <c:manualLayout>
                  <c:x val="-1.1646656935645342E-2"/>
                  <c:y val="-7.266115690533935E-2"/>
                </c:manualLayout>
              </c:layout>
              <c:tx>
                <c:rich>
                  <a:bodyPr/>
                  <a:lstStyle/>
                  <a:p>
                    <a:fld id="{CF26B27C-1588-054B-B021-0DA3ACFDDA46}" type="VALUE">
                      <a:rPr lang="en-US" altLang="ja-JP" baseline="0" smtClean="0"/>
                      <a:pPr/>
                      <a:t>[値]</a:t>
                    </a:fld>
                    <a:endParaRPr lang="ja-JP" altLang="en-US"/>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33C3-5547-A6AE-52BE43F753E3}"/>
                </c:ext>
              </c:extLst>
            </c:dLbl>
            <c:spPr>
              <a:solidFill>
                <a:srgbClr val="F8F8F8">
                  <a:lumMod val="10000"/>
                </a:srgbClr>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lt1">
                        <a:lumMod val="15000"/>
                        <a:lumOff val="85000"/>
                      </a:schemeClr>
                    </a:solidFill>
                    <a:latin typeface="+mn-lt"/>
                    <a:ea typeface="+mn-ea"/>
                    <a:cs typeface="+mn-cs"/>
                  </a:defRPr>
                </a:pPr>
                <a:endParaRPr lang="ja-JP"/>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Sheet1!$H$8:$H$11</c:f>
              <c:strCache>
                <c:ptCount val="4"/>
                <c:pt idx="0">
                  <c:v>Comprehensiveness</c:v>
                </c:pt>
                <c:pt idx="1">
                  <c:v>Diversity</c:v>
                </c:pt>
                <c:pt idx="2">
                  <c:v>Empowerment</c:v>
                </c:pt>
                <c:pt idx="3">
                  <c:v>Directness</c:v>
                </c:pt>
              </c:strCache>
            </c:strRef>
          </c:cat>
          <c:val>
            <c:numRef>
              <c:f>Sheet1!$I$8:$I$11</c:f>
              <c:numCache>
                <c:formatCode>General</c:formatCode>
                <c:ptCount val="4"/>
                <c:pt idx="0">
                  <c:v>47.92</c:v>
                </c:pt>
                <c:pt idx="1">
                  <c:v>48.88</c:v>
                </c:pt>
                <c:pt idx="2">
                  <c:v>31.84</c:v>
                </c:pt>
                <c:pt idx="3">
                  <c:v>46.96</c:v>
                </c:pt>
              </c:numCache>
            </c:numRef>
          </c:val>
          <c:extLst>
            <c:ext xmlns:c16="http://schemas.microsoft.com/office/drawing/2014/chart" uri="{C3380CC4-5D6E-409C-BE32-E72D297353CC}">
              <c16:uniqueId val="{00000000-33C3-5547-A6AE-52BE43F753E3}"/>
            </c:ext>
          </c:extLst>
        </c:ser>
        <c:ser>
          <c:idx val="1"/>
          <c:order val="1"/>
          <c:tx>
            <c:strRef>
              <c:f>Sheet1!$J$7</c:f>
              <c:strCache>
                <c:ptCount val="1"/>
                <c:pt idx="0">
                  <c:v>50%</c:v>
                </c:pt>
              </c:strCache>
            </c:strRef>
          </c:tx>
          <c:spPr>
            <a:ln w="34925" cap="rnd">
              <a:solidFill>
                <a:schemeClr val="accent1">
                  <a:shade val="76000"/>
                </a:schemeClr>
              </a:solidFill>
              <a:round/>
            </a:ln>
            <a:effectLst>
              <a:outerShdw blurRad="57150" dist="19050" dir="5400000" algn="ctr" rotWithShape="0">
                <a:srgbClr val="000000">
                  <a:alpha val="63000"/>
                </a:srgbClr>
              </a:outerShdw>
            </a:effectLst>
          </c:spPr>
          <c:marker>
            <c:symbol val="none"/>
          </c:marker>
          <c:dLbls>
            <c:delete val="1"/>
          </c:dLbls>
          <c:cat>
            <c:strRef>
              <c:f>Sheet1!$H$8:$H$11</c:f>
              <c:strCache>
                <c:ptCount val="4"/>
                <c:pt idx="0">
                  <c:v>Comprehensiveness</c:v>
                </c:pt>
                <c:pt idx="1">
                  <c:v>Diversity</c:v>
                </c:pt>
                <c:pt idx="2">
                  <c:v>Empowerment</c:v>
                </c:pt>
                <c:pt idx="3">
                  <c:v>Directness</c:v>
                </c:pt>
              </c:strCache>
            </c:strRef>
          </c:cat>
          <c:val>
            <c:numRef>
              <c:f>Sheet1!$J$8:$J$11</c:f>
              <c:numCache>
                <c:formatCode>General</c:formatCode>
                <c:ptCount val="4"/>
                <c:pt idx="0">
                  <c:v>50</c:v>
                </c:pt>
                <c:pt idx="1">
                  <c:v>50</c:v>
                </c:pt>
                <c:pt idx="2">
                  <c:v>50</c:v>
                </c:pt>
                <c:pt idx="3">
                  <c:v>50</c:v>
                </c:pt>
              </c:numCache>
            </c:numRef>
          </c:val>
          <c:extLst>
            <c:ext xmlns:c16="http://schemas.microsoft.com/office/drawing/2014/chart" uri="{C3380CC4-5D6E-409C-BE32-E72D297353CC}">
              <c16:uniqueId val="{00000001-33C3-5547-A6AE-52BE43F753E3}"/>
            </c:ext>
          </c:extLst>
        </c:ser>
        <c:dLbls>
          <c:showLegendKey val="0"/>
          <c:showVal val="0"/>
          <c:showCatName val="0"/>
          <c:showSerName val="0"/>
          <c:showPercent val="0"/>
          <c:showBubbleSize val="0"/>
        </c:dLbls>
        <c:axId val="710515984"/>
        <c:axId val="688298528"/>
      </c:radarChart>
      <c:catAx>
        <c:axId val="710515984"/>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700" b="0" i="0" u="none" strike="noStrike" kern="1200" baseline="0">
                <a:solidFill>
                  <a:schemeClr val="lt1">
                    <a:lumMod val="85000"/>
                  </a:schemeClr>
                </a:solidFill>
                <a:latin typeface="+mn-lt"/>
                <a:ea typeface="+mn-ea"/>
                <a:cs typeface="+mn-cs"/>
              </a:defRPr>
            </a:pPr>
            <a:endParaRPr lang="ja-JP"/>
          </a:p>
        </c:txPr>
        <c:crossAx val="688298528"/>
        <c:crosses val="autoZero"/>
        <c:auto val="1"/>
        <c:lblAlgn val="ctr"/>
        <c:lblOffset val="100"/>
        <c:noMultiLvlLbl val="0"/>
      </c:catAx>
      <c:valAx>
        <c:axId val="688298528"/>
        <c:scaling>
          <c:orientation val="minMax"/>
          <c:max val="70"/>
          <c:min val="0"/>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ja-JP"/>
          </a:p>
        </c:txPr>
        <c:crossAx val="710515984"/>
        <c:crosses val="autoZero"/>
        <c:crossBetween val="between"/>
        <c:majorUnit val="10"/>
      </c:valAx>
      <c:spPr>
        <a:noFill/>
        <a:ln>
          <a:noFill/>
        </a:ln>
        <a:effectLst/>
      </c:spPr>
    </c:plotArea>
    <c:legend>
      <c:legendPos val="t"/>
      <c:layout>
        <c:manualLayout>
          <c:xMode val="edge"/>
          <c:yMode val="edge"/>
          <c:x val="3.4032081801716437E-3"/>
          <c:y val="0.21181103642573354"/>
          <c:w val="0.44143947788740046"/>
          <c:h val="0.1005193179908783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200" b="1" i="0" u="none" strike="noStrike" kern="1200" cap="none" baseline="0">
                <a:solidFill>
                  <a:schemeClr val="lt1">
                    <a:lumMod val="85000"/>
                  </a:schemeClr>
                </a:solidFill>
                <a:latin typeface="+mn-lt"/>
                <a:ea typeface="+mn-ea"/>
                <a:cs typeface="+mn-cs"/>
              </a:defRPr>
            </a:pPr>
            <a:r>
              <a:rPr lang="ja-JP" altLang="en-US" sz="1200" b="1" i="0" u="none" strike="noStrike" kern="1200" cap="none" baseline="0">
                <a:solidFill>
                  <a:sysClr val="window" lastClr="FFFFFF">
                    <a:lumMod val="85000"/>
                  </a:sysClr>
                </a:solidFill>
              </a:rPr>
              <a:t>提案手法が</a:t>
            </a:r>
            <a:r>
              <a:rPr lang="en-US" altLang="ja-JP" sz="1200" b="1" i="0" u="none" strike="noStrike" kern="1200" cap="none" baseline="0" dirty="0">
                <a:solidFill>
                  <a:sysClr val="window" lastClr="FFFFFF">
                    <a:lumMod val="85000"/>
                  </a:sysClr>
                </a:solidFill>
              </a:rPr>
              <a:t>RAG</a:t>
            </a:r>
            <a:r>
              <a:rPr lang="ja-JP" altLang="en-US" sz="1200" b="1" i="0" u="none" strike="noStrike" kern="1200" cap="none" baseline="0">
                <a:solidFill>
                  <a:sysClr val="window" lastClr="FFFFFF">
                    <a:lumMod val="85000"/>
                  </a:sysClr>
                </a:solidFill>
              </a:rPr>
              <a:t>より</a:t>
            </a:r>
            <a:endParaRPr lang="en-US" altLang="ja-JP" sz="1200" b="1" i="0" u="none" strike="noStrike" kern="1200" cap="none" baseline="0" dirty="0">
              <a:solidFill>
                <a:sysClr val="window" lastClr="FFFFFF">
                  <a:lumMod val="85000"/>
                </a:sysClr>
              </a:solidFill>
            </a:endParaRPr>
          </a:p>
          <a:p>
            <a:pPr>
              <a:defRPr sz="1200"/>
            </a:pPr>
            <a:r>
              <a:rPr lang="ja-JP" altLang="en-US" sz="1200" b="1" i="0" u="none" strike="noStrike" kern="1200" cap="none" baseline="0">
                <a:solidFill>
                  <a:sysClr val="window" lastClr="FFFFFF">
                    <a:lumMod val="85000"/>
                  </a:sysClr>
                </a:solidFill>
              </a:rPr>
              <a:t>優れていると判断した割合</a:t>
            </a:r>
            <a:r>
              <a:rPr lang="en-US" altLang="ja-JP" sz="1200" b="1" i="0" u="none" strike="noStrike" kern="1200" cap="none" baseline="0" dirty="0">
                <a:solidFill>
                  <a:sysClr val="window" lastClr="FFFFFF">
                    <a:lumMod val="85000"/>
                  </a:sysClr>
                </a:solidFill>
              </a:rPr>
              <a:t> (%)</a:t>
            </a:r>
          </a:p>
        </c:rich>
      </c:tx>
      <c:layout>
        <c:manualLayout>
          <c:xMode val="edge"/>
          <c:yMode val="edge"/>
          <c:x val="0.18335475686457325"/>
          <c:y val="4.1906273553908135E-2"/>
        </c:manualLayout>
      </c:layout>
      <c:overlay val="0"/>
      <c:spPr>
        <a:noFill/>
        <a:ln>
          <a:noFill/>
        </a:ln>
        <a:effectLst/>
      </c:spPr>
      <c:txPr>
        <a:bodyPr rot="0" spcFirstLastPara="1" vertOverflow="ellipsis" vert="horz" wrap="square" anchor="ctr" anchorCtr="1"/>
        <a:lstStyle/>
        <a:p>
          <a:pPr>
            <a:defRPr sz="1200" b="1" i="0" u="none" strike="noStrike" kern="1200" cap="none" baseline="0">
              <a:solidFill>
                <a:schemeClr val="lt1">
                  <a:lumMod val="85000"/>
                </a:schemeClr>
              </a:solidFill>
              <a:latin typeface="+mn-lt"/>
              <a:ea typeface="+mn-ea"/>
              <a:cs typeface="+mn-cs"/>
            </a:defRPr>
          </a:pPr>
          <a:endParaRPr lang="ja-JP"/>
        </a:p>
      </c:txPr>
    </c:title>
    <c:autoTitleDeleted val="0"/>
    <c:plotArea>
      <c:layout>
        <c:manualLayout>
          <c:layoutTarget val="inner"/>
          <c:xMode val="edge"/>
          <c:yMode val="edge"/>
          <c:x val="0.23924984524619225"/>
          <c:y val="0.40094064167706678"/>
          <c:w val="0.52439026999763094"/>
          <c:h val="0.51451588086405142"/>
        </c:manualLayout>
      </c:layout>
      <c:radarChart>
        <c:radarStyle val="marker"/>
        <c:varyColors val="0"/>
        <c:ser>
          <c:idx val="0"/>
          <c:order val="0"/>
          <c:tx>
            <c:strRef>
              <c:f>Sheet1!$I$13</c:f>
              <c:strCache>
                <c:ptCount val="1"/>
                <c:pt idx="0">
                  <c:v>RAGとの比較</c:v>
                </c:pt>
              </c:strCache>
            </c:strRef>
          </c:tx>
          <c:spPr>
            <a:ln w="34925" cap="rnd">
              <a:solidFill>
                <a:schemeClr val="accent1">
                  <a:tint val="77000"/>
                </a:schemeClr>
              </a:solidFill>
              <a:round/>
            </a:ln>
            <a:effectLst>
              <a:outerShdw blurRad="57150" dist="19050" dir="5400000" algn="ctr" rotWithShape="0">
                <a:srgbClr val="000000">
                  <a:alpha val="63000"/>
                </a:srgbClr>
              </a:outerShdw>
            </a:effectLst>
          </c:spPr>
          <c:marker>
            <c:symbol val="none"/>
          </c:marker>
          <c:dLbls>
            <c:dLbl>
              <c:idx val="0"/>
              <c:layout>
                <c:manualLayout>
                  <c:x val="7.7644379570968883E-2"/>
                  <c:y val="0"/>
                </c:manualLayout>
              </c:layout>
              <c:tx>
                <c:rich>
                  <a:bodyPr/>
                  <a:lstStyle/>
                  <a:p>
                    <a:fld id="{F9B0E876-E95C-534D-95E6-934A973927FA}" type="VALUE">
                      <a:rPr lang="en-US" altLang="ja-JP" baseline="0" smtClean="0"/>
                      <a:pPr/>
                      <a:t>[値]</a:t>
                    </a:fld>
                    <a:endParaRPr lang="ja-JP" altLang="en-US"/>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3-3ACF-5C44-B30A-499358DE5B3D}"/>
                </c:ext>
              </c:extLst>
            </c:dLbl>
            <c:dLbl>
              <c:idx val="1"/>
              <c:layout>
                <c:manualLayout>
                  <c:x val="0"/>
                  <c:y val="-7.2373202179774068E-2"/>
                </c:manualLayout>
              </c:layout>
              <c:tx>
                <c:rich>
                  <a:bodyPr/>
                  <a:lstStyle/>
                  <a:p>
                    <a:fld id="{42CB91F5-3673-FF4D-A199-73E3D0102E16}" type="VALUE">
                      <a:rPr lang="en-US" altLang="ja-JP" baseline="0" smtClean="0"/>
                      <a:pPr/>
                      <a:t>[値]</a:t>
                    </a:fld>
                    <a:endParaRPr lang="ja-JP" altLang="en-US"/>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6-3ACF-5C44-B30A-499358DE5B3D}"/>
                </c:ext>
              </c:extLst>
            </c:dLbl>
            <c:dLbl>
              <c:idx val="2"/>
              <c:layout>
                <c:manualLayout>
                  <c:x val="8.9291036506614296E-2"/>
                  <c:y val="-2.2854695425191814E-2"/>
                </c:manualLayout>
              </c:layout>
              <c:tx>
                <c:rich>
                  <a:bodyPr/>
                  <a:lstStyle/>
                  <a:p>
                    <a:fld id="{916BA9D4-0238-7945-889D-968F01FC282E}" type="VALUE">
                      <a:rPr lang="en-US" altLang="ja-JP" baseline="0" smtClean="0"/>
                      <a:pPr/>
                      <a:t>[値]</a:t>
                    </a:fld>
                    <a:endParaRPr lang="ja-JP" altLang="en-US"/>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7-3ACF-5C44-B30A-499358DE5B3D}"/>
                </c:ext>
              </c:extLst>
            </c:dLbl>
            <c:dLbl>
              <c:idx val="3"/>
              <c:layout>
                <c:manualLayout>
                  <c:x val="-3.8822189785484829E-3"/>
                  <c:y val="-6.4754970371376799E-2"/>
                </c:manualLayout>
              </c:layout>
              <c:tx>
                <c:rich>
                  <a:bodyPr/>
                  <a:lstStyle/>
                  <a:p>
                    <a:fld id="{3C610ECD-12BD-9A42-AA37-DEE0566A3063}" type="VALUE">
                      <a:rPr lang="en-US" altLang="ja-JP" baseline="0" smtClean="0"/>
                      <a:pPr/>
                      <a:t>[値]</a:t>
                    </a:fld>
                    <a:endParaRPr lang="ja-JP" altLang="en-US"/>
                  </a:p>
                </c:rich>
              </c:tx>
              <c:showLegendKey val="0"/>
              <c:showVal val="1"/>
              <c:showCatName val="1"/>
              <c:showSerName val="0"/>
              <c:showPercent val="0"/>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5-3ACF-5C44-B30A-499358DE5B3D}"/>
                </c:ext>
              </c:extLst>
            </c:dLbl>
            <c:spPr>
              <a:solidFill>
                <a:srgbClr val="F8F8F8">
                  <a:lumMod val="10000"/>
                </a:srgbClr>
              </a:solidFill>
              <a:ln>
                <a:no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lt1">
                        <a:lumMod val="15000"/>
                        <a:lumOff val="85000"/>
                      </a:schemeClr>
                    </a:solidFill>
                    <a:latin typeface="+mn-lt"/>
                    <a:ea typeface="+mn-ea"/>
                    <a:cs typeface="+mn-cs"/>
                  </a:defRPr>
                </a:pPr>
                <a:endParaRPr lang="ja-JP"/>
              </a:p>
            </c:txPr>
            <c:showLegendKey val="0"/>
            <c:showVal val="1"/>
            <c:showCatName val="1"/>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Sheet1!$H$14:$H$17</c:f>
              <c:strCache>
                <c:ptCount val="4"/>
                <c:pt idx="0">
                  <c:v>Comprehensiveness</c:v>
                </c:pt>
                <c:pt idx="1">
                  <c:v>Diversity</c:v>
                </c:pt>
                <c:pt idx="2">
                  <c:v>Empowerment</c:v>
                </c:pt>
                <c:pt idx="3">
                  <c:v>Directness</c:v>
                </c:pt>
              </c:strCache>
            </c:strRef>
          </c:cat>
          <c:val>
            <c:numRef>
              <c:f>Sheet1!$I$14:$I$17</c:f>
              <c:numCache>
                <c:formatCode>General</c:formatCode>
                <c:ptCount val="4"/>
                <c:pt idx="0">
                  <c:v>51.76</c:v>
                </c:pt>
                <c:pt idx="1">
                  <c:v>52.16</c:v>
                </c:pt>
                <c:pt idx="2">
                  <c:v>54.72</c:v>
                </c:pt>
                <c:pt idx="3">
                  <c:v>49.6</c:v>
                </c:pt>
              </c:numCache>
            </c:numRef>
          </c:val>
          <c:extLst>
            <c:ext xmlns:c16="http://schemas.microsoft.com/office/drawing/2014/chart" uri="{C3380CC4-5D6E-409C-BE32-E72D297353CC}">
              <c16:uniqueId val="{00000000-3ACF-5C44-B30A-499358DE5B3D}"/>
            </c:ext>
          </c:extLst>
        </c:ser>
        <c:ser>
          <c:idx val="1"/>
          <c:order val="1"/>
          <c:tx>
            <c:strRef>
              <c:f>Sheet1!$J$13</c:f>
              <c:strCache>
                <c:ptCount val="1"/>
                <c:pt idx="0">
                  <c:v>50%</c:v>
                </c:pt>
              </c:strCache>
            </c:strRef>
          </c:tx>
          <c:spPr>
            <a:ln w="34925" cap="rnd">
              <a:solidFill>
                <a:schemeClr val="accent1">
                  <a:shade val="76000"/>
                </a:schemeClr>
              </a:solidFill>
              <a:round/>
            </a:ln>
            <a:effectLst>
              <a:outerShdw blurRad="57150" dist="19050" dir="5400000" algn="ctr" rotWithShape="0">
                <a:srgbClr val="000000">
                  <a:alpha val="63000"/>
                </a:srgbClr>
              </a:outerShdw>
            </a:effectLst>
          </c:spPr>
          <c:marker>
            <c:symbol val="none"/>
          </c:marker>
          <c:dLbls>
            <c:delete val="1"/>
          </c:dLbls>
          <c:cat>
            <c:strRef>
              <c:f>Sheet1!$H$14:$H$17</c:f>
              <c:strCache>
                <c:ptCount val="4"/>
                <c:pt idx="0">
                  <c:v>Comprehensiveness</c:v>
                </c:pt>
                <c:pt idx="1">
                  <c:v>Diversity</c:v>
                </c:pt>
                <c:pt idx="2">
                  <c:v>Empowerment</c:v>
                </c:pt>
                <c:pt idx="3">
                  <c:v>Directness</c:v>
                </c:pt>
              </c:strCache>
            </c:strRef>
          </c:cat>
          <c:val>
            <c:numRef>
              <c:f>Sheet1!$J$14:$J$17</c:f>
              <c:numCache>
                <c:formatCode>General</c:formatCode>
                <c:ptCount val="4"/>
                <c:pt idx="0">
                  <c:v>50</c:v>
                </c:pt>
                <c:pt idx="1">
                  <c:v>50</c:v>
                </c:pt>
                <c:pt idx="2">
                  <c:v>50</c:v>
                </c:pt>
                <c:pt idx="3">
                  <c:v>50</c:v>
                </c:pt>
              </c:numCache>
            </c:numRef>
          </c:val>
          <c:extLst>
            <c:ext xmlns:c16="http://schemas.microsoft.com/office/drawing/2014/chart" uri="{C3380CC4-5D6E-409C-BE32-E72D297353CC}">
              <c16:uniqueId val="{00000001-3ACF-5C44-B30A-499358DE5B3D}"/>
            </c:ext>
          </c:extLst>
        </c:ser>
        <c:dLbls>
          <c:showLegendKey val="0"/>
          <c:showVal val="0"/>
          <c:showCatName val="0"/>
          <c:showSerName val="0"/>
          <c:showPercent val="0"/>
          <c:showBubbleSize val="0"/>
        </c:dLbls>
        <c:axId val="1235527376"/>
        <c:axId val="1235529088"/>
      </c:radarChart>
      <c:catAx>
        <c:axId val="123552737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700" b="0" i="0" u="none" strike="noStrike" kern="1200" baseline="0">
                <a:solidFill>
                  <a:schemeClr val="lt1">
                    <a:lumMod val="85000"/>
                  </a:schemeClr>
                </a:solidFill>
                <a:latin typeface="+mn-lt"/>
                <a:ea typeface="+mn-ea"/>
                <a:cs typeface="+mn-cs"/>
              </a:defRPr>
            </a:pPr>
            <a:endParaRPr lang="ja-JP"/>
          </a:p>
        </c:txPr>
        <c:crossAx val="1235529088"/>
        <c:crosses val="autoZero"/>
        <c:auto val="1"/>
        <c:lblAlgn val="ctr"/>
        <c:lblOffset val="100"/>
        <c:noMultiLvlLbl val="0"/>
      </c:catAx>
      <c:valAx>
        <c:axId val="1235529088"/>
        <c:scaling>
          <c:orientation val="minMax"/>
          <c:max val="70"/>
          <c:min val="0"/>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ja-JP"/>
          </a:p>
        </c:txPr>
        <c:crossAx val="1235527376"/>
        <c:crosses val="autoZero"/>
        <c:crossBetween val="between"/>
        <c:majorUnit val="10"/>
      </c:valAx>
      <c:spPr>
        <a:noFill/>
        <a:ln>
          <a:noFill/>
        </a:ln>
        <a:effectLst/>
      </c:spPr>
    </c:plotArea>
    <c:legend>
      <c:legendPos val="t"/>
      <c:layout>
        <c:manualLayout>
          <c:xMode val="edge"/>
          <c:yMode val="edge"/>
          <c:x val="3.5398500607549896E-4"/>
          <c:y val="0.21973739894970376"/>
          <c:w val="0.36807470978884704"/>
          <c:h val="9.7059220538609145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ja-JP" altLang="en-US"/>
              <a:t>提案手法が優れていると</a:t>
            </a:r>
            <a:endParaRPr lang="en-US" altLang="ja-JP" dirty="0"/>
          </a:p>
          <a:p>
            <a:pPr>
              <a:defRPr/>
            </a:pPr>
            <a:r>
              <a:rPr lang="ja-JP" altLang="en-US"/>
              <a:t>評価した割合</a:t>
            </a:r>
            <a:r>
              <a:rPr lang="en-US" altLang="ja-JP" dirty="0"/>
              <a:t> (%)</a:t>
            </a:r>
            <a:endParaRPr lang="ja-JP"/>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ltLang="ja-JP"/>
        </a:p>
      </c:txPr>
    </c:title>
    <c:autoTitleDeleted val="0"/>
    <c:plotArea>
      <c:layout/>
      <c:barChart>
        <c:barDir val="col"/>
        <c:grouping val="clustered"/>
        <c:varyColors val="0"/>
        <c:ser>
          <c:idx val="0"/>
          <c:order val="0"/>
          <c:tx>
            <c:strRef>
              <c:f>Sheet1!$B$1</c:f>
              <c:strCache>
                <c:ptCount val="1"/>
                <c:pt idx="0">
                  <c:v>VS GraphRAG</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Comprehensiveness</c:v>
                </c:pt>
                <c:pt idx="1">
                  <c:v>Diversity</c:v>
                </c:pt>
                <c:pt idx="2">
                  <c:v>Empowerment</c:v>
                </c:pt>
                <c:pt idx="3">
                  <c:v>Directness</c:v>
                </c:pt>
              </c:strCache>
            </c:strRef>
          </c:cat>
          <c:val>
            <c:numRef>
              <c:f>Sheet1!$B$2:$B$5</c:f>
              <c:numCache>
                <c:formatCode>General</c:formatCode>
                <c:ptCount val="4"/>
                <c:pt idx="0">
                  <c:v>47.92</c:v>
                </c:pt>
                <c:pt idx="1">
                  <c:v>48.88</c:v>
                </c:pt>
                <c:pt idx="2">
                  <c:v>31.84</c:v>
                </c:pt>
                <c:pt idx="3">
                  <c:v>46.96</c:v>
                </c:pt>
              </c:numCache>
            </c:numRef>
          </c:val>
          <c:extLst>
            <c:ext xmlns:c16="http://schemas.microsoft.com/office/drawing/2014/chart" uri="{C3380CC4-5D6E-409C-BE32-E72D297353CC}">
              <c16:uniqueId val="{00000000-87E8-7E47-B887-C61A945B7C97}"/>
            </c:ext>
          </c:extLst>
        </c:ser>
        <c:ser>
          <c:idx val="1"/>
          <c:order val="1"/>
          <c:tx>
            <c:strRef>
              <c:f>Sheet1!$C$1</c:f>
              <c:strCache>
                <c:ptCount val="1"/>
                <c:pt idx="0">
                  <c:v>VS RAG</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Comprehensiveness</c:v>
                </c:pt>
                <c:pt idx="1">
                  <c:v>Diversity</c:v>
                </c:pt>
                <c:pt idx="2">
                  <c:v>Empowerment</c:v>
                </c:pt>
                <c:pt idx="3">
                  <c:v>Directness</c:v>
                </c:pt>
              </c:strCache>
            </c:strRef>
          </c:cat>
          <c:val>
            <c:numRef>
              <c:f>Sheet1!$C$2:$C$5</c:f>
              <c:numCache>
                <c:formatCode>General</c:formatCode>
                <c:ptCount val="4"/>
                <c:pt idx="0">
                  <c:v>51.76</c:v>
                </c:pt>
                <c:pt idx="1">
                  <c:v>52.16</c:v>
                </c:pt>
                <c:pt idx="2">
                  <c:v>54.72</c:v>
                </c:pt>
                <c:pt idx="3">
                  <c:v>49.6</c:v>
                </c:pt>
              </c:numCache>
            </c:numRef>
          </c:val>
          <c:extLst>
            <c:ext xmlns:c16="http://schemas.microsoft.com/office/drawing/2014/chart" uri="{C3380CC4-5D6E-409C-BE32-E72D297353CC}">
              <c16:uniqueId val="{00000001-87E8-7E47-B887-C61A945B7C97}"/>
            </c:ext>
          </c:extLst>
        </c:ser>
        <c:dLbls>
          <c:dLblPos val="inEnd"/>
          <c:showLegendKey val="0"/>
          <c:showVal val="1"/>
          <c:showCatName val="0"/>
          <c:showSerName val="0"/>
          <c:showPercent val="0"/>
          <c:showBubbleSize val="0"/>
        </c:dLbls>
        <c:gapWidth val="65"/>
        <c:axId val="670284799"/>
        <c:axId val="438996255"/>
      </c:barChart>
      <c:catAx>
        <c:axId val="670284799"/>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050" b="0" i="0" u="none" strike="noStrike" kern="1200" cap="all" baseline="0">
                <a:solidFill>
                  <a:schemeClr val="dk1">
                    <a:lumMod val="75000"/>
                    <a:lumOff val="25000"/>
                  </a:schemeClr>
                </a:solidFill>
                <a:latin typeface="+mn-lt"/>
                <a:ea typeface="+mn-ea"/>
                <a:cs typeface="+mn-cs"/>
              </a:defRPr>
            </a:pPr>
            <a:endParaRPr lang="ja-JP"/>
          </a:p>
        </c:txPr>
        <c:crossAx val="438996255"/>
        <c:crosses val="autoZero"/>
        <c:auto val="1"/>
        <c:lblAlgn val="ctr"/>
        <c:lblOffset val="100"/>
        <c:noMultiLvlLbl val="0"/>
      </c:catAx>
      <c:valAx>
        <c:axId val="438996255"/>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ja-JP"/>
          </a:p>
        </c:txPr>
        <c:crossAx val="670284799"/>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ja-JP" altLang="en-US" sz="1800" baseline="0"/>
              <a:t>提案手法と</a:t>
            </a:r>
            <a:r>
              <a:rPr lang="en-US" altLang="ja-JP" sz="1800" baseline="0" dirty="0"/>
              <a:t>RAG</a:t>
            </a:r>
            <a:r>
              <a:rPr lang="ja-JP" altLang="en-US" sz="1800" baseline="0"/>
              <a:t>との比較 </a:t>
            </a:r>
            <a:r>
              <a:rPr lang="en-US" altLang="ja-JP" sz="1800" baseline="0" dirty="0"/>
              <a:t>(%) </a:t>
            </a:r>
            <a:endParaRPr lang="ja-JP" sz="1800"/>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Sheet1!$B$1</c:f>
              <c:strCache>
                <c:ptCount val="1"/>
                <c:pt idx="0">
                  <c:v>5文書, previewあり</c:v>
                </c:pt>
              </c:strCache>
            </c:strRef>
          </c:tx>
          <c:spPr>
            <a:solidFill>
              <a:schemeClr val="accent1">
                <a:alpha val="85000"/>
              </a:schemeClr>
            </a:solidFill>
            <a:ln w="9525" cap="flat" cmpd="sng" algn="ctr">
              <a:solidFill>
                <a:schemeClr val="lt1">
                  <a:alpha val="50000"/>
                </a:schemeClr>
              </a:solidFill>
              <a:round/>
            </a:ln>
            <a:effectLst/>
          </c:spPr>
          <c:invertIfNegative val="0"/>
          <c:dLbls>
            <c:delete val="1"/>
          </c:dLbls>
          <c:cat>
            <c:strRef>
              <c:f>Sheet1!$A$2:$A$4</c:f>
              <c:strCache>
                <c:ptCount val="3"/>
                <c:pt idx="0">
                  <c:v>Comprehensiveness</c:v>
                </c:pt>
                <c:pt idx="1">
                  <c:v>Diversity</c:v>
                </c:pt>
                <c:pt idx="2">
                  <c:v>Empowerment</c:v>
                </c:pt>
              </c:strCache>
            </c:strRef>
          </c:cat>
          <c:val>
            <c:numRef>
              <c:f>Sheet1!$B$2:$B$4</c:f>
              <c:numCache>
                <c:formatCode>General</c:formatCode>
                <c:ptCount val="3"/>
                <c:pt idx="0">
                  <c:v>51.84</c:v>
                </c:pt>
                <c:pt idx="1">
                  <c:v>49.12</c:v>
                </c:pt>
                <c:pt idx="2">
                  <c:v>53.84</c:v>
                </c:pt>
              </c:numCache>
            </c:numRef>
          </c:val>
          <c:extLst>
            <c:ext xmlns:c16="http://schemas.microsoft.com/office/drawing/2014/chart" uri="{C3380CC4-5D6E-409C-BE32-E72D297353CC}">
              <c16:uniqueId val="{00000000-0C7A-5645-9475-59B570F3E54D}"/>
            </c:ext>
          </c:extLst>
        </c:ser>
        <c:ser>
          <c:idx val="1"/>
          <c:order val="1"/>
          <c:tx>
            <c:strRef>
              <c:f>Sheet1!$C$1</c:f>
              <c:strCache>
                <c:ptCount val="1"/>
                <c:pt idx="0">
                  <c:v>5文書, previewなし</c:v>
                </c:pt>
              </c:strCache>
            </c:strRef>
          </c:tx>
          <c:spPr>
            <a:solidFill>
              <a:schemeClr val="accent2">
                <a:alpha val="85000"/>
              </a:schemeClr>
            </a:solidFill>
            <a:ln w="9525" cap="flat" cmpd="sng" algn="ctr">
              <a:solidFill>
                <a:schemeClr val="lt1">
                  <a:alpha val="50000"/>
                </a:schemeClr>
              </a:solidFill>
              <a:round/>
            </a:ln>
            <a:effectLst/>
          </c:spPr>
          <c:invertIfNegative val="0"/>
          <c:dLbls>
            <c:delete val="1"/>
          </c:dLbls>
          <c:cat>
            <c:strRef>
              <c:f>Sheet1!$A$2:$A$4</c:f>
              <c:strCache>
                <c:ptCount val="3"/>
                <c:pt idx="0">
                  <c:v>Comprehensiveness</c:v>
                </c:pt>
                <c:pt idx="1">
                  <c:v>Diversity</c:v>
                </c:pt>
                <c:pt idx="2">
                  <c:v>Empowerment</c:v>
                </c:pt>
              </c:strCache>
            </c:strRef>
          </c:cat>
          <c:val>
            <c:numRef>
              <c:f>Sheet1!$C$2:$C$4</c:f>
              <c:numCache>
                <c:formatCode>General</c:formatCode>
                <c:ptCount val="3"/>
                <c:pt idx="0">
                  <c:v>50.96</c:v>
                </c:pt>
                <c:pt idx="1">
                  <c:v>52.8</c:v>
                </c:pt>
                <c:pt idx="2">
                  <c:v>51.52</c:v>
                </c:pt>
              </c:numCache>
            </c:numRef>
          </c:val>
          <c:extLst>
            <c:ext xmlns:c16="http://schemas.microsoft.com/office/drawing/2014/chart" uri="{C3380CC4-5D6E-409C-BE32-E72D297353CC}">
              <c16:uniqueId val="{00000001-0C7A-5645-9475-59B570F3E54D}"/>
            </c:ext>
          </c:extLst>
        </c:ser>
        <c:ser>
          <c:idx val="2"/>
          <c:order val="2"/>
          <c:tx>
            <c:strRef>
              <c:f>Sheet1!$D$1</c:f>
              <c:strCache>
                <c:ptCount val="1"/>
                <c:pt idx="0">
                  <c:v>10文書, previewあり</c:v>
                </c:pt>
              </c:strCache>
            </c:strRef>
          </c:tx>
          <c:spPr>
            <a:solidFill>
              <a:schemeClr val="accent3">
                <a:alpha val="85000"/>
              </a:schemeClr>
            </a:solidFill>
            <a:ln w="9525" cap="flat" cmpd="sng" algn="ctr">
              <a:solidFill>
                <a:schemeClr val="lt1">
                  <a:alpha val="50000"/>
                </a:schemeClr>
              </a:solidFill>
              <a:round/>
            </a:ln>
            <a:effectLst/>
          </c:spPr>
          <c:invertIfNegative val="0"/>
          <c:dLbls>
            <c:delete val="1"/>
          </c:dLbls>
          <c:cat>
            <c:strRef>
              <c:f>Sheet1!$A$2:$A$4</c:f>
              <c:strCache>
                <c:ptCount val="3"/>
                <c:pt idx="0">
                  <c:v>Comprehensiveness</c:v>
                </c:pt>
                <c:pt idx="1">
                  <c:v>Diversity</c:v>
                </c:pt>
                <c:pt idx="2">
                  <c:v>Empowerment</c:v>
                </c:pt>
              </c:strCache>
            </c:strRef>
          </c:cat>
          <c:val>
            <c:numRef>
              <c:f>Sheet1!$D$2:$D$4</c:f>
              <c:numCache>
                <c:formatCode>General</c:formatCode>
                <c:ptCount val="3"/>
                <c:pt idx="0">
                  <c:v>51.76</c:v>
                </c:pt>
                <c:pt idx="1">
                  <c:v>52.16</c:v>
                </c:pt>
                <c:pt idx="2">
                  <c:v>54.72</c:v>
                </c:pt>
              </c:numCache>
            </c:numRef>
          </c:val>
          <c:extLst>
            <c:ext xmlns:c16="http://schemas.microsoft.com/office/drawing/2014/chart" uri="{C3380CC4-5D6E-409C-BE32-E72D297353CC}">
              <c16:uniqueId val="{00000002-0C7A-5645-9475-59B570F3E54D}"/>
            </c:ext>
          </c:extLst>
        </c:ser>
        <c:ser>
          <c:idx val="3"/>
          <c:order val="3"/>
          <c:tx>
            <c:strRef>
              <c:f>Sheet1!$E$1</c:f>
              <c:strCache>
                <c:ptCount val="1"/>
                <c:pt idx="0">
                  <c:v>10文書, previewなし</c:v>
                </c:pt>
              </c:strCache>
            </c:strRef>
          </c:tx>
          <c:spPr>
            <a:solidFill>
              <a:schemeClr val="accent4">
                <a:alpha val="85000"/>
              </a:schemeClr>
            </a:solidFill>
            <a:ln w="9525" cap="flat" cmpd="sng" algn="ctr">
              <a:solidFill>
                <a:schemeClr val="lt1">
                  <a:alpha val="50000"/>
                </a:schemeClr>
              </a:solidFill>
              <a:round/>
            </a:ln>
            <a:effectLst/>
          </c:spPr>
          <c:invertIfNegative val="0"/>
          <c:dLbls>
            <c:delete val="1"/>
          </c:dLbls>
          <c:cat>
            <c:strRef>
              <c:f>Sheet1!$A$2:$A$4</c:f>
              <c:strCache>
                <c:ptCount val="3"/>
                <c:pt idx="0">
                  <c:v>Comprehensiveness</c:v>
                </c:pt>
                <c:pt idx="1">
                  <c:v>Diversity</c:v>
                </c:pt>
                <c:pt idx="2">
                  <c:v>Empowerment</c:v>
                </c:pt>
              </c:strCache>
            </c:strRef>
          </c:cat>
          <c:val>
            <c:numRef>
              <c:f>Sheet1!$E$2:$E$4</c:f>
              <c:numCache>
                <c:formatCode>General</c:formatCode>
                <c:ptCount val="3"/>
                <c:pt idx="0">
                  <c:v>50.24</c:v>
                </c:pt>
                <c:pt idx="1">
                  <c:v>50.16</c:v>
                </c:pt>
                <c:pt idx="2">
                  <c:v>48.16</c:v>
                </c:pt>
              </c:numCache>
            </c:numRef>
          </c:val>
          <c:extLst>
            <c:ext xmlns:c16="http://schemas.microsoft.com/office/drawing/2014/chart" uri="{C3380CC4-5D6E-409C-BE32-E72D297353CC}">
              <c16:uniqueId val="{00000003-0C7A-5645-9475-59B570F3E54D}"/>
            </c:ext>
          </c:extLst>
        </c:ser>
        <c:dLbls>
          <c:dLblPos val="inEnd"/>
          <c:showLegendKey val="0"/>
          <c:showVal val="1"/>
          <c:showCatName val="0"/>
          <c:showSerName val="0"/>
          <c:showPercent val="0"/>
          <c:showBubbleSize val="0"/>
        </c:dLbls>
        <c:gapWidth val="65"/>
        <c:axId val="1725041088"/>
        <c:axId val="1725812720"/>
      </c:barChart>
      <c:catAx>
        <c:axId val="1725041088"/>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00" b="0" i="0" u="none" strike="noStrike" kern="1200" cap="all" baseline="0">
                <a:solidFill>
                  <a:schemeClr val="dk1">
                    <a:lumMod val="75000"/>
                    <a:lumOff val="25000"/>
                  </a:schemeClr>
                </a:solidFill>
                <a:latin typeface="+mn-lt"/>
                <a:ea typeface="+mn-ea"/>
                <a:cs typeface="+mn-cs"/>
              </a:defRPr>
            </a:pPr>
            <a:endParaRPr lang="ja-JP"/>
          </a:p>
        </c:txPr>
        <c:crossAx val="1725812720"/>
        <c:crosses val="autoZero"/>
        <c:auto val="1"/>
        <c:lblAlgn val="ctr"/>
        <c:lblOffset val="100"/>
        <c:noMultiLvlLbl val="0"/>
      </c:catAx>
      <c:valAx>
        <c:axId val="1725812720"/>
        <c:scaling>
          <c:orientation val="minMax"/>
        </c:scaling>
        <c:delete val="0"/>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ja-JP"/>
          </a:p>
        </c:txPr>
        <c:crossAx val="1725041088"/>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Reversed" id="21">
  <a:schemeClr val="accent1"/>
</cs:colorStyle>
</file>

<file path=ppt/charts/colors3.xml><?xml version="1.0" encoding="utf-8"?>
<cs:colorStyle xmlns:cs="http://schemas.microsoft.com/office/drawing/2012/chartStyle" xmlns:a="http://schemas.openxmlformats.org/drawingml/2006/main" meth="withinLinearReversed" id="21">
  <a:schemeClr val="accent1"/>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321">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21">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064B9691-87D6-48EF-9BFD-698344D045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286BE10E-3BBD-4023-B684-892AE173FF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02328F-004D-4D3A-9F80-6B7A705D1367}" type="datetimeFigureOut">
              <a:rPr kumimoji="1" lang="ja-JP" altLang="en-US" smtClean="0"/>
              <a:t>2026/1/19</a:t>
            </a:fld>
            <a:endParaRPr kumimoji="1" lang="ja-JP" altLang="en-US"/>
          </a:p>
        </p:txBody>
      </p:sp>
      <p:sp>
        <p:nvSpPr>
          <p:cNvPr id="4" name="フッター プレースホルダー 3">
            <a:extLst>
              <a:ext uri="{FF2B5EF4-FFF2-40B4-BE49-F238E27FC236}">
                <a16:creationId xmlns:a16="http://schemas.microsoft.com/office/drawing/2014/main" id="{F6367B9F-A0B4-4348-9C4B-89D15EDCB2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42CC2C2F-D89E-474B-9003-7069E7D90C0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DCC25F-5D23-455B-B707-89EC30CA97BB}" type="slidenum">
              <a:rPr kumimoji="1" lang="ja-JP" altLang="en-US" smtClean="0"/>
              <a:t>‹#›</a:t>
            </a:fld>
            <a:endParaRPr kumimoji="1" lang="ja-JP" altLang="en-US"/>
          </a:p>
        </p:txBody>
      </p:sp>
    </p:spTree>
    <p:extLst>
      <p:ext uri="{BB962C8B-B14F-4D97-AF65-F5344CB8AC3E}">
        <p14:creationId xmlns:p14="http://schemas.microsoft.com/office/powerpoint/2010/main" val="34457490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00887C-0EF1-4AC1-9E9B-79863B12620D}" type="datetimeFigureOut">
              <a:rPr kumimoji="1" lang="ja-JP" altLang="en-US" smtClean="0"/>
              <a:t>2026/1/19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A420A-BDF0-4775-9670-07D3BFB5E94B}" type="slidenum">
              <a:rPr kumimoji="1" lang="ja-JP" altLang="en-US" smtClean="0"/>
              <a:t>‹#›</a:t>
            </a:fld>
            <a:endParaRPr kumimoji="1" lang="ja-JP" altLang="en-US"/>
          </a:p>
        </p:txBody>
      </p:sp>
    </p:spTree>
    <p:extLst>
      <p:ext uri="{BB962C8B-B14F-4D97-AF65-F5344CB8AC3E}">
        <p14:creationId xmlns:p14="http://schemas.microsoft.com/office/powerpoint/2010/main" val="17996778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2</a:t>
            </a:fld>
            <a:endParaRPr kumimoji="1" lang="ja-JP" altLang="en-US"/>
          </a:p>
        </p:txBody>
      </p:sp>
    </p:spTree>
    <p:extLst>
      <p:ext uri="{BB962C8B-B14F-4D97-AF65-F5344CB8AC3E}">
        <p14:creationId xmlns:p14="http://schemas.microsoft.com/office/powerpoint/2010/main" val="131389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59A420A-BDF0-4775-9670-07D3BFB5E94B}" type="slidenum">
              <a:rPr kumimoji="1" lang="ja-JP" altLang="en-US" smtClean="0"/>
              <a:t>5</a:t>
            </a:fld>
            <a:endParaRPr kumimoji="1" lang="ja-JP" altLang="en-US"/>
          </a:p>
        </p:txBody>
      </p:sp>
    </p:spTree>
    <p:extLst>
      <p:ext uri="{BB962C8B-B14F-4D97-AF65-F5344CB8AC3E}">
        <p14:creationId xmlns:p14="http://schemas.microsoft.com/office/powerpoint/2010/main" val="39248392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hasCustomPrompt="1"/>
          </p:nvPr>
        </p:nvSpPr>
        <p:spPr>
          <a:xfrm>
            <a:off x="1524000" y="2570163"/>
            <a:ext cx="9144000" cy="2387600"/>
          </a:xfrm>
        </p:spPr>
        <p:txBody>
          <a:bodyPr anchor="b">
            <a:noAutofit/>
          </a:bodyPr>
          <a:lstStyle>
            <a:lvl1pPr algn="l">
              <a:defRPr sz="48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発表の内容と構成が想像できる</a:t>
            </a:r>
            <a:br>
              <a:rPr kumimoji="1" lang="en-US" altLang="ja-JP" dirty="0"/>
            </a:br>
            <a:r>
              <a:rPr kumimoji="1" lang="ja-JP" altLang="en-US" dirty="0"/>
              <a:t>発表題目をここに書く．</a:t>
            </a:r>
            <a:br>
              <a:rPr kumimoji="1" lang="en-US" altLang="ja-JP" dirty="0"/>
            </a:br>
            <a:r>
              <a:rPr kumimoji="1" lang="ja-JP" altLang="en-US" dirty="0"/>
              <a:t>単語の途中で改行しない．</a:t>
            </a:r>
          </a:p>
        </p:txBody>
      </p:sp>
      <p:sp>
        <p:nvSpPr>
          <p:cNvPr id="3" name="サブタイトル 2"/>
          <p:cNvSpPr>
            <a:spLocks noGrp="1"/>
          </p:cNvSpPr>
          <p:nvPr>
            <p:ph type="subTitle" idx="1" hasCustomPrompt="1"/>
          </p:nvPr>
        </p:nvSpPr>
        <p:spPr>
          <a:xfrm>
            <a:off x="1524000" y="5110163"/>
            <a:ext cx="9144000" cy="561975"/>
          </a:xfrm>
        </p:spPr>
        <p:txBody>
          <a:bodyPr>
            <a:noAutofit/>
          </a:bodyPr>
          <a:lstStyle>
            <a:lvl1pPr marL="0" indent="0" algn="l">
              <a:buNone/>
              <a:defRPr sz="3600">
                <a:latin typeface="游ゴシック Medium" panose="020B0500000000000000" pitchFamily="50" charset="-128"/>
                <a:ea typeface="游ゴシック Medium" panose="020B0500000000000000"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発表者名</a:t>
            </a:r>
            <a:endParaRPr kumimoji="1" lang="en-US" altLang="ja-JP" dirty="0"/>
          </a:p>
        </p:txBody>
      </p:sp>
      <p:sp>
        <p:nvSpPr>
          <p:cNvPr id="11" name="テキスト プレースホルダー 10"/>
          <p:cNvSpPr>
            <a:spLocks noGrp="1"/>
          </p:cNvSpPr>
          <p:nvPr>
            <p:ph type="body" sz="quarter" idx="11" hasCustomPrompt="1"/>
          </p:nvPr>
        </p:nvSpPr>
        <p:spPr>
          <a:xfrm>
            <a:off x="1524000" y="5740400"/>
            <a:ext cx="9144000" cy="469900"/>
          </a:xfrm>
        </p:spPr>
        <p:txBody>
          <a:bodyPr/>
          <a:lstStyle>
            <a:lvl1pPr marL="0" indent="0" algn="l">
              <a:buNone/>
              <a:defRPr>
                <a:latin typeface="游ゴシック Medium" panose="020B0500000000000000" pitchFamily="50" charset="-128"/>
                <a:ea typeface="游ゴシック Medium" panose="020B0500000000000000" pitchFamily="50" charset="-128"/>
              </a:defRPr>
            </a:lvl1pPr>
          </a:lstStyle>
          <a:p>
            <a:pPr lvl="0"/>
            <a:r>
              <a:rPr kumimoji="1" lang="ja-JP" altLang="en-US" dirty="0"/>
              <a:t>身分や所属など</a:t>
            </a:r>
          </a:p>
        </p:txBody>
      </p:sp>
      <p:cxnSp>
        <p:nvCxnSpPr>
          <p:cNvPr id="13" name="直線コネクタ 12"/>
          <p:cNvCxnSpPr/>
          <p:nvPr userDrawn="1"/>
        </p:nvCxnSpPr>
        <p:spPr>
          <a:xfrm flipV="1">
            <a:off x="0" y="5029200"/>
            <a:ext cx="12192000"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テキスト プレースホルダー 14"/>
          <p:cNvSpPr>
            <a:spLocks noGrp="1"/>
          </p:cNvSpPr>
          <p:nvPr>
            <p:ph type="body" sz="quarter" idx="12" hasCustomPrompt="1"/>
          </p:nvPr>
        </p:nvSpPr>
        <p:spPr>
          <a:xfrm>
            <a:off x="8420098" y="152399"/>
            <a:ext cx="3594101" cy="378541"/>
          </a:xfrm>
          <a:ln>
            <a:noFill/>
          </a:ln>
        </p:spPr>
        <p:txBody>
          <a:bodyPr>
            <a:noAutofit/>
          </a:bodyPr>
          <a:lstStyle>
            <a:lvl1pPr marL="0" indent="0">
              <a:buNone/>
              <a:defRPr sz="2000">
                <a:solidFill>
                  <a:schemeClr val="tx2"/>
                </a:solidFill>
                <a:latin typeface="游ゴシック Medium" panose="020B0500000000000000" pitchFamily="50" charset="-128"/>
                <a:ea typeface="游ゴシック Medium" panose="020B0500000000000000" pitchFamily="50" charset="-128"/>
              </a:defRPr>
            </a:lvl1pPr>
          </a:lstStyle>
          <a:p>
            <a:pPr lvl="0"/>
            <a:r>
              <a:rPr kumimoji="1" lang="ja-JP" altLang="en-US" dirty="0"/>
              <a:t>会議名と日程を書いておく</a:t>
            </a:r>
          </a:p>
        </p:txBody>
      </p:sp>
      <p:sp>
        <p:nvSpPr>
          <p:cNvPr id="17" name="図プレースホルダー 16"/>
          <p:cNvSpPr>
            <a:spLocks noGrp="1"/>
          </p:cNvSpPr>
          <p:nvPr>
            <p:ph type="pic" sz="quarter" idx="13" hasCustomPrompt="1"/>
          </p:nvPr>
        </p:nvSpPr>
        <p:spPr>
          <a:xfrm>
            <a:off x="1523999" y="647700"/>
            <a:ext cx="9144000" cy="1841500"/>
          </a:xfrm>
        </p:spPr>
        <p:txBody>
          <a:bodyPr/>
          <a:lstStyle>
            <a:lvl1pPr marL="0" indent="0">
              <a:buNone/>
              <a:defRPr>
                <a:solidFill>
                  <a:schemeClr val="bg2"/>
                </a:solidFill>
                <a:latin typeface="游ゴシック Medium" panose="020B0500000000000000" pitchFamily="50" charset="-128"/>
                <a:ea typeface="游ゴシック Medium" panose="020B0500000000000000" pitchFamily="50" charset="-128"/>
              </a:defRPr>
            </a:lvl1pPr>
          </a:lstStyle>
          <a:p>
            <a:r>
              <a:rPr kumimoji="1" lang="ja-JP" altLang="en-US"/>
              <a:t>題目の説明の助けになる図があれば載せる</a:t>
            </a:r>
            <a:endParaRPr kumimoji="1" lang="en-US" altLang="ja-JP" dirty="0"/>
          </a:p>
        </p:txBody>
      </p:sp>
    </p:spTree>
    <p:extLst>
      <p:ext uri="{BB962C8B-B14F-4D97-AF65-F5344CB8AC3E}">
        <p14:creationId xmlns:p14="http://schemas.microsoft.com/office/powerpoint/2010/main" val="421259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558800" y="1015999"/>
            <a:ext cx="11099800" cy="938159"/>
          </a:xfrm>
        </p:spPr>
        <p:txBody>
          <a:bodyPr>
            <a:noAutofit/>
          </a:bodyPr>
          <a:lstStyle>
            <a:lvl1pPr>
              <a:defRPr sz="36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話題について一番伝えたいメッセージ（要点）</a:t>
            </a:r>
          </a:p>
        </p:txBody>
      </p:sp>
      <p:sp>
        <p:nvSpPr>
          <p:cNvPr id="3" name="コンテンツ プレースホルダー 2"/>
          <p:cNvSpPr>
            <a:spLocks noGrp="1"/>
          </p:cNvSpPr>
          <p:nvPr>
            <p:ph idx="1" hasCustomPrompt="1"/>
          </p:nvPr>
        </p:nvSpPr>
        <p:spPr>
          <a:xfrm>
            <a:off x="558800" y="2013155"/>
            <a:ext cx="11099800" cy="4572000"/>
          </a:xfrm>
        </p:spPr>
        <p:txBody>
          <a:bodyPr/>
          <a:lstStyle>
            <a:lvl1pPr marL="457200" indent="-4572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游ゴシック Medium" panose="020B0500000000000000" pitchFamily="50" charset="-128"/>
                <a:ea typeface="游ゴシック Medium" panose="020B0500000000000000" pitchFamily="50" charset="-128"/>
              </a:defRPr>
            </a:lvl2pPr>
          </a:lstStyle>
          <a:p>
            <a:pPr lvl="0"/>
            <a:r>
              <a:rPr kumimoji="1" lang="ja-JP" altLang="en-US" dirty="0"/>
              <a:t>メッセージの補足説明</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スライドの話題＝問い（論点）</a:t>
            </a:r>
            <a:endParaRPr kumimoji="1" lang="en-US" altLang="ja-JP" dirty="0"/>
          </a:p>
        </p:txBody>
      </p:sp>
      <p:sp>
        <p:nvSpPr>
          <p:cNvPr id="23" name="テキスト ボックス 22"/>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9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カード">
    <p:spTree>
      <p:nvGrpSpPr>
        <p:cNvPr id="1" name=""/>
        <p:cNvGrpSpPr/>
        <p:nvPr/>
      </p:nvGrpSpPr>
      <p:grpSpPr>
        <a:xfrm>
          <a:off x="0" y="0"/>
          <a:ext cx="0" cy="0"/>
          <a:chOff x="0" y="0"/>
          <a:chExt cx="0" cy="0"/>
        </a:xfrm>
      </p:grpSpPr>
      <p:sp>
        <p:nvSpPr>
          <p:cNvPr id="21" name="タイトル 1">
            <a:extLst>
              <a:ext uri="{FF2B5EF4-FFF2-40B4-BE49-F238E27FC236}">
                <a16:creationId xmlns:a16="http://schemas.microsoft.com/office/drawing/2014/main" id="{A9BE1665-9322-47E1-A153-0527F8ACA38A}"/>
              </a:ext>
            </a:extLst>
          </p:cNvPr>
          <p:cNvSpPr>
            <a:spLocks noGrp="1"/>
          </p:cNvSpPr>
          <p:nvPr>
            <p:ph type="title" hasCustomPrompt="1"/>
          </p:nvPr>
        </p:nvSpPr>
        <p:spPr>
          <a:xfrm>
            <a:off x="558800" y="1015876"/>
            <a:ext cx="11099800" cy="938159"/>
          </a:xfrm>
        </p:spPr>
        <p:txBody>
          <a:bodyPr>
            <a:noAutofit/>
          </a:bodyPr>
          <a:lstStyle>
            <a:lvl1pPr>
              <a:defRPr sz="36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話題について一番伝えたいメッセージ（要点）</a:t>
            </a:r>
          </a:p>
        </p:txBody>
      </p:sp>
      <p:sp>
        <p:nvSpPr>
          <p:cNvPr id="6" name="正方形/長方形 5">
            <a:extLst>
              <a:ext uri="{FF2B5EF4-FFF2-40B4-BE49-F238E27FC236}">
                <a16:creationId xmlns:a16="http://schemas.microsoft.com/office/drawing/2014/main" id="{2DD56239-07BE-4C67-A734-0AF31D50B46F}"/>
              </a:ext>
            </a:extLst>
          </p:cNvPr>
          <p:cNvSpPr/>
          <p:nvPr userDrawn="1"/>
        </p:nvSpPr>
        <p:spPr>
          <a:xfrm>
            <a:off x="471271" y="1994510"/>
            <a:ext cx="3649340" cy="4622190"/>
          </a:xfrm>
          <a:prstGeom prst="rect">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ED817710-9F90-4285-B55E-BC67D0EB2157}"/>
              </a:ext>
            </a:extLst>
          </p:cNvPr>
          <p:cNvSpPr/>
          <p:nvPr userDrawn="1"/>
        </p:nvSpPr>
        <p:spPr>
          <a:xfrm>
            <a:off x="4314710" y="1987780"/>
            <a:ext cx="3649340" cy="4622190"/>
          </a:xfrm>
          <a:prstGeom prst="rect">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81BD8337-6ACB-47CC-98B1-58823A402B6F}"/>
              </a:ext>
            </a:extLst>
          </p:cNvPr>
          <p:cNvSpPr/>
          <p:nvPr userDrawn="1"/>
        </p:nvSpPr>
        <p:spPr>
          <a:xfrm>
            <a:off x="8131938" y="1994510"/>
            <a:ext cx="3649340" cy="4622190"/>
          </a:xfrm>
          <a:prstGeom prst="rect">
            <a:avLst/>
          </a:prstGeom>
          <a:solidFill>
            <a:srgbClr val="FFFFFF"/>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EE2E5C02-D511-4A33-B24E-FB1EA43C3941}"/>
              </a:ext>
            </a:extLst>
          </p:cNvPr>
          <p:cNvSpPr txBox="1"/>
          <p:nvPr userDrawn="1"/>
        </p:nvSpPr>
        <p:spPr>
          <a:xfrm>
            <a:off x="11493500" y="315648"/>
            <a:ext cx="561372" cy="461665"/>
          </a:xfrm>
          <a:prstGeom prst="rect">
            <a:avLst/>
          </a:prstGeom>
          <a:noFill/>
        </p:spPr>
        <p:txBody>
          <a:bodyPr wrap="none" rtlCol="0">
            <a:spAutoFit/>
          </a:bodyPr>
          <a:lstStyle/>
          <a:p>
            <a:fld id="{86695743-78A6-41C5-8EC9-B94E39B9B94D}" type="slidenum">
              <a:rPr kumimoji="1" lang="ja-JP" altLang="en-US" sz="2400" smtClean="0">
                <a:solidFill>
                  <a:schemeClr val="tx1"/>
                </a:solidFill>
                <a:latin typeface="+mn-lt"/>
                <a:ea typeface="游ゴシック Medium" panose="020B0500000000000000" pitchFamily="50" charset="-128"/>
              </a:rPr>
              <a:t>‹#›</a:t>
            </a:fld>
            <a:endParaRPr kumimoji="1" lang="ja-JP" altLang="en-US" sz="2400">
              <a:solidFill>
                <a:schemeClr val="tx1"/>
              </a:solidFill>
              <a:latin typeface="+mn-lt"/>
              <a:ea typeface="游ゴシック Medium" panose="020B0500000000000000" pitchFamily="50" charset="-128"/>
            </a:endParaRPr>
          </a:p>
        </p:txBody>
      </p:sp>
      <p:cxnSp>
        <p:nvCxnSpPr>
          <p:cNvPr id="18" name="直線コネクタ 17">
            <a:extLst>
              <a:ext uri="{FF2B5EF4-FFF2-40B4-BE49-F238E27FC236}">
                <a16:creationId xmlns:a16="http://schemas.microsoft.com/office/drawing/2014/main" id="{F87E163B-8A82-4BA9-BC1A-4BC89F170761}"/>
              </a:ext>
            </a:extLst>
          </p:cNvPr>
          <p:cNvCxnSpPr/>
          <p:nvPr userDrawn="1"/>
        </p:nvCxnSpPr>
        <p:spPr>
          <a:xfrm>
            <a:off x="0" y="825500"/>
            <a:ext cx="12192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テキスト プレースホルダー 17">
            <a:extLst>
              <a:ext uri="{FF2B5EF4-FFF2-40B4-BE49-F238E27FC236}">
                <a16:creationId xmlns:a16="http://schemas.microsoft.com/office/drawing/2014/main" id="{B78D8A30-D394-4059-92AC-154EDE4213F6}"/>
              </a:ext>
            </a:extLst>
          </p:cNvPr>
          <p:cNvSpPr>
            <a:spLocks noGrp="1"/>
          </p:cNvSpPr>
          <p:nvPr>
            <p:ph type="body" sz="quarter" idx="11" hasCustomPrompt="1"/>
          </p:nvPr>
        </p:nvSpPr>
        <p:spPr>
          <a:xfrm>
            <a:off x="210574" y="348226"/>
            <a:ext cx="11455400" cy="46990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スライドの話題＝問い（論点）</a:t>
            </a:r>
            <a:endParaRPr kumimoji="1" lang="en-US" altLang="ja-JP" dirty="0"/>
          </a:p>
        </p:txBody>
      </p:sp>
    </p:spTree>
    <p:extLst>
      <p:ext uri="{BB962C8B-B14F-4D97-AF65-F5344CB8AC3E}">
        <p14:creationId xmlns:p14="http://schemas.microsoft.com/office/powerpoint/2010/main" val="29646383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BAF030-86AC-4BA0-B9C6-3243C593BCFC}" type="datetimeFigureOut">
              <a:rPr kumimoji="1" lang="ja-JP" altLang="en-US" smtClean="0"/>
              <a:t>2026/1/19</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1B92D0-3845-473E-8E13-C70357A36CF6}" type="slidenum">
              <a:rPr kumimoji="1" lang="ja-JP" altLang="en-US" smtClean="0"/>
              <a:t>‹#›</a:t>
            </a:fld>
            <a:endParaRPr kumimoji="1" lang="ja-JP" altLang="en-US"/>
          </a:p>
        </p:txBody>
      </p:sp>
    </p:spTree>
    <p:extLst>
      <p:ext uri="{BB962C8B-B14F-4D97-AF65-F5344CB8AC3E}">
        <p14:creationId xmlns:p14="http://schemas.microsoft.com/office/powerpoint/2010/main" val="30693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446088" indent="-446088"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98525" indent="-441325" algn="l" defTabSz="914400" rtl="0" eaLnBrk="1" latinLnBrk="0" hangingPunct="1">
        <a:lnSpc>
          <a:spcPct val="110000"/>
        </a:lnSpc>
        <a:spcBef>
          <a:spcPts val="0"/>
        </a:spcBef>
        <a:buFont typeface="Wingdings" panose="05000000000000000000" pitchFamily="2" charset="2"/>
        <a:buChar char="l"/>
        <a:defRPr kumimoji="1" sz="2400" kern="1200">
          <a:solidFill>
            <a:schemeClr val="tx2"/>
          </a:solidFill>
          <a:latin typeface="+mn-lt"/>
          <a:ea typeface="+mn-ea"/>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6F0535-4030-4C35-945F-92B453107136}"/>
              </a:ext>
            </a:extLst>
          </p:cNvPr>
          <p:cNvSpPr>
            <a:spLocks noGrp="1"/>
          </p:cNvSpPr>
          <p:nvPr>
            <p:ph type="ctrTitle"/>
          </p:nvPr>
        </p:nvSpPr>
        <p:spPr/>
        <p:txBody>
          <a:bodyPr/>
          <a:lstStyle/>
          <a:p>
            <a:r>
              <a:rPr kumimoji="1" lang="en-US" altLang="ja-JP" dirty="0"/>
              <a:t>TF-IDF</a:t>
            </a:r>
            <a:r>
              <a:rPr kumimoji="1" lang="ja-JP" altLang="en-US"/>
              <a:t>を用いた軽量な　　　　グラフベース</a:t>
            </a:r>
            <a:r>
              <a:rPr kumimoji="1" lang="en-US" altLang="ja-JP" dirty="0"/>
              <a:t>RAG</a:t>
            </a:r>
            <a:r>
              <a:rPr kumimoji="1" lang="ja-JP" altLang="en-US"/>
              <a:t>手法</a:t>
            </a:r>
            <a:endParaRPr kumimoji="1" lang="ja-JP" altLang="en-US">
              <a:solidFill>
                <a:schemeClr val="tx2"/>
              </a:solidFill>
            </a:endParaRPr>
          </a:p>
        </p:txBody>
      </p:sp>
      <p:sp>
        <p:nvSpPr>
          <p:cNvPr id="3" name="字幕 2">
            <a:extLst>
              <a:ext uri="{FF2B5EF4-FFF2-40B4-BE49-F238E27FC236}">
                <a16:creationId xmlns:a16="http://schemas.microsoft.com/office/drawing/2014/main" id="{42FD679A-CDD2-4005-984B-113143E13B1F}"/>
              </a:ext>
            </a:extLst>
          </p:cNvPr>
          <p:cNvSpPr>
            <a:spLocks noGrp="1"/>
          </p:cNvSpPr>
          <p:nvPr>
            <p:ph type="subTitle" idx="1"/>
          </p:nvPr>
        </p:nvSpPr>
        <p:spPr/>
        <p:txBody>
          <a:bodyPr/>
          <a:lstStyle/>
          <a:p>
            <a:r>
              <a:rPr kumimoji="1" lang="ja-JP" altLang="en-US"/>
              <a:t>石川</a:t>
            </a:r>
            <a:r>
              <a:rPr kumimoji="1" lang="en-US" altLang="ja-JP" dirty="0"/>
              <a:t> </a:t>
            </a:r>
            <a:r>
              <a:rPr kumimoji="1" lang="ja-JP" altLang="en-US"/>
              <a:t>嵐丸</a:t>
            </a:r>
          </a:p>
        </p:txBody>
      </p:sp>
      <p:sp>
        <p:nvSpPr>
          <p:cNvPr id="4" name="テキスト プレースホルダー 3">
            <a:extLst>
              <a:ext uri="{FF2B5EF4-FFF2-40B4-BE49-F238E27FC236}">
                <a16:creationId xmlns:a16="http://schemas.microsoft.com/office/drawing/2014/main" id="{47B2A5E6-B11B-4CED-B03E-250BCC27035B}"/>
              </a:ext>
            </a:extLst>
          </p:cNvPr>
          <p:cNvSpPr>
            <a:spLocks noGrp="1"/>
          </p:cNvSpPr>
          <p:nvPr>
            <p:ph type="body" sz="quarter" idx="11"/>
          </p:nvPr>
        </p:nvSpPr>
        <p:spPr>
          <a:xfrm>
            <a:off x="1524000" y="5740400"/>
            <a:ext cx="9144000" cy="1117600"/>
          </a:xfrm>
        </p:spPr>
        <p:txBody>
          <a:bodyPr>
            <a:normAutofit/>
          </a:bodyPr>
          <a:lstStyle/>
          <a:p>
            <a:r>
              <a:rPr kumimoji="1" lang="ja-JP" altLang="en-US"/>
              <a:t>金子</a:t>
            </a:r>
            <a:r>
              <a:rPr lang="ja-JP" altLang="en-US"/>
              <a:t>研究室</a:t>
            </a:r>
            <a:r>
              <a:rPr lang="en-US" altLang="ja-JP" dirty="0"/>
              <a:t> </a:t>
            </a:r>
            <a:r>
              <a:rPr lang="ja-JP" altLang="en-US"/>
              <a:t>学部</a:t>
            </a:r>
            <a:r>
              <a:rPr lang="en-US" altLang="ja-JP" dirty="0"/>
              <a:t>4</a:t>
            </a:r>
            <a:r>
              <a:rPr lang="ja-JP" altLang="en-US"/>
              <a:t>年　</a:t>
            </a:r>
            <a:r>
              <a:rPr kumimoji="1" lang="ja-JP" altLang="en-US"/>
              <a:t>学籍番号 </a:t>
            </a:r>
            <a:r>
              <a:rPr kumimoji="1" lang="en-US" altLang="ja-JP" dirty="0"/>
              <a:t>62201657</a:t>
            </a:r>
            <a:endParaRPr kumimoji="1" lang="ja-JP" altLang="en-US"/>
          </a:p>
        </p:txBody>
      </p:sp>
      <p:sp>
        <p:nvSpPr>
          <p:cNvPr id="5" name="テキスト プレースホルダー 4">
            <a:extLst>
              <a:ext uri="{FF2B5EF4-FFF2-40B4-BE49-F238E27FC236}">
                <a16:creationId xmlns:a16="http://schemas.microsoft.com/office/drawing/2014/main" id="{1F08FD74-8A95-4CC4-8A3E-A416E77C6F43}"/>
              </a:ext>
            </a:extLst>
          </p:cNvPr>
          <p:cNvSpPr>
            <a:spLocks noGrp="1"/>
          </p:cNvSpPr>
          <p:nvPr>
            <p:ph type="body" sz="quarter" idx="12"/>
          </p:nvPr>
        </p:nvSpPr>
        <p:spPr>
          <a:xfrm>
            <a:off x="9533744" y="139146"/>
            <a:ext cx="2419717" cy="378541"/>
          </a:xfrm>
        </p:spPr>
        <p:txBody>
          <a:bodyPr/>
          <a:lstStyle/>
          <a:p>
            <a:r>
              <a:rPr lang="en-US" altLang="ja-JP" dirty="0"/>
              <a:t>2026.2.2 </a:t>
            </a:r>
            <a:r>
              <a:rPr lang="ja-JP" altLang="en-US"/>
              <a:t>卒論発表</a:t>
            </a:r>
            <a:endParaRPr kumimoji="1" lang="ja-JP" altLang="en-US"/>
          </a:p>
        </p:txBody>
      </p:sp>
    </p:spTree>
    <p:extLst>
      <p:ext uri="{BB962C8B-B14F-4D97-AF65-F5344CB8AC3E}">
        <p14:creationId xmlns:p14="http://schemas.microsoft.com/office/powerpoint/2010/main" val="1462107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7F034-151D-B2E3-34A5-1EBC6DD13125}"/>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49513AA-3290-09A5-2053-467AC4161E14}"/>
              </a:ext>
            </a:extLst>
          </p:cNvPr>
          <p:cNvSpPr>
            <a:spLocks noGrp="1"/>
          </p:cNvSpPr>
          <p:nvPr>
            <p:ph idx="1"/>
          </p:nvPr>
        </p:nvSpPr>
        <p:spPr>
          <a:xfrm>
            <a:off x="312694" y="1046017"/>
            <a:ext cx="11566611" cy="5463758"/>
          </a:xfrm>
        </p:spPr>
        <p:txBody>
          <a:bodyPr>
            <a:normAutofit fontScale="85000" lnSpcReduction="20000"/>
          </a:bodyPr>
          <a:lstStyle/>
          <a:p>
            <a:r>
              <a:rPr lang="en-US" altLang="ja-JP" dirty="0"/>
              <a:t>GraphRAG</a:t>
            </a:r>
            <a:r>
              <a:rPr lang="en-US" altLang="ja-JP" baseline="30000" dirty="0"/>
              <a:t>[1]</a:t>
            </a:r>
            <a:r>
              <a:rPr lang="ja-JP" altLang="en-US"/>
              <a:t>：知識グラフを用いた階層的な要約生成</a:t>
            </a:r>
            <a:r>
              <a:rPr lang="en-US" altLang="ja-JP" dirty="0"/>
              <a:t> + LLM</a:t>
            </a:r>
            <a:r>
              <a:rPr lang="ja-JP" altLang="en-US"/>
              <a:t>による回答生成で　　　</a:t>
            </a:r>
            <a:r>
              <a:rPr lang="ja-JP" altLang="en-US">
                <a:latin typeface="Yu Gothic" panose="020B0400000000000000" pitchFamily="34" charset="-128"/>
                <a:ea typeface="Yu Gothic" panose="020B0400000000000000" pitchFamily="34" charset="-128"/>
              </a:rPr>
              <a:t>包括的かつ多様な視点からの回答</a:t>
            </a:r>
            <a:r>
              <a:rPr lang="ja-JP" altLang="en-US" b="1">
                <a:latin typeface="Yu Gothic" panose="020B0400000000000000" pitchFamily="34" charset="-128"/>
                <a:ea typeface="Yu Gothic" panose="020B0400000000000000" pitchFamily="34" charset="-128"/>
              </a:rPr>
              <a:t>を可能としたモデル</a:t>
            </a:r>
            <a:endParaRPr lang="en-US" altLang="ja-JP" dirty="0"/>
          </a:p>
          <a:p>
            <a:pPr lvl="1"/>
            <a:r>
              <a:rPr lang="en-US" altLang="ja-JP" dirty="0">
                <a:latin typeface="Yu Gothic" panose="020B0400000000000000" pitchFamily="34" charset="-128"/>
                <a:ea typeface="Yu Gothic" panose="020B0400000000000000" pitchFamily="34" charset="-128"/>
              </a:rPr>
              <a:t>RAG (Retrieval-Augmented Generation) </a:t>
            </a:r>
            <a:r>
              <a:rPr lang="en-US" altLang="ja-JP" baseline="30000" dirty="0">
                <a:latin typeface="Yu Gothic" panose="020B0400000000000000" pitchFamily="34" charset="-128"/>
                <a:ea typeface="Yu Gothic" panose="020B0400000000000000" pitchFamily="34" charset="-128"/>
              </a:rPr>
              <a:t>[2]</a:t>
            </a:r>
            <a:r>
              <a:rPr lang="ja-JP" altLang="en-US">
                <a:latin typeface="Yu Gothic" panose="020B0400000000000000" pitchFamily="34" charset="-128"/>
                <a:ea typeface="Yu Gothic" panose="020B0400000000000000" pitchFamily="34" charset="-128"/>
              </a:rPr>
              <a:t>に知識グラフ構築の利点を付加</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の苦手な</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全体を俯瞰するグローバルな質問にも対応</a:t>
            </a:r>
            <a:endParaRPr lang="en-US" altLang="ja-JP" dirty="0">
              <a:latin typeface="Yu Gothic" panose="020B0400000000000000" pitchFamily="34" charset="-128"/>
              <a:ea typeface="Yu Gothic" panose="020B0400000000000000" pitchFamily="34" charset="-128"/>
            </a:endParaRPr>
          </a:p>
          <a:p>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は回答生成以外でも</a:t>
            </a:r>
            <a:r>
              <a:rPr lang="en-US" altLang="ja-JP" dirty="0"/>
              <a:t>LLM</a:t>
            </a:r>
            <a:r>
              <a:rPr lang="ja-JP" altLang="en-US"/>
              <a:t>を大量に使用するため</a:t>
            </a:r>
            <a:r>
              <a:rPr lang="en-US" altLang="ja-JP" dirty="0"/>
              <a:t>, </a:t>
            </a:r>
            <a:r>
              <a:rPr lang="ja-JP" altLang="en-US">
                <a:solidFill>
                  <a:srgbClr val="C00000"/>
                </a:solidFill>
              </a:rPr>
              <a:t>コストが大きい</a:t>
            </a:r>
            <a:endParaRPr lang="en-US" altLang="ja-JP" dirty="0">
              <a:solidFill>
                <a:srgbClr val="C00000"/>
              </a:solidFill>
            </a:endParaRPr>
          </a:p>
          <a:p>
            <a:pPr lvl="1"/>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：グラフ生成</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による精緻な知識グラフ構築</a:t>
            </a:r>
            <a:r>
              <a:rPr lang="en-US" altLang="ja-JP" dirty="0">
                <a:latin typeface="Yu Gothic" panose="020B0400000000000000" pitchFamily="34" charset="-128"/>
                <a:ea typeface="Yu Gothic" panose="020B0400000000000000" pitchFamily="34" charset="-128"/>
              </a:rPr>
              <a:t> &amp; </a:t>
            </a:r>
            <a:r>
              <a:rPr lang="ja-JP" altLang="en-US">
                <a:latin typeface="Yu Gothic" panose="020B0400000000000000" pitchFamily="34" charset="-128"/>
                <a:ea typeface="Yu Gothic" panose="020B0400000000000000" pitchFamily="34" charset="-128"/>
              </a:rPr>
              <a:t>コミュニティ検出・要約　　　　　　</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回答生成</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による回答生成</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外部知識</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文書</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を分割して精緻なグラフ構築を行うため</a:t>
            </a:r>
            <a:r>
              <a:rPr lang="en-US" altLang="ja-JP" dirty="0">
                <a:latin typeface="Yu Gothic" panose="020B0400000000000000" pitchFamily="34" charset="-128"/>
                <a:ea typeface="Yu Gothic" panose="020B0400000000000000" pitchFamily="34" charset="-128"/>
              </a:rPr>
              <a:t>, LLM</a:t>
            </a:r>
            <a:r>
              <a:rPr lang="ja-JP" altLang="en-US">
                <a:latin typeface="Yu Gothic" panose="020B0400000000000000" pitchFamily="34" charset="-128"/>
                <a:ea typeface="Yu Gothic" panose="020B0400000000000000" pitchFamily="34" charset="-128"/>
              </a:rPr>
              <a:t>使用量や所要時間が膨大</a:t>
            </a:r>
            <a:endParaRPr lang="en-US" altLang="ja-JP" dirty="0">
              <a:latin typeface="Yu Gothic" panose="020B0400000000000000" pitchFamily="34" charset="-128"/>
              <a:ea typeface="Yu Gothic" panose="020B0400000000000000" pitchFamily="34" charset="-128"/>
            </a:endParaRPr>
          </a:p>
          <a:p>
            <a:r>
              <a:rPr lang="ja-JP" altLang="en-US"/>
              <a:t>グラフ生成</a:t>
            </a:r>
            <a:r>
              <a:rPr lang="en-US" altLang="ja-JP" dirty="0"/>
              <a:t>LLM</a:t>
            </a:r>
            <a:r>
              <a:rPr lang="ja-JP" altLang="en-US"/>
              <a:t>を用いず</a:t>
            </a:r>
            <a:r>
              <a:rPr lang="en-US" altLang="ja-JP" dirty="0"/>
              <a:t>, </a:t>
            </a:r>
            <a:r>
              <a:rPr lang="en-US" altLang="ja-JP" dirty="0">
                <a:solidFill>
                  <a:srgbClr val="C00000"/>
                </a:solidFill>
                <a:latin typeface="Yu Gothic" panose="020B0400000000000000" pitchFamily="34" charset="-128"/>
                <a:ea typeface="Yu Gothic" panose="020B0400000000000000" pitchFamily="34" charset="-128"/>
              </a:rPr>
              <a:t>TF-IDF</a:t>
            </a:r>
            <a:r>
              <a:rPr lang="ja-JP" altLang="en-US">
                <a:solidFill>
                  <a:srgbClr val="C00000"/>
                </a:solidFill>
                <a:latin typeface="Yu Gothic" panose="020B0400000000000000" pitchFamily="34" charset="-128"/>
                <a:ea typeface="Yu Gothic" panose="020B0400000000000000" pitchFamily="34" charset="-128"/>
              </a:rPr>
              <a:t>のみでグラフ構築</a:t>
            </a:r>
            <a:r>
              <a:rPr lang="ja-JP" altLang="en-US"/>
              <a:t>する</a:t>
            </a:r>
            <a:r>
              <a:rPr lang="en-US" altLang="ja-JP" dirty="0"/>
              <a:t>, </a:t>
            </a:r>
            <a:r>
              <a:rPr lang="ja-JP" altLang="en-US"/>
              <a:t>　　　　　　　　　　　　　軽量なグラフベース</a:t>
            </a:r>
            <a:r>
              <a:rPr lang="en-US" altLang="ja-JP" dirty="0"/>
              <a:t>RAG</a:t>
            </a:r>
            <a:r>
              <a:rPr lang="ja-JP" altLang="en-US"/>
              <a:t>手法を提案</a:t>
            </a:r>
            <a:endParaRPr lang="en-US" altLang="ja-JP" dirty="0"/>
          </a:p>
          <a:p>
            <a:pPr lvl="1"/>
            <a:r>
              <a:rPr lang="ja-JP" altLang="en-US">
                <a:latin typeface="Yu Gothic" panose="020B0400000000000000" pitchFamily="34" charset="-128"/>
                <a:ea typeface="Yu Gothic" panose="020B0400000000000000" pitchFamily="34" charset="-128"/>
              </a:rPr>
              <a:t>提案手法：</a:t>
            </a:r>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による簡易的なグラフ構築</a:t>
            </a:r>
            <a:r>
              <a:rPr lang="en-US" altLang="ja-JP" dirty="0">
                <a:latin typeface="Yu Gothic" panose="020B0400000000000000" pitchFamily="34" charset="-128"/>
                <a:ea typeface="Yu Gothic" panose="020B0400000000000000" pitchFamily="34" charset="-128"/>
              </a:rPr>
              <a:t> + </a:t>
            </a:r>
            <a:r>
              <a:rPr lang="ja-JP" altLang="en-US">
                <a:latin typeface="Yu Gothic" panose="020B0400000000000000" pitchFamily="34" charset="-128"/>
                <a:ea typeface="Yu Gothic" panose="020B0400000000000000" pitchFamily="34" charset="-128"/>
              </a:rPr>
              <a:t>回答生成</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による回答生成</a:t>
            </a:r>
            <a:endParaRPr lang="en-US" altLang="ja-JP" dirty="0">
              <a:latin typeface="Yu Gothic" panose="020B0400000000000000" pitchFamily="34" charset="-128"/>
              <a:ea typeface="Yu Gothic" panose="020B0400000000000000" pitchFamily="34" charset="-128"/>
            </a:endParaRPr>
          </a:p>
          <a:p>
            <a:pPr lvl="2"/>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：ある単語がその文書を特徴づける上でどれだけ重要かを表す値</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クエリ時に</a:t>
            </a:r>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より少し多く情報を与えることで</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精度劣化を抑える</a:t>
            </a:r>
            <a:endParaRPr lang="en-US" altLang="ja-JP" dirty="0">
              <a:latin typeface="Yu Gothic" panose="020B0400000000000000" pitchFamily="34" charset="-128"/>
              <a:ea typeface="Yu Gothic" panose="020B0400000000000000" pitchFamily="34" charset="-128"/>
            </a:endParaRPr>
          </a:p>
          <a:p>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と比べて</a:t>
            </a:r>
            <a:r>
              <a:rPr lang="en-US" altLang="ja-JP" dirty="0">
                <a:latin typeface="Yu Gothic" panose="020B0400000000000000" pitchFamily="34" charset="-128"/>
                <a:ea typeface="Yu Gothic" panose="020B0400000000000000" pitchFamily="34" charset="-128"/>
              </a:rPr>
              <a:t>, </a:t>
            </a:r>
            <a:r>
              <a:rPr lang="en-US" altLang="ja-JP" b="1" dirty="0">
                <a:solidFill>
                  <a:srgbClr val="C00000"/>
                </a:solidFill>
                <a:latin typeface="Yu Gothic" panose="020B0400000000000000" pitchFamily="34" charset="-128"/>
                <a:ea typeface="Yu Gothic" panose="020B0400000000000000" pitchFamily="34" charset="-128"/>
              </a:rPr>
              <a:t>LLM</a:t>
            </a:r>
            <a:r>
              <a:rPr lang="ja-JP" altLang="en-US" b="1">
                <a:solidFill>
                  <a:srgbClr val="C00000"/>
                </a:solidFill>
                <a:latin typeface="Yu Gothic" panose="020B0400000000000000" pitchFamily="34" charset="-128"/>
                <a:ea typeface="Yu Gothic" panose="020B0400000000000000" pitchFamily="34" charset="-128"/>
              </a:rPr>
              <a:t>使用量やグラフ生成にかかる時間を大幅に削減</a:t>
            </a:r>
            <a:endParaRPr lang="en-US" altLang="ja-JP" b="1" dirty="0">
              <a:solidFill>
                <a:srgbClr val="C00000"/>
              </a:solidFill>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と比較しても計算量や所要時間を削減</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以上の精度</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かつ</a:t>
            </a:r>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にも匹敵する精度</a:t>
            </a:r>
            <a:endParaRPr lang="en-US" altLang="ja-JP"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49A487FE-6E8D-20FE-1E4F-77E12BC05B91}"/>
              </a:ext>
            </a:extLst>
          </p:cNvPr>
          <p:cNvSpPr>
            <a:spLocks noGrp="1"/>
          </p:cNvSpPr>
          <p:nvPr>
            <p:ph type="body" sz="quarter" idx="11"/>
          </p:nvPr>
        </p:nvSpPr>
        <p:spPr/>
        <p:txBody>
          <a:bodyPr>
            <a:normAutofit fontScale="92500" lnSpcReduction="20000"/>
          </a:bodyPr>
          <a:lstStyle/>
          <a:p>
            <a:r>
              <a:rPr kumimoji="1" lang="ja-JP" altLang="en-US"/>
              <a:t>背景</a:t>
            </a:r>
            <a:r>
              <a:rPr kumimoji="1" lang="en-US" altLang="ja-JP" dirty="0"/>
              <a:t>−GraphRAG</a:t>
            </a:r>
            <a:r>
              <a:rPr kumimoji="1" lang="ja-JP" altLang="en-US"/>
              <a:t>は多様な視点からの回答が可能だが</a:t>
            </a:r>
            <a:r>
              <a:rPr kumimoji="1" lang="en-US" altLang="ja-JP" dirty="0"/>
              <a:t>, </a:t>
            </a:r>
            <a:r>
              <a:rPr kumimoji="1" lang="ja-JP" altLang="en-US"/>
              <a:t>コスト面が課題</a:t>
            </a:r>
          </a:p>
        </p:txBody>
      </p:sp>
      <p:sp>
        <p:nvSpPr>
          <p:cNvPr id="2" name="テキスト ボックス 1">
            <a:extLst>
              <a:ext uri="{FF2B5EF4-FFF2-40B4-BE49-F238E27FC236}">
                <a16:creationId xmlns:a16="http://schemas.microsoft.com/office/drawing/2014/main" id="{A7D4A518-40A7-F776-0F20-43BB8037931D}"/>
              </a:ext>
            </a:extLst>
          </p:cNvPr>
          <p:cNvSpPr txBox="1"/>
          <p:nvPr/>
        </p:nvSpPr>
        <p:spPr>
          <a:xfrm>
            <a:off x="-1" y="6475595"/>
            <a:ext cx="12093479" cy="630942"/>
          </a:xfrm>
          <a:prstGeom prst="rect">
            <a:avLst/>
          </a:prstGeom>
          <a:noFill/>
        </p:spPr>
        <p:txBody>
          <a:bodyPr wrap="square" rtlCol="0">
            <a:spAutoFit/>
          </a:bodyPr>
          <a:lstStyle/>
          <a:p>
            <a:r>
              <a:rPr lang="en" altLang="ja-JP" sz="700" i="0" dirty="0">
                <a:solidFill>
                  <a:schemeClr val="bg2"/>
                </a:solidFill>
                <a:effectLst/>
                <a:latin typeface="Yu Gothic" panose="020B0400000000000000" pitchFamily="34" charset="-128"/>
                <a:ea typeface="Yu Gothic" panose="020B0400000000000000" pitchFamily="34" charset="-128"/>
              </a:rPr>
              <a:t>[1] Darren Edge, Ha Trinh, Newman Cheng, Joshua Bradley, Alex Chao, Apurva Mody, Steven Truitt, Dasha </a:t>
            </a:r>
            <a:r>
              <a:rPr lang="en" altLang="ja-JP" sz="700" i="0" dirty="0" err="1">
                <a:solidFill>
                  <a:schemeClr val="bg2"/>
                </a:solidFill>
                <a:effectLst/>
                <a:latin typeface="Yu Gothic" panose="020B0400000000000000" pitchFamily="34" charset="-128"/>
                <a:ea typeface="Yu Gothic" panose="020B0400000000000000" pitchFamily="34" charset="-128"/>
              </a:rPr>
              <a:t>Metropolitansky</a:t>
            </a:r>
            <a:r>
              <a:rPr lang="en" altLang="ja-JP" sz="700" i="0" dirty="0">
                <a:solidFill>
                  <a:schemeClr val="bg2"/>
                </a:solidFill>
                <a:effectLst/>
                <a:latin typeface="Yu Gothic" panose="020B0400000000000000" pitchFamily="34" charset="-128"/>
                <a:ea typeface="Yu Gothic" panose="020B0400000000000000" pitchFamily="34" charset="-128"/>
              </a:rPr>
              <a:t>, Robert </a:t>
            </a:r>
            <a:r>
              <a:rPr lang="en" altLang="ja-JP" sz="700" i="0" dirty="0" err="1">
                <a:solidFill>
                  <a:schemeClr val="bg2"/>
                </a:solidFill>
                <a:effectLst/>
                <a:latin typeface="Yu Gothic" panose="020B0400000000000000" pitchFamily="34" charset="-128"/>
                <a:ea typeface="Yu Gothic" panose="020B0400000000000000" pitchFamily="34" charset="-128"/>
              </a:rPr>
              <a:t>Osazuwa</a:t>
            </a:r>
            <a:r>
              <a:rPr lang="en" altLang="ja-JP" sz="700" i="0" dirty="0">
                <a:solidFill>
                  <a:schemeClr val="bg2"/>
                </a:solidFill>
                <a:effectLst/>
                <a:latin typeface="Yu Gothic" panose="020B0400000000000000" pitchFamily="34" charset="-128"/>
                <a:ea typeface="Yu Gothic" panose="020B0400000000000000" pitchFamily="34" charset="-128"/>
              </a:rPr>
              <a:t> Ness, and Jonathan Larson. From local to global: A graph rag approach to query-focused summarization, 2025.</a:t>
            </a:r>
          </a:p>
          <a:p>
            <a:r>
              <a:rPr lang="en" altLang="ja-JP" sz="700" i="0" dirty="0">
                <a:solidFill>
                  <a:schemeClr val="bg2"/>
                </a:solidFill>
                <a:effectLst/>
                <a:latin typeface="Yu Gothic" panose="020B0400000000000000" pitchFamily="34" charset="-128"/>
                <a:ea typeface="Yu Gothic" panose="020B0400000000000000" pitchFamily="34" charset="-128"/>
              </a:rPr>
              <a:t>[2] Patrick Lewis, Ethan Perez, Aleksandra </a:t>
            </a:r>
            <a:r>
              <a:rPr lang="en" altLang="ja-JP" sz="700" i="0" dirty="0" err="1">
                <a:solidFill>
                  <a:schemeClr val="bg2"/>
                </a:solidFill>
                <a:effectLst/>
                <a:latin typeface="Yu Gothic" panose="020B0400000000000000" pitchFamily="34" charset="-128"/>
                <a:ea typeface="Yu Gothic" panose="020B0400000000000000" pitchFamily="34" charset="-128"/>
              </a:rPr>
              <a:t>Piktus</a:t>
            </a:r>
            <a:r>
              <a:rPr lang="en" altLang="ja-JP" sz="700" i="0" dirty="0">
                <a:solidFill>
                  <a:schemeClr val="bg2"/>
                </a:solidFill>
                <a:effectLst/>
                <a:latin typeface="Yu Gothic" panose="020B0400000000000000" pitchFamily="34" charset="-128"/>
                <a:ea typeface="Yu Gothic" panose="020B0400000000000000" pitchFamily="34" charset="-128"/>
              </a:rPr>
              <a:t>, Fabio Petroni, Vladimir </a:t>
            </a:r>
            <a:r>
              <a:rPr lang="en" altLang="ja-JP" sz="700" i="0" dirty="0" err="1">
                <a:solidFill>
                  <a:schemeClr val="bg2"/>
                </a:solidFill>
                <a:effectLst/>
                <a:latin typeface="Yu Gothic" panose="020B0400000000000000" pitchFamily="34" charset="-128"/>
                <a:ea typeface="Yu Gothic" panose="020B0400000000000000" pitchFamily="34" charset="-128"/>
              </a:rPr>
              <a:t>Karpukhin</a:t>
            </a:r>
            <a:r>
              <a:rPr lang="en" altLang="ja-JP" sz="700" i="0" dirty="0">
                <a:solidFill>
                  <a:schemeClr val="bg2"/>
                </a:solidFill>
                <a:effectLst/>
                <a:latin typeface="Yu Gothic" panose="020B0400000000000000" pitchFamily="34" charset="-128"/>
                <a:ea typeface="Yu Gothic" panose="020B0400000000000000" pitchFamily="34" charset="-128"/>
              </a:rPr>
              <a:t>, Naman Goyal, Heinrich </a:t>
            </a:r>
            <a:r>
              <a:rPr lang="en" altLang="ja-JP" sz="700" i="0" dirty="0" err="1">
                <a:solidFill>
                  <a:schemeClr val="bg2"/>
                </a:solidFill>
                <a:effectLst/>
                <a:latin typeface="Yu Gothic" panose="020B0400000000000000" pitchFamily="34" charset="-128"/>
                <a:ea typeface="Yu Gothic" panose="020B0400000000000000" pitchFamily="34" charset="-128"/>
              </a:rPr>
              <a:t>KÅNuttler</a:t>
            </a:r>
            <a:r>
              <a:rPr lang="en" altLang="ja-JP" sz="700" i="0" dirty="0">
                <a:solidFill>
                  <a:schemeClr val="bg2"/>
                </a:solidFill>
                <a:effectLst/>
                <a:latin typeface="Yu Gothic" panose="020B0400000000000000" pitchFamily="34" charset="-128"/>
                <a:ea typeface="Yu Gothic" panose="020B0400000000000000" pitchFamily="34" charset="-128"/>
              </a:rPr>
              <a:t>, Mike Lewis, Wen-tau Yih, Tim </a:t>
            </a:r>
            <a:r>
              <a:rPr lang="en" altLang="ja-JP" sz="700" i="0" dirty="0" err="1">
                <a:solidFill>
                  <a:schemeClr val="bg2"/>
                </a:solidFill>
                <a:effectLst/>
                <a:latin typeface="Yu Gothic" panose="020B0400000000000000" pitchFamily="34" charset="-128"/>
                <a:ea typeface="Yu Gothic" panose="020B0400000000000000" pitchFamily="34" charset="-128"/>
              </a:rPr>
              <a:t>RocktÅNaschel</a:t>
            </a:r>
            <a:r>
              <a:rPr lang="en" altLang="ja-JP" sz="700" i="0" dirty="0">
                <a:solidFill>
                  <a:schemeClr val="bg2"/>
                </a:solidFill>
                <a:effectLst/>
                <a:latin typeface="Yu Gothic" panose="020B0400000000000000" pitchFamily="34" charset="-128"/>
                <a:ea typeface="Yu Gothic" panose="020B0400000000000000" pitchFamily="34" charset="-128"/>
              </a:rPr>
              <a:t>, Sebastian Riedel, and </a:t>
            </a:r>
            <a:r>
              <a:rPr lang="en" altLang="ja-JP" sz="700" i="0" dirty="0" err="1">
                <a:solidFill>
                  <a:schemeClr val="bg2"/>
                </a:solidFill>
                <a:effectLst/>
                <a:latin typeface="Yu Gothic" panose="020B0400000000000000" pitchFamily="34" charset="-128"/>
                <a:ea typeface="Yu Gothic" panose="020B0400000000000000" pitchFamily="34" charset="-128"/>
              </a:rPr>
              <a:t>Douwe</a:t>
            </a:r>
            <a:r>
              <a:rPr lang="en" altLang="ja-JP" sz="700" i="0" dirty="0">
                <a:solidFill>
                  <a:schemeClr val="bg2"/>
                </a:solidFill>
                <a:effectLst/>
                <a:latin typeface="Yu Gothic" panose="020B0400000000000000" pitchFamily="34" charset="-128"/>
                <a:ea typeface="Yu Gothic" panose="020B0400000000000000" pitchFamily="34" charset="-128"/>
              </a:rPr>
              <a:t> </a:t>
            </a:r>
            <a:r>
              <a:rPr lang="en" altLang="ja-JP" sz="700" i="0" dirty="0" err="1">
                <a:solidFill>
                  <a:schemeClr val="bg2"/>
                </a:solidFill>
                <a:effectLst/>
                <a:latin typeface="Yu Gothic" panose="020B0400000000000000" pitchFamily="34" charset="-128"/>
                <a:ea typeface="Yu Gothic" panose="020B0400000000000000" pitchFamily="34" charset="-128"/>
              </a:rPr>
              <a:t>Kiela</a:t>
            </a:r>
            <a:r>
              <a:rPr lang="en" altLang="ja-JP" sz="700" i="0" dirty="0">
                <a:solidFill>
                  <a:schemeClr val="bg2"/>
                </a:solidFill>
                <a:effectLst/>
                <a:latin typeface="Yu Gothic" panose="020B0400000000000000" pitchFamily="34" charset="-128"/>
                <a:ea typeface="Yu Gothic" panose="020B0400000000000000" pitchFamily="34" charset="-128"/>
              </a:rPr>
              <a:t>. Retrieval-augmented generation for knowledge-intensive </a:t>
            </a:r>
            <a:r>
              <a:rPr lang="en" altLang="ja-JP" sz="700" i="0" dirty="0" err="1">
                <a:solidFill>
                  <a:schemeClr val="bg2"/>
                </a:solidFill>
                <a:effectLst/>
                <a:latin typeface="Yu Gothic" panose="020B0400000000000000" pitchFamily="34" charset="-128"/>
                <a:ea typeface="Yu Gothic" panose="020B0400000000000000" pitchFamily="34" charset="-128"/>
              </a:rPr>
              <a:t>nlp</a:t>
            </a:r>
            <a:r>
              <a:rPr lang="en" altLang="ja-JP" sz="700" i="0" dirty="0">
                <a:solidFill>
                  <a:schemeClr val="bg2"/>
                </a:solidFill>
                <a:effectLst/>
                <a:latin typeface="Yu Gothic" panose="020B0400000000000000" pitchFamily="34" charset="-128"/>
                <a:ea typeface="Yu Gothic" panose="020B0400000000000000" pitchFamily="34" charset="-128"/>
              </a:rPr>
              <a:t> tasks. In Proceedings of the 34th International Conference on Neural Information Processing Systems, NIPS ’20, Red Hook, NY, USA, 2020. Curran Associates Inc.</a:t>
            </a:r>
          </a:p>
          <a:p>
            <a:endParaRPr lang="en" altLang="ja-JP" sz="700" i="0" dirty="0">
              <a:solidFill>
                <a:schemeClr val="bg2"/>
              </a:solidFill>
              <a:effectLst/>
              <a:latin typeface="Yu Gothic" panose="020B0400000000000000" pitchFamily="34" charset="-128"/>
              <a:ea typeface="Yu Gothic" panose="020B0400000000000000" pitchFamily="34" charset="-128"/>
            </a:endParaRPr>
          </a:p>
          <a:p>
            <a:endParaRPr lang="en" altLang="ja-JP" sz="700" i="0" dirty="0">
              <a:solidFill>
                <a:schemeClr val="bg2"/>
              </a:solidFill>
              <a:effectLst/>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192332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正方形/長方形 88">
            <a:extLst>
              <a:ext uri="{FF2B5EF4-FFF2-40B4-BE49-F238E27FC236}">
                <a16:creationId xmlns:a16="http://schemas.microsoft.com/office/drawing/2014/main" id="{966BB8D1-7995-CF5F-3575-35BD83186BD8}"/>
              </a:ext>
            </a:extLst>
          </p:cNvPr>
          <p:cNvSpPr/>
          <p:nvPr/>
        </p:nvSpPr>
        <p:spPr>
          <a:xfrm>
            <a:off x="860042" y="1283138"/>
            <a:ext cx="3445800" cy="2403632"/>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5644B246-CB8E-D4E0-3464-7659D0531004}"/>
              </a:ext>
            </a:extLst>
          </p:cNvPr>
          <p:cNvSpPr/>
          <p:nvPr/>
        </p:nvSpPr>
        <p:spPr>
          <a:xfrm>
            <a:off x="4886354" y="4801457"/>
            <a:ext cx="3228163" cy="5927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6F61078F-8C12-B227-FC04-4FC0A030C6CF}"/>
              </a:ext>
            </a:extLst>
          </p:cNvPr>
          <p:cNvSpPr/>
          <p:nvPr/>
        </p:nvSpPr>
        <p:spPr>
          <a:xfrm>
            <a:off x="962458" y="5561419"/>
            <a:ext cx="3231091" cy="830997"/>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1BCB981A-FFC5-6E85-2AFA-92AC41EDE3D3}"/>
              </a:ext>
            </a:extLst>
          </p:cNvPr>
          <p:cNvSpPr>
            <a:spLocks noGrp="1"/>
          </p:cNvSpPr>
          <p:nvPr>
            <p:ph type="body" sz="quarter" idx="11"/>
          </p:nvPr>
        </p:nvSpPr>
        <p:spPr/>
        <p:txBody>
          <a:bodyPr>
            <a:normAutofit fontScale="92500" lnSpcReduction="20000"/>
          </a:bodyPr>
          <a:lstStyle/>
          <a:p>
            <a:r>
              <a:rPr kumimoji="1" lang="ja-JP" altLang="en-US"/>
              <a:t>関連研究と提案手法のフレームワーク　</a:t>
            </a:r>
            <a:r>
              <a:rPr lang="en-US" altLang="ja-JP" sz="2200" dirty="0"/>
              <a:t>※</a:t>
            </a:r>
            <a:r>
              <a:rPr lang="ja-JP" altLang="en-US" sz="2200"/>
              <a:t>網掛け部分は</a:t>
            </a:r>
            <a:r>
              <a:rPr lang="en-US" altLang="ja-JP" sz="2200" dirty="0"/>
              <a:t>LLM</a:t>
            </a:r>
            <a:r>
              <a:rPr lang="ja-JP" altLang="en-US" sz="2200"/>
              <a:t>使用</a:t>
            </a:r>
            <a:endParaRPr kumimoji="1" lang="ja-JP" altLang="en-US"/>
          </a:p>
        </p:txBody>
      </p:sp>
      <p:cxnSp>
        <p:nvCxnSpPr>
          <p:cNvPr id="5" name="直線コネクタ 4">
            <a:extLst>
              <a:ext uri="{FF2B5EF4-FFF2-40B4-BE49-F238E27FC236}">
                <a16:creationId xmlns:a16="http://schemas.microsoft.com/office/drawing/2014/main" id="{4FD77253-C05A-4F6B-384C-D6CF25C28569}"/>
              </a:ext>
            </a:extLst>
          </p:cNvPr>
          <p:cNvCxnSpPr>
            <a:cxnSpLocks/>
          </p:cNvCxnSpPr>
          <p:nvPr/>
        </p:nvCxnSpPr>
        <p:spPr>
          <a:xfrm>
            <a:off x="4545357" y="3749074"/>
            <a:ext cx="0" cy="2709104"/>
          </a:xfrm>
          <a:prstGeom prst="line">
            <a:avLst/>
          </a:prstGeom>
        </p:spPr>
        <p:style>
          <a:lnRef idx="3">
            <a:schemeClr val="dk1"/>
          </a:lnRef>
          <a:fillRef idx="0">
            <a:schemeClr val="dk1"/>
          </a:fillRef>
          <a:effectRef idx="2">
            <a:schemeClr val="dk1"/>
          </a:effectRef>
          <a:fontRef idx="minor">
            <a:schemeClr val="tx1"/>
          </a:fontRef>
        </p:style>
      </p:cxnSp>
      <p:cxnSp>
        <p:nvCxnSpPr>
          <p:cNvPr id="8" name="直線コネクタ 7">
            <a:extLst>
              <a:ext uri="{FF2B5EF4-FFF2-40B4-BE49-F238E27FC236}">
                <a16:creationId xmlns:a16="http://schemas.microsoft.com/office/drawing/2014/main" id="{DF88C2A3-BA60-88F3-B5CB-85FFAC1D5528}"/>
              </a:ext>
            </a:extLst>
          </p:cNvPr>
          <p:cNvCxnSpPr>
            <a:cxnSpLocks/>
          </p:cNvCxnSpPr>
          <p:nvPr/>
        </p:nvCxnSpPr>
        <p:spPr>
          <a:xfrm>
            <a:off x="8402594" y="818126"/>
            <a:ext cx="0" cy="5657469"/>
          </a:xfrm>
          <a:prstGeom prst="line">
            <a:avLst/>
          </a:prstGeom>
        </p:spPr>
        <p:style>
          <a:lnRef idx="3">
            <a:schemeClr val="dk1"/>
          </a:lnRef>
          <a:fillRef idx="0">
            <a:schemeClr val="dk1"/>
          </a:fillRef>
          <a:effectRef idx="2">
            <a:schemeClr val="dk1"/>
          </a:effectRef>
          <a:fontRef idx="minor">
            <a:schemeClr val="tx1"/>
          </a:fontRef>
        </p:style>
      </p:cxnSp>
      <p:sp>
        <p:nvSpPr>
          <p:cNvPr id="40" name="正方形/長方形 39">
            <a:extLst>
              <a:ext uri="{FF2B5EF4-FFF2-40B4-BE49-F238E27FC236}">
                <a16:creationId xmlns:a16="http://schemas.microsoft.com/office/drawing/2014/main" id="{4B25274D-1104-202E-93F5-5CDB137707D9}"/>
              </a:ext>
            </a:extLst>
          </p:cNvPr>
          <p:cNvSpPr/>
          <p:nvPr/>
        </p:nvSpPr>
        <p:spPr>
          <a:xfrm>
            <a:off x="964555" y="3835353"/>
            <a:ext cx="3240265" cy="375771"/>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DBA6F0E4-080B-1381-F657-6F7D500211D9}"/>
              </a:ext>
            </a:extLst>
          </p:cNvPr>
          <p:cNvSpPr txBox="1"/>
          <p:nvPr/>
        </p:nvSpPr>
        <p:spPr>
          <a:xfrm>
            <a:off x="971701" y="3857495"/>
            <a:ext cx="3240261" cy="338554"/>
          </a:xfrm>
          <a:prstGeom prst="rect">
            <a:avLst/>
          </a:prstGeom>
          <a:noFill/>
          <a:ln>
            <a:noFill/>
          </a:ln>
        </p:spPr>
        <p:txBody>
          <a:bodyPr wrap="square" rtlCol="0">
            <a:spAutoFit/>
          </a:bodyPr>
          <a:lstStyle/>
          <a:p>
            <a:pPr algn="ctr"/>
            <a:r>
              <a:rPr kumimoji="1" lang="ja-JP" altLang="en-US" sz="1600"/>
              <a:t>コミュニティ検出</a:t>
            </a:r>
            <a:r>
              <a:rPr lang="ja-JP" altLang="en-US" sz="1600"/>
              <a:t>・要約</a:t>
            </a:r>
            <a:endParaRPr kumimoji="1" lang="ja-JP" altLang="en-US" sz="1600"/>
          </a:p>
        </p:txBody>
      </p:sp>
      <p:sp>
        <p:nvSpPr>
          <p:cNvPr id="42" name="正方形/長方形 41">
            <a:extLst>
              <a:ext uri="{FF2B5EF4-FFF2-40B4-BE49-F238E27FC236}">
                <a16:creationId xmlns:a16="http://schemas.microsoft.com/office/drawing/2014/main" id="{CDBD2E46-5093-DF2D-90F9-2D976B33E52E}"/>
              </a:ext>
            </a:extLst>
          </p:cNvPr>
          <p:cNvSpPr/>
          <p:nvPr/>
        </p:nvSpPr>
        <p:spPr>
          <a:xfrm>
            <a:off x="964555" y="4801310"/>
            <a:ext cx="3240268" cy="6030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3542C2F7-27AE-0A01-D87C-2A25D6653B76}"/>
              </a:ext>
            </a:extLst>
          </p:cNvPr>
          <p:cNvSpPr txBox="1"/>
          <p:nvPr/>
        </p:nvSpPr>
        <p:spPr>
          <a:xfrm>
            <a:off x="917997" y="4809292"/>
            <a:ext cx="3354743" cy="584775"/>
          </a:xfrm>
          <a:prstGeom prst="rect">
            <a:avLst/>
          </a:prstGeom>
          <a:noFill/>
          <a:ln>
            <a:noFill/>
          </a:ln>
        </p:spPr>
        <p:txBody>
          <a:bodyPr wrap="square" rtlCol="0">
            <a:spAutoFit/>
          </a:bodyPr>
          <a:lstStyle/>
          <a:p>
            <a:pPr algn="ctr"/>
            <a:r>
              <a:rPr kumimoji="1" lang="ja-JP" altLang="en-US" sz="1600"/>
              <a:t>コミュニティとクエリの類似度</a:t>
            </a:r>
            <a:endParaRPr kumimoji="1" lang="en-US" altLang="ja-JP" sz="1600" dirty="0"/>
          </a:p>
          <a:p>
            <a:pPr algn="ctr"/>
            <a:r>
              <a:rPr kumimoji="1" lang="ja-JP" altLang="en-US" sz="1600"/>
              <a:t>からコミュニティを抽出</a:t>
            </a:r>
          </a:p>
        </p:txBody>
      </p:sp>
      <p:sp>
        <p:nvSpPr>
          <p:cNvPr id="45" name="テキスト ボックス 44">
            <a:extLst>
              <a:ext uri="{FF2B5EF4-FFF2-40B4-BE49-F238E27FC236}">
                <a16:creationId xmlns:a16="http://schemas.microsoft.com/office/drawing/2014/main" id="{D790B8BD-FCAE-8509-DCE7-FE17CA94D76F}"/>
              </a:ext>
            </a:extLst>
          </p:cNvPr>
          <p:cNvSpPr txBox="1"/>
          <p:nvPr/>
        </p:nvSpPr>
        <p:spPr>
          <a:xfrm>
            <a:off x="4781634" y="4811431"/>
            <a:ext cx="3437597" cy="584775"/>
          </a:xfrm>
          <a:prstGeom prst="rect">
            <a:avLst/>
          </a:prstGeom>
          <a:noFill/>
          <a:ln>
            <a:noFill/>
          </a:ln>
        </p:spPr>
        <p:txBody>
          <a:bodyPr wrap="square" rtlCol="0">
            <a:spAutoFit/>
          </a:bodyPr>
          <a:lstStyle/>
          <a:p>
            <a:pPr algn="ctr"/>
            <a:r>
              <a:rPr kumimoji="1" lang="ja-JP" altLang="en-US" sz="1600"/>
              <a:t>重み付きマルチソース</a:t>
            </a:r>
            <a:r>
              <a:rPr kumimoji="1" lang="en-US" altLang="ja-JP" sz="1600" dirty="0"/>
              <a:t>PPR</a:t>
            </a:r>
            <a:r>
              <a:rPr kumimoji="1" lang="ja-JP" altLang="en-US" sz="1600"/>
              <a:t>で</a:t>
            </a:r>
            <a:endParaRPr kumimoji="1" lang="en-US" altLang="ja-JP" sz="1600" dirty="0"/>
          </a:p>
          <a:p>
            <a:pPr algn="ctr"/>
            <a:r>
              <a:rPr lang="ja-JP" altLang="en-US" sz="1600"/>
              <a:t>関連するノード</a:t>
            </a:r>
            <a:r>
              <a:rPr lang="en-US" altLang="ja-JP" sz="1600" dirty="0"/>
              <a:t> (</a:t>
            </a:r>
            <a:r>
              <a:rPr lang="ja-JP" altLang="en-US" sz="1600"/>
              <a:t>文書</a:t>
            </a:r>
            <a:r>
              <a:rPr lang="en-US" altLang="ja-JP" sz="1600" dirty="0"/>
              <a:t>) </a:t>
            </a:r>
            <a:r>
              <a:rPr lang="ja-JP" altLang="en-US" sz="1600"/>
              <a:t>を抽出</a:t>
            </a:r>
            <a:endParaRPr kumimoji="1" lang="ja-JP" altLang="en-US" sz="1600"/>
          </a:p>
        </p:txBody>
      </p:sp>
      <p:sp>
        <p:nvSpPr>
          <p:cNvPr id="46" name="正方形/長方形 45">
            <a:extLst>
              <a:ext uri="{FF2B5EF4-FFF2-40B4-BE49-F238E27FC236}">
                <a16:creationId xmlns:a16="http://schemas.microsoft.com/office/drawing/2014/main" id="{251B563D-C222-EA1A-D5B7-D09B3026E749}"/>
              </a:ext>
            </a:extLst>
          </p:cNvPr>
          <p:cNvSpPr/>
          <p:nvPr/>
        </p:nvSpPr>
        <p:spPr>
          <a:xfrm>
            <a:off x="4881311" y="5545238"/>
            <a:ext cx="3233200" cy="838142"/>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34D8845B-4FED-B9AD-73F0-9A23652E53F4}"/>
              </a:ext>
            </a:extLst>
          </p:cNvPr>
          <p:cNvSpPr txBox="1"/>
          <p:nvPr/>
        </p:nvSpPr>
        <p:spPr>
          <a:xfrm>
            <a:off x="4881311" y="5574194"/>
            <a:ext cx="3233200" cy="830997"/>
          </a:xfrm>
          <a:prstGeom prst="rect">
            <a:avLst/>
          </a:prstGeom>
          <a:noFill/>
          <a:ln>
            <a:noFill/>
          </a:ln>
        </p:spPr>
        <p:txBody>
          <a:bodyPr wrap="square" rtlCol="0">
            <a:spAutoFit/>
          </a:bodyPr>
          <a:lstStyle/>
          <a:p>
            <a:pPr algn="ctr"/>
            <a:r>
              <a:rPr kumimoji="1" lang="ja-JP" altLang="en-US" sz="1600"/>
              <a:t>文書を</a:t>
            </a:r>
            <a:r>
              <a:rPr kumimoji="1" lang="en-US" altLang="ja-JP" sz="1600" dirty="0"/>
              <a:t>LLM</a:t>
            </a:r>
            <a:r>
              <a:rPr kumimoji="1" lang="ja-JP" altLang="en-US" sz="1600"/>
              <a:t>を用いずに</a:t>
            </a:r>
            <a:endParaRPr kumimoji="1" lang="en-US" altLang="ja-JP" sz="1600" dirty="0"/>
          </a:p>
          <a:p>
            <a:pPr algn="ctr"/>
            <a:r>
              <a:rPr kumimoji="1" lang="ja-JP" altLang="en-US" sz="1600"/>
              <a:t>分割して</a:t>
            </a:r>
            <a:r>
              <a:rPr kumimoji="1" lang="en-US" altLang="ja-JP" sz="1600" dirty="0"/>
              <a:t>LLM</a:t>
            </a:r>
            <a:r>
              <a:rPr kumimoji="1" lang="ja-JP" altLang="en-US" sz="1600"/>
              <a:t>に渡し</a:t>
            </a:r>
            <a:r>
              <a:rPr kumimoji="1" lang="en-US" altLang="ja-JP" sz="1600" dirty="0"/>
              <a:t>, </a:t>
            </a:r>
          </a:p>
          <a:p>
            <a:pPr algn="ctr"/>
            <a:r>
              <a:rPr kumimoji="1" lang="ja-JP" altLang="en-US" sz="1600"/>
              <a:t>回答生成</a:t>
            </a:r>
            <a:r>
              <a:rPr kumimoji="1" lang="en-US" altLang="ja-JP" sz="1600" dirty="0"/>
              <a:t> </a:t>
            </a:r>
            <a:endParaRPr kumimoji="1" lang="ja-JP" altLang="en-US" sz="1600"/>
          </a:p>
        </p:txBody>
      </p:sp>
      <p:sp>
        <p:nvSpPr>
          <p:cNvPr id="49" name="テキスト ボックス 48">
            <a:extLst>
              <a:ext uri="{FF2B5EF4-FFF2-40B4-BE49-F238E27FC236}">
                <a16:creationId xmlns:a16="http://schemas.microsoft.com/office/drawing/2014/main" id="{32A404A5-FA21-AED8-C615-AC5F47EEB9B6}"/>
              </a:ext>
            </a:extLst>
          </p:cNvPr>
          <p:cNvSpPr txBox="1"/>
          <p:nvPr/>
        </p:nvSpPr>
        <p:spPr>
          <a:xfrm>
            <a:off x="1094367" y="5586801"/>
            <a:ext cx="2984566" cy="830997"/>
          </a:xfrm>
          <a:prstGeom prst="rect">
            <a:avLst/>
          </a:prstGeom>
          <a:noFill/>
          <a:ln>
            <a:noFill/>
          </a:ln>
        </p:spPr>
        <p:txBody>
          <a:bodyPr wrap="square" rtlCol="0">
            <a:spAutoFit/>
          </a:bodyPr>
          <a:lstStyle/>
          <a:p>
            <a:pPr algn="ctr"/>
            <a:r>
              <a:rPr kumimoji="1" lang="ja-JP" altLang="en-US" sz="1600"/>
              <a:t>コミュニティ要約から</a:t>
            </a:r>
            <a:endParaRPr kumimoji="1" lang="en-US" altLang="ja-JP" sz="1600" dirty="0"/>
          </a:p>
          <a:p>
            <a:pPr algn="ctr"/>
            <a:r>
              <a:rPr kumimoji="1" lang="ja-JP" altLang="en-US" sz="1600"/>
              <a:t>部分的な回答を複数生成</a:t>
            </a:r>
            <a:endParaRPr kumimoji="1" lang="en-US" altLang="ja-JP" sz="1600" dirty="0"/>
          </a:p>
          <a:p>
            <a:pPr algn="ctr"/>
            <a:r>
              <a:rPr kumimoji="1" lang="en-US" altLang="ja-JP" sz="1600" dirty="0"/>
              <a:t>→</a:t>
            </a:r>
            <a:r>
              <a:rPr lang="en-US" altLang="ja-JP" sz="1600" dirty="0"/>
              <a:t> </a:t>
            </a:r>
            <a:r>
              <a:rPr kumimoji="1" lang="ja-JP" altLang="en-US" sz="1600"/>
              <a:t>統合して最終回答を生成</a:t>
            </a:r>
          </a:p>
        </p:txBody>
      </p:sp>
      <p:sp>
        <p:nvSpPr>
          <p:cNvPr id="58" name="正方形/長方形 57">
            <a:extLst>
              <a:ext uri="{FF2B5EF4-FFF2-40B4-BE49-F238E27FC236}">
                <a16:creationId xmlns:a16="http://schemas.microsoft.com/office/drawing/2014/main" id="{3D89AC1D-3140-1BB5-A16B-6D8189F40625}"/>
              </a:ext>
            </a:extLst>
          </p:cNvPr>
          <p:cNvSpPr/>
          <p:nvPr/>
        </p:nvSpPr>
        <p:spPr>
          <a:xfrm>
            <a:off x="971702" y="4280149"/>
            <a:ext cx="1043107" cy="440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A8AFD9DC-B1C2-16FF-C5DE-02C4CD723ED3}"/>
              </a:ext>
            </a:extLst>
          </p:cNvPr>
          <p:cNvSpPr txBox="1"/>
          <p:nvPr/>
        </p:nvSpPr>
        <p:spPr>
          <a:xfrm>
            <a:off x="962459" y="4330154"/>
            <a:ext cx="1059568" cy="338554"/>
          </a:xfrm>
          <a:prstGeom prst="rect">
            <a:avLst/>
          </a:prstGeom>
          <a:noFill/>
          <a:ln>
            <a:noFill/>
          </a:ln>
        </p:spPr>
        <p:txBody>
          <a:bodyPr wrap="square" rtlCol="0">
            <a:spAutoFit/>
          </a:bodyPr>
          <a:lstStyle/>
          <a:p>
            <a:pPr algn="ctr"/>
            <a:r>
              <a:rPr kumimoji="1" lang="ja-JP" altLang="en-US" sz="1600"/>
              <a:t>クエリ</a:t>
            </a:r>
            <a:endParaRPr kumimoji="1" lang="en-US" altLang="ja-JP" sz="1600" dirty="0"/>
          </a:p>
        </p:txBody>
      </p:sp>
      <p:cxnSp>
        <p:nvCxnSpPr>
          <p:cNvPr id="60" name="直線矢印コネクタ 59">
            <a:extLst>
              <a:ext uri="{FF2B5EF4-FFF2-40B4-BE49-F238E27FC236}">
                <a16:creationId xmlns:a16="http://schemas.microsoft.com/office/drawing/2014/main" id="{265479F1-6111-A2E1-AD50-9AEC516D3643}"/>
              </a:ext>
            </a:extLst>
          </p:cNvPr>
          <p:cNvCxnSpPr>
            <a:cxnSpLocks/>
            <a:stCxn id="40" idx="2"/>
            <a:endCxn id="42" idx="0"/>
          </p:cNvCxnSpPr>
          <p:nvPr/>
        </p:nvCxnSpPr>
        <p:spPr>
          <a:xfrm>
            <a:off x="2584688" y="4211124"/>
            <a:ext cx="1" cy="590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265A81AD-31B0-1876-0280-4F4C29555A8B}"/>
              </a:ext>
            </a:extLst>
          </p:cNvPr>
          <p:cNvCxnSpPr>
            <a:cxnSpLocks/>
            <a:stCxn id="42" idx="2"/>
          </p:cNvCxnSpPr>
          <p:nvPr/>
        </p:nvCxnSpPr>
        <p:spPr>
          <a:xfrm>
            <a:off x="2584689" y="5404361"/>
            <a:ext cx="4594" cy="144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DEE2AC3D-EE4B-93EF-4E73-33300F11DF11}"/>
              </a:ext>
            </a:extLst>
          </p:cNvPr>
          <p:cNvCxnSpPr>
            <a:cxnSpLocks/>
            <a:stCxn id="58" idx="3"/>
          </p:cNvCxnSpPr>
          <p:nvPr/>
        </p:nvCxnSpPr>
        <p:spPr>
          <a:xfrm flipV="1">
            <a:off x="2014809" y="4493364"/>
            <a:ext cx="547002" cy="6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367C174D-0110-F287-9C8E-007037414A5A}"/>
              </a:ext>
            </a:extLst>
          </p:cNvPr>
          <p:cNvCxnSpPr>
            <a:cxnSpLocks/>
            <a:stCxn id="54" idx="2"/>
            <a:endCxn id="46" idx="0"/>
          </p:cNvCxnSpPr>
          <p:nvPr/>
        </p:nvCxnSpPr>
        <p:spPr>
          <a:xfrm flipH="1">
            <a:off x="6497911" y="5394214"/>
            <a:ext cx="2525" cy="151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正方形/長方形 110">
            <a:extLst>
              <a:ext uri="{FF2B5EF4-FFF2-40B4-BE49-F238E27FC236}">
                <a16:creationId xmlns:a16="http://schemas.microsoft.com/office/drawing/2014/main" id="{4ED67575-C360-E845-5393-B691CF5D2C41}"/>
              </a:ext>
            </a:extLst>
          </p:cNvPr>
          <p:cNvSpPr/>
          <p:nvPr/>
        </p:nvSpPr>
        <p:spPr>
          <a:xfrm>
            <a:off x="4891854" y="4280296"/>
            <a:ext cx="1050311" cy="440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テキスト ボックス 111">
            <a:extLst>
              <a:ext uri="{FF2B5EF4-FFF2-40B4-BE49-F238E27FC236}">
                <a16:creationId xmlns:a16="http://schemas.microsoft.com/office/drawing/2014/main" id="{5AA2ECFE-3880-1B19-52F7-321A86EDEF33}"/>
              </a:ext>
            </a:extLst>
          </p:cNvPr>
          <p:cNvSpPr txBox="1"/>
          <p:nvPr/>
        </p:nvSpPr>
        <p:spPr>
          <a:xfrm>
            <a:off x="4128216" y="4337071"/>
            <a:ext cx="2577585" cy="338554"/>
          </a:xfrm>
          <a:prstGeom prst="rect">
            <a:avLst/>
          </a:prstGeom>
          <a:noFill/>
          <a:ln>
            <a:noFill/>
          </a:ln>
        </p:spPr>
        <p:txBody>
          <a:bodyPr wrap="square" rtlCol="0">
            <a:spAutoFit/>
          </a:bodyPr>
          <a:lstStyle/>
          <a:p>
            <a:pPr algn="ctr"/>
            <a:r>
              <a:rPr kumimoji="1" lang="ja-JP" altLang="en-US" sz="1600"/>
              <a:t>クエリ</a:t>
            </a:r>
            <a:endParaRPr kumimoji="1" lang="en-US" altLang="ja-JP" sz="1600" dirty="0"/>
          </a:p>
        </p:txBody>
      </p:sp>
      <p:cxnSp>
        <p:nvCxnSpPr>
          <p:cNvPr id="113" name="直線矢印コネクタ 112">
            <a:extLst>
              <a:ext uri="{FF2B5EF4-FFF2-40B4-BE49-F238E27FC236}">
                <a16:creationId xmlns:a16="http://schemas.microsoft.com/office/drawing/2014/main" id="{D4B4A07A-7D9F-B02C-7460-4CEF5CE8E804}"/>
              </a:ext>
            </a:extLst>
          </p:cNvPr>
          <p:cNvCxnSpPr>
            <a:cxnSpLocks/>
            <a:stCxn id="111" idx="3"/>
          </p:cNvCxnSpPr>
          <p:nvPr/>
        </p:nvCxnSpPr>
        <p:spPr>
          <a:xfrm flipV="1">
            <a:off x="5942165" y="4495445"/>
            <a:ext cx="561794" cy="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線矢印コネクタ 113">
            <a:extLst>
              <a:ext uri="{FF2B5EF4-FFF2-40B4-BE49-F238E27FC236}">
                <a16:creationId xmlns:a16="http://schemas.microsoft.com/office/drawing/2014/main" id="{9F438383-5437-20F8-E07E-13265849384C}"/>
              </a:ext>
            </a:extLst>
          </p:cNvPr>
          <p:cNvCxnSpPr>
            <a:cxnSpLocks/>
            <a:stCxn id="115" idx="2"/>
            <a:endCxn id="54" idx="0"/>
          </p:cNvCxnSpPr>
          <p:nvPr/>
        </p:nvCxnSpPr>
        <p:spPr>
          <a:xfrm flipH="1">
            <a:off x="6500436" y="3686916"/>
            <a:ext cx="3206" cy="1114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7BA26C83-2FCD-F43B-93F8-150A51C7E04B}"/>
              </a:ext>
            </a:extLst>
          </p:cNvPr>
          <p:cNvSpPr/>
          <p:nvPr/>
        </p:nvSpPr>
        <p:spPr>
          <a:xfrm>
            <a:off x="8749089" y="1287542"/>
            <a:ext cx="3225972" cy="6861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テキスト ボックス 119">
            <a:extLst>
              <a:ext uri="{FF2B5EF4-FFF2-40B4-BE49-F238E27FC236}">
                <a16:creationId xmlns:a16="http://schemas.microsoft.com/office/drawing/2014/main" id="{374ED459-9A40-D651-A50A-E047AC8ECED7}"/>
              </a:ext>
            </a:extLst>
          </p:cNvPr>
          <p:cNvSpPr txBox="1"/>
          <p:nvPr/>
        </p:nvSpPr>
        <p:spPr>
          <a:xfrm>
            <a:off x="9071666" y="1473444"/>
            <a:ext cx="2577585" cy="338554"/>
          </a:xfrm>
          <a:prstGeom prst="rect">
            <a:avLst/>
          </a:prstGeom>
          <a:noFill/>
          <a:ln>
            <a:noFill/>
          </a:ln>
        </p:spPr>
        <p:txBody>
          <a:bodyPr wrap="square" rtlCol="0">
            <a:spAutoFit/>
          </a:bodyPr>
          <a:lstStyle/>
          <a:p>
            <a:pPr algn="ctr"/>
            <a:r>
              <a:rPr kumimoji="1" lang="ja-JP" altLang="en-US" sz="1600"/>
              <a:t>埋め込み作成</a:t>
            </a:r>
          </a:p>
        </p:txBody>
      </p:sp>
      <p:sp>
        <p:nvSpPr>
          <p:cNvPr id="122" name="正方形/長方形 121">
            <a:extLst>
              <a:ext uri="{FF2B5EF4-FFF2-40B4-BE49-F238E27FC236}">
                <a16:creationId xmlns:a16="http://schemas.microsoft.com/office/drawing/2014/main" id="{4B33172B-BC1D-7777-E6B6-4A0D9C49B46C}"/>
              </a:ext>
            </a:extLst>
          </p:cNvPr>
          <p:cNvSpPr/>
          <p:nvPr/>
        </p:nvSpPr>
        <p:spPr>
          <a:xfrm>
            <a:off x="8749091" y="4801457"/>
            <a:ext cx="3225970" cy="5921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テキスト ボックス 120">
            <a:extLst>
              <a:ext uri="{FF2B5EF4-FFF2-40B4-BE49-F238E27FC236}">
                <a16:creationId xmlns:a16="http://schemas.microsoft.com/office/drawing/2014/main" id="{AFE3ED25-2228-F765-3BC4-B97248C7410C}"/>
              </a:ext>
            </a:extLst>
          </p:cNvPr>
          <p:cNvSpPr txBox="1"/>
          <p:nvPr/>
        </p:nvSpPr>
        <p:spPr>
          <a:xfrm>
            <a:off x="8752203" y="4817588"/>
            <a:ext cx="3219550" cy="584775"/>
          </a:xfrm>
          <a:prstGeom prst="rect">
            <a:avLst/>
          </a:prstGeom>
          <a:noFill/>
          <a:ln>
            <a:noFill/>
          </a:ln>
        </p:spPr>
        <p:txBody>
          <a:bodyPr wrap="square" rtlCol="0">
            <a:spAutoFit/>
          </a:bodyPr>
          <a:lstStyle/>
          <a:p>
            <a:pPr algn="ctr"/>
            <a:r>
              <a:rPr kumimoji="1" lang="ja-JP" altLang="en-US" sz="1600"/>
              <a:t>ベクトル検索で</a:t>
            </a:r>
            <a:endParaRPr lang="en-US" altLang="ja-JP" sz="1600" dirty="0"/>
          </a:p>
          <a:p>
            <a:pPr algn="ctr"/>
            <a:r>
              <a:rPr kumimoji="1" lang="ja-JP" altLang="en-US" sz="1600"/>
              <a:t>関連する文書を抽出</a:t>
            </a:r>
          </a:p>
        </p:txBody>
      </p:sp>
      <p:cxnSp>
        <p:nvCxnSpPr>
          <p:cNvPr id="123" name="直線矢印コネクタ 122">
            <a:extLst>
              <a:ext uri="{FF2B5EF4-FFF2-40B4-BE49-F238E27FC236}">
                <a16:creationId xmlns:a16="http://schemas.microsoft.com/office/drawing/2014/main" id="{2CE8D090-2F2D-A5A8-BFA5-D5A818FE0F1C}"/>
              </a:ext>
            </a:extLst>
          </p:cNvPr>
          <p:cNvCxnSpPr>
            <a:cxnSpLocks/>
            <a:stCxn id="119" idx="2"/>
            <a:endCxn id="122" idx="0"/>
          </p:cNvCxnSpPr>
          <p:nvPr/>
        </p:nvCxnSpPr>
        <p:spPr>
          <a:xfrm>
            <a:off x="10362075" y="1973680"/>
            <a:ext cx="1" cy="2827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正方形/長方形 126">
            <a:extLst>
              <a:ext uri="{FF2B5EF4-FFF2-40B4-BE49-F238E27FC236}">
                <a16:creationId xmlns:a16="http://schemas.microsoft.com/office/drawing/2014/main" id="{AABB04A5-5CD8-9B57-419A-B03084075462}"/>
              </a:ext>
            </a:extLst>
          </p:cNvPr>
          <p:cNvSpPr/>
          <p:nvPr/>
        </p:nvSpPr>
        <p:spPr>
          <a:xfrm>
            <a:off x="8749089" y="5567862"/>
            <a:ext cx="3225971" cy="830997"/>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テキスト ボックス 127">
            <a:extLst>
              <a:ext uri="{FF2B5EF4-FFF2-40B4-BE49-F238E27FC236}">
                <a16:creationId xmlns:a16="http://schemas.microsoft.com/office/drawing/2014/main" id="{953D6FF5-1BCE-7EC5-38EB-6B8316C8E1D6}"/>
              </a:ext>
            </a:extLst>
          </p:cNvPr>
          <p:cNvSpPr txBox="1"/>
          <p:nvPr/>
        </p:nvSpPr>
        <p:spPr>
          <a:xfrm>
            <a:off x="8630664" y="5813676"/>
            <a:ext cx="3462820" cy="338554"/>
          </a:xfrm>
          <a:prstGeom prst="rect">
            <a:avLst/>
          </a:prstGeom>
          <a:noFill/>
          <a:ln>
            <a:noFill/>
          </a:ln>
        </p:spPr>
        <p:txBody>
          <a:bodyPr wrap="square" rtlCol="0">
            <a:spAutoFit/>
          </a:bodyPr>
          <a:lstStyle/>
          <a:p>
            <a:pPr algn="ctr"/>
            <a:r>
              <a:rPr kumimoji="1" lang="ja-JP" altLang="en-US" sz="1600"/>
              <a:t>検索結果から回答生成</a:t>
            </a:r>
          </a:p>
        </p:txBody>
      </p:sp>
      <p:cxnSp>
        <p:nvCxnSpPr>
          <p:cNvPr id="129" name="直線矢印コネクタ 128">
            <a:extLst>
              <a:ext uri="{FF2B5EF4-FFF2-40B4-BE49-F238E27FC236}">
                <a16:creationId xmlns:a16="http://schemas.microsoft.com/office/drawing/2014/main" id="{BEA76D25-5B3C-DD84-4B2B-5B842F26F049}"/>
              </a:ext>
            </a:extLst>
          </p:cNvPr>
          <p:cNvCxnSpPr>
            <a:cxnSpLocks/>
            <a:stCxn id="122" idx="2"/>
            <a:endCxn id="127" idx="0"/>
          </p:cNvCxnSpPr>
          <p:nvPr/>
        </p:nvCxnSpPr>
        <p:spPr>
          <a:xfrm flipH="1">
            <a:off x="10362075" y="5393605"/>
            <a:ext cx="1" cy="174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正方形/長方形 131">
            <a:extLst>
              <a:ext uri="{FF2B5EF4-FFF2-40B4-BE49-F238E27FC236}">
                <a16:creationId xmlns:a16="http://schemas.microsoft.com/office/drawing/2014/main" id="{1CD22E17-98E4-D500-2230-4120B4BA2908}"/>
              </a:ext>
            </a:extLst>
          </p:cNvPr>
          <p:cNvSpPr/>
          <p:nvPr/>
        </p:nvSpPr>
        <p:spPr>
          <a:xfrm>
            <a:off x="8749089" y="4278918"/>
            <a:ext cx="1050324" cy="440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テキスト ボックス 132">
            <a:extLst>
              <a:ext uri="{FF2B5EF4-FFF2-40B4-BE49-F238E27FC236}">
                <a16:creationId xmlns:a16="http://schemas.microsoft.com/office/drawing/2014/main" id="{B96581C8-29F1-CC37-0629-08FADC9C48DA}"/>
              </a:ext>
            </a:extLst>
          </p:cNvPr>
          <p:cNvSpPr txBox="1"/>
          <p:nvPr/>
        </p:nvSpPr>
        <p:spPr>
          <a:xfrm>
            <a:off x="8579007" y="4339709"/>
            <a:ext cx="1409445" cy="338554"/>
          </a:xfrm>
          <a:prstGeom prst="rect">
            <a:avLst/>
          </a:prstGeom>
          <a:noFill/>
          <a:ln>
            <a:noFill/>
          </a:ln>
        </p:spPr>
        <p:txBody>
          <a:bodyPr wrap="square" rtlCol="0">
            <a:spAutoFit/>
          </a:bodyPr>
          <a:lstStyle/>
          <a:p>
            <a:pPr algn="ctr"/>
            <a:r>
              <a:rPr kumimoji="1" lang="ja-JP" altLang="en-US" sz="1600"/>
              <a:t>クエリ</a:t>
            </a:r>
            <a:endParaRPr kumimoji="1" lang="en-US" altLang="ja-JP" sz="1600" dirty="0"/>
          </a:p>
        </p:txBody>
      </p:sp>
      <p:cxnSp>
        <p:nvCxnSpPr>
          <p:cNvPr id="134" name="直線矢印コネクタ 133">
            <a:extLst>
              <a:ext uri="{FF2B5EF4-FFF2-40B4-BE49-F238E27FC236}">
                <a16:creationId xmlns:a16="http://schemas.microsoft.com/office/drawing/2014/main" id="{8250DFAD-B414-345C-254C-085ED1A051FF}"/>
              </a:ext>
            </a:extLst>
          </p:cNvPr>
          <p:cNvCxnSpPr>
            <a:cxnSpLocks/>
            <a:stCxn id="132" idx="3"/>
          </p:cNvCxnSpPr>
          <p:nvPr/>
        </p:nvCxnSpPr>
        <p:spPr>
          <a:xfrm flipV="1">
            <a:off x="9799413" y="4498806"/>
            <a:ext cx="562662" cy="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7" name="テキスト ボックス 136">
            <a:extLst>
              <a:ext uri="{FF2B5EF4-FFF2-40B4-BE49-F238E27FC236}">
                <a16:creationId xmlns:a16="http://schemas.microsoft.com/office/drawing/2014/main" id="{8BBFB1CB-9F70-C071-1887-227F42E29205}"/>
              </a:ext>
            </a:extLst>
          </p:cNvPr>
          <p:cNvSpPr txBox="1"/>
          <p:nvPr/>
        </p:nvSpPr>
        <p:spPr>
          <a:xfrm>
            <a:off x="1053467" y="888661"/>
            <a:ext cx="3214456" cy="400110"/>
          </a:xfrm>
          <a:prstGeom prst="rect">
            <a:avLst/>
          </a:prstGeom>
          <a:noFill/>
          <a:ln>
            <a:noFill/>
          </a:ln>
        </p:spPr>
        <p:txBody>
          <a:bodyPr wrap="square" rtlCol="0">
            <a:spAutoFit/>
          </a:bodyPr>
          <a:lstStyle/>
          <a:p>
            <a:pPr algn="ctr"/>
            <a:r>
              <a:rPr kumimoji="1" lang="en-US" altLang="ja-JP" sz="2000" dirty="0"/>
              <a:t>GraphRAG</a:t>
            </a:r>
            <a:endParaRPr kumimoji="1" lang="ja-JP" altLang="en-US" sz="2000"/>
          </a:p>
        </p:txBody>
      </p:sp>
      <p:sp>
        <p:nvSpPr>
          <p:cNvPr id="138" name="テキスト ボックス 137">
            <a:extLst>
              <a:ext uri="{FF2B5EF4-FFF2-40B4-BE49-F238E27FC236}">
                <a16:creationId xmlns:a16="http://schemas.microsoft.com/office/drawing/2014/main" id="{60A68952-7E4B-E5F4-332A-428D4781D202}"/>
              </a:ext>
            </a:extLst>
          </p:cNvPr>
          <p:cNvSpPr txBox="1"/>
          <p:nvPr/>
        </p:nvSpPr>
        <p:spPr>
          <a:xfrm>
            <a:off x="5209118" y="883174"/>
            <a:ext cx="2577585" cy="400110"/>
          </a:xfrm>
          <a:prstGeom prst="rect">
            <a:avLst/>
          </a:prstGeom>
          <a:noFill/>
          <a:ln>
            <a:noFill/>
          </a:ln>
        </p:spPr>
        <p:txBody>
          <a:bodyPr wrap="square" rtlCol="0">
            <a:spAutoFit/>
          </a:bodyPr>
          <a:lstStyle/>
          <a:p>
            <a:pPr algn="ctr"/>
            <a:r>
              <a:rPr lang="ja-JP" altLang="en-US" sz="2000" b="1">
                <a:solidFill>
                  <a:srgbClr val="C00000"/>
                </a:solidFill>
              </a:rPr>
              <a:t>提案手法</a:t>
            </a:r>
            <a:endParaRPr kumimoji="1" lang="ja-JP" altLang="en-US" sz="2000" b="1">
              <a:solidFill>
                <a:srgbClr val="C00000"/>
              </a:solidFill>
            </a:endParaRPr>
          </a:p>
        </p:txBody>
      </p:sp>
      <p:sp>
        <p:nvSpPr>
          <p:cNvPr id="139" name="テキスト ボックス 138">
            <a:extLst>
              <a:ext uri="{FF2B5EF4-FFF2-40B4-BE49-F238E27FC236}">
                <a16:creationId xmlns:a16="http://schemas.microsoft.com/office/drawing/2014/main" id="{3779DC7B-8C1D-62B7-1452-632ADC843D60}"/>
              </a:ext>
            </a:extLst>
          </p:cNvPr>
          <p:cNvSpPr txBox="1"/>
          <p:nvPr/>
        </p:nvSpPr>
        <p:spPr>
          <a:xfrm>
            <a:off x="8749089" y="855636"/>
            <a:ext cx="3222741" cy="400110"/>
          </a:xfrm>
          <a:prstGeom prst="rect">
            <a:avLst/>
          </a:prstGeom>
          <a:noFill/>
          <a:ln>
            <a:noFill/>
          </a:ln>
        </p:spPr>
        <p:txBody>
          <a:bodyPr wrap="square" rtlCol="0">
            <a:spAutoFit/>
          </a:bodyPr>
          <a:lstStyle/>
          <a:p>
            <a:pPr algn="ctr"/>
            <a:r>
              <a:rPr lang="en-US" altLang="ja-JP" sz="2000" dirty="0"/>
              <a:t>RAG</a:t>
            </a:r>
            <a:endParaRPr kumimoji="1" lang="ja-JP" altLang="en-US" sz="2000"/>
          </a:p>
        </p:txBody>
      </p:sp>
      <p:sp>
        <p:nvSpPr>
          <p:cNvPr id="144" name="テキスト ボックス 143">
            <a:extLst>
              <a:ext uri="{FF2B5EF4-FFF2-40B4-BE49-F238E27FC236}">
                <a16:creationId xmlns:a16="http://schemas.microsoft.com/office/drawing/2014/main" id="{68828F82-FF6F-6641-BC62-3CE763CEE1EE}"/>
              </a:ext>
            </a:extLst>
          </p:cNvPr>
          <p:cNvSpPr txBox="1"/>
          <p:nvPr/>
        </p:nvSpPr>
        <p:spPr>
          <a:xfrm>
            <a:off x="4885892" y="3677889"/>
            <a:ext cx="3228163" cy="523220"/>
          </a:xfrm>
          <a:prstGeom prst="rect">
            <a:avLst/>
          </a:prstGeom>
          <a:noFill/>
        </p:spPr>
        <p:txBody>
          <a:bodyPr wrap="square" rtlCol="0">
            <a:spAutoFit/>
          </a:bodyPr>
          <a:lstStyle/>
          <a:p>
            <a:pPr algn="ctr"/>
            <a:r>
              <a:rPr kumimoji="1" lang="ja-JP" altLang="en-US" sz="1400" b="1">
                <a:solidFill>
                  <a:srgbClr val="C00000"/>
                </a:solidFill>
                <a:latin typeface="Yu Gothic" panose="020B0400000000000000" pitchFamily="34" charset="-128"/>
                <a:ea typeface="Yu Gothic" panose="020B0400000000000000" pitchFamily="34" charset="-128"/>
              </a:rPr>
              <a:t>事前構築は</a:t>
            </a:r>
            <a:endParaRPr kumimoji="1" lang="en-US" altLang="ja-JP" sz="1400" b="1" dirty="0">
              <a:solidFill>
                <a:srgbClr val="C00000"/>
              </a:solidFill>
              <a:latin typeface="Yu Gothic" panose="020B0400000000000000" pitchFamily="34" charset="-128"/>
              <a:ea typeface="Yu Gothic" panose="020B0400000000000000" pitchFamily="34" charset="-128"/>
            </a:endParaRPr>
          </a:p>
          <a:p>
            <a:pPr algn="ctr"/>
            <a:r>
              <a:rPr kumimoji="1" lang="ja-JP" altLang="en-US" sz="1400" b="1">
                <a:solidFill>
                  <a:srgbClr val="C00000"/>
                </a:solidFill>
                <a:latin typeface="Yu Gothic" panose="020B0400000000000000" pitchFamily="34" charset="-128"/>
                <a:ea typeface="Yu Gothic" panose="020B0400000000000000" pitchFamily="34" charset="-128"/>
              </a:rPr>
              <a:t>単純化したグラフ構築のみ</a:t>
            </a:r>
            <a:endParaRPr kumimoji="1" lang="en-US" altLang="ja-JP" sz="1400" b="1" dirty="0">
              <a:solidFill>
                <a:srgbClr val="C00000"/>
              </a:solidFill>
              <a:latin typeface="Yu Gothic" panose="020B0400000000000000" pitchFamily="34" charset="-128"/>
              <a:ea typeface="Yu Gothic" panose="020B0400000000000000" pitchFamily="34" charset="-128"/>
            </a:endParaRPr>
          </a:p>
        </p:txBody>
      </p:sp>
      <p:sp>
        <p:nvSpPr>
          <p:cNvPr id="193" name="左大かっこ 192">
            <a:extLst>
              <a:ext uri="{FF2B5EF4-FFF2-40B4-BE49-F238E27FC236}">
                <a16:creationId xmlns:a16="http://schemas.microsoft.com/office/drawing/2014/main" id="{0D9A1EA9-FB53-A6C4-96E2-43CCA72FF19E}"/>
              </a:ext>
            </a:extLst>
          </p:cNvPr>
          <p:cNvSpPr/>
          <p:nvPr/>
        </p:nvSpPr>
        <p:spPr>
          <a:xfrm>
            <a:off x="633484" y="1264187"/>
            <a:ext cx="150988" cy="2959333"/>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94" name="テキスト ボックス 193">
            <a:extLst>
              <a:ext uri="{FF2B5EF4-FFF2-40B4-BE49-F238E27FC236}">
                <a16:creationId xmlns:a16="http://schemas.microsoft.com/office/drawing/2014/main" id="{0A3FADE3-429B-4E4B-B156-D4707C114826}"/>
              </a:ext>
            </a:extLst>
          </p:cNvPr>
          <p:cNvSpPr txBox="1"/>
          <p:nvPr/>
        </p:nvSpPr>
        <p:spPr>
          <a:xfrm>
            <a:off x="-365521" y="2568275"/>
            <a:ext cx="1432421" cy="584775"/>
          </a:xfrm>
          <a:prstGeom prst="rect">
            <a:avLst/>
          </a:prstGeom>
          <a:noFill/>
          <a:ln>
            <a:noFill/>
          </a:ln>
        </p:spPr>
        <p:txBody>
          <a:bodyPr wrap="square" rtlCol="0">
            <a:spAutoFit/>
          </a:bodyPr>
          <a:lstStyle/>
          <a:p>
            <a:pPr algn="ctr"/>
            <a:r>
              <a:rPr lang="ja-JP" altLang="en-US" sz="1600"/>
              <a:t>事前</a:t>
            </a:r>
            <a:endParaRPr lang="en-US" altLang="ja-JP" sz="1600" dirty="0"/>
          </a:p>
          <a:p>
            <a:pPr algn="ctr"/>
            <a:r>
              <a:rPr kumimoji="1" lang="ja-JP" altLang="en-US" sz="1600"/>
              <a:t>構築</a:t>
            </a:r>
          </a:p>
        </p:txBody>
      </p:sp>
      <p:sp>
        <p:nvSpPr>
          <p:cNvPr id="195" name="左大かっこ 194">
            <a:extLst>
              <a:ext uri="{FF2B5EF4-FFF2-40B4-BE49-F238E27FC236}">
                <a16:creationId xmlns:a16="http://schemas.microsoft.com/office/drawing/2014/main" id="{669AF65B-A136-0ED9-9FA1-EAE95B0BFD88}"/>
              </a:ext>
            </a:extLst>
          </p:cNvPr>
          <p:cNvSpPr/>
          <p:nvPr/>
        </p:nvSpPr>
        <p:spPr>
          <a:xfrm>
            <a:off x="633412" y="5511564"/>
            <a:ext cx="143295" cy="916138"/>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96" name="テキスト ボックス 195">
            <a:extLst>
              <a:ext uri="{FF2B5EF4-FFF2-40B4-BE49-F238E27FC236}">
                <a16:creationId xmlns:a16="http://schemas.microsoft.com/office/drawing/2014/main" id="{61C2E84E-C23D-032C-30F5-FAAAB58FC56A}"/>
              </a:ext>
            </a:extLst>
          </p:cNvPr>
          <p:cNvSpPr txBox="1"/>
          <p:nvPr/>
        </p:nvSpPr>
        <p:spPr>
          <a:xfrm>
            <a:off x="-341540" y="5682909"/>
            <a:ext cx="1432421" cy="584775"/>
          </a:xfrm>
          <a:prstGeom prst="rect">
            <a:avLst/>
          </a:prstGeom>
          <a:noFill/>
          <a:ln>
            <a:noFill/>
          </a:ln>
        </p:spPr>
        <p:txBody>
          <a:bodyPr wrap="square" rtlCol="0">
            <a:spAutoFit/>
          </a:bodyPr>
          <a:lstStyle/>
          <a:p>
            <a:pPr algn="ctr"/>
            <a:r>
              <a:rPr lang="ja-JP" altLang="en-US" sz="1600"/>
              <a:t>回答</a:t>
            </a:r>
            <a:endParaRPr lang="en-US" altLang="ja-JP" sz="1600" dirty="0"/>
          </a:p>
          <a:p>
            <a:pPr algn="ctr"/>
            <a:r>
              <a:rPr lang="ja-JP" altLang="en-US" sz="1600"/>
              <a:t>生成</a:t>
            </a:r>
            <a:endParaRPr kumimoji="1" lang="ja-JP" altLang="en-US" sz="1600"/>
          </a:p>
        </p:txBody>
      </p:sp>
      <p:sp>
        <p:nvSpPr>
          <p:cNvPr id="197" name="左大かっこ 196">
            <a:extLst>
              <a:ext uri="{FF2B5EF4-FFF2-40B4-BE49-F238E27FC236}">
                <a16:creationId xmlns:a16="http://schemas.microsoft.com/office/drawing/2014/main" id="{1F61DB7D-7F85-0B9E-2FA5-02179AF14EC2}"/>
              </a:ext>
            </a:extLst>
          </p:cNvPr>
          <p:cNvSpPr/>
          <p:nvPr/>
        </p:nvSpPr>
        <p:spPr>
          <a:xfrm>
            <a:off x="627525" y="4775054"/>
            <a:ext cx="152288" cy="656317"/>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98" name="テキスト ボックス 197">
            <a:extLst>
              <a:ext uri="{FF2B5EF4-FFF2-40B4-BE49-F238E27FC236}">
                <a16:creationId xmlns:a16="http://schemas.microsoft.com/office/drawing/2014/main" id="{ADBD0724-6B38-1790-C97A-6F5AF2810B04}"/>
              </a:ext>
            </a:extLst>
          </p:cNvPr>
          <p:cNvSpPr txBox="1"/>
          <p:nvPr/>
        </p:nvSpPr>
        <p:spPr>
          <a:xfrm>
            <a:off x="-349730" y="4796758"/>
            <a:ext cx="1432421" cy="584775"/>
          </a:xfrm>
          <a:prstGeom prst="rect">
            <a:avLst/>
          </a:prstGeom>
          <a:noFill/>
          <a:ln>
            <a:noFill/>
          </a:ln>
        </p:spPr>
        <p:txBody>
          <a:bodyPr wrap="square" rtlCol="0">
            <a:spAutoFit/>
          </a:bodyPr>
          <a:lstStyle/>
          <a:p>
            <a:pPr algn="ctr"/>
            <a:r>
              <a:rPr kumimoji="1" lang="ja-JP" altLang="en-US" sz="1600"/>
              <a:t>情報</a:t>
            </a:r>
            <a:endParaRPr kumimoji="1" lang="en-US" altLang="ja-JP" sz="1600" dirty="0"/>
          </a:p>
          <a:p>
            <a:pPr algn="ctr"/>
            <a:r>
              <a:rPr kumimoji="1" lang="ja-JP" altLang="en-US" sz="1600"/>
              <a:t>抽出</a:t>
            </a:r>
          </a:p>
        </p:txBody>
      </p:sp>
      <p:sp>
        <p:nvSpPr>
          <p:cNvPr id="6" name="正方形/長方形 5">
            <a:extLst>
              <a:ext uri="{FF2B5EF4-FFF2-40B4-BE49-F238E27FC236}">
                <a16:creationId xmlns:a16="http://schemas.microsoft.com/office/drawing/2014/main" id="{AF876573-16A0-D87F-C22F-8EA86E3977C9}"/>
              </a:ext>
            </a:extLst>
          </p:cNvPr>
          <p:cNvSpPr/>
          <p:nvPr/>
        </p:nvSpPr>
        <p:spPr>
          <a:xfrm>
            <a:off x="1085483" y="1446631"/>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7" name="正方形/長方形 6">
            <a:extLst>
              <a:ext uri="{FF2B5EF4-FFF2-40B4-BE49-F238E27FC236}">
                <a16:creationId xmlns:a16="http://schemas.microsoft.com/office/drawing/2014/main" id="{B40865CB-BFE7-8164-1FFA-4CF9578F338F}"/>
              </a:ext>
            </a:extLst>
          </p:cNvPr>
          <p:cNvSpPr/>
          <p:nvPr/>
        </p:nvSpPr>
        <p:spPr>
          <a:xfrm>
            <a:off x="2590767" y="2122614"/>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企業</a:t>
            </a:r>
            <a:r>
              <a:rPr lang="en-US" altLang="ja-JP" sz="1200" dirty="0"/>
              <a:t>a</a:t>
            </a:r>
            <a:endParaRPr kumimoji="1" lang="ja-JP" altLang="en-US" sz="1200"/>
          </a:p>
        </p:txBody>
      </p:sp>
      <p:sp>
        <p:nvSpPr>
          <p:cNvPr id="9" name="正方形/長方形 8">
            <a:extLst>
              <a:ext uri="{FF2B5EF4-FFF2-40B4-BE49-F238E27FC236}">
                <a16:creationId xmlns:a16="http://schemas.microsoft.com/office/drawing/2014/main" id="{DA5CC799-C23B-17DD-C900-88E72255E946}"/>
              </a:ext>
            </a:extLst>
          </p:cNvPr>
          <p:cNvSpPr/>
          <p:nvPr/>
        </p:nvSpPr>
        <p:spPr>
          <a:xfrm>
            <a:off x="3433513" y="2475160"/>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人物</a:t>
            </a:r>
            <a:r>
              <a:rPr lang="en-US" altLang="ja-JP" sz="1200" dirty="0"/>
              <a:t>b</a:t>
            </a:r>
            <a:endParaRPr kumimoji="1" lang="ja-JP" altLang="en-US" sz="1200"/>
          </a:p>
        </p:txBody>
      </p:sp>
      <p:sp>
        <p:nvSpPr>
          <p:cNvPr id="10" name="正方形/長方形 9">
            <a:extLst>
              <a:ext uri="{FF2B5EF4-FFF2-40B4-BE49-F238E27FC236}">
                <a16:creationId xmlns:a16="http://schemas.microsoft.com/office/drawing/2014/main" id="{44EDA957-A558-B58F-5946-5D1FC78EC6EB}"/>
              </a:ext>
            </a:extLst>
          </p:cNvPr>
          <p:cNvSpPr/>
          <p:nvPr/>
        </p:nvSpPr>
        <p:spPr>
          <a:xfrm>
            <a:off x="2590767" y="2844359"/>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商品</a:t>
            </a:r>
            <a:r>
              <a:rPr lang="en-US" altLang="ja-JP" sz="1200" dirty="0"/>
              <a:t>c</a:t>
            </a:r>
            <a:endParaRPr kumimoji="1" lang="ja-JP" altLang="en-US" sz="1200"/>
          </a:p>
        </p:txBody>
      </p:sp>
      <p:sp>
        <p:nvSpPr>
          <p:cNvPr id="11" name="正方形/長方形 10">
            <a:extLst>
              <a:ext uri="{FF2B5EF4-FFF2-40B4-BE49-F238E27FC236}">
                <a16:creationId xmlns:a16="http://schemas.microsoft.com/office/drawing/2014/main" id="{F3E00530-75B2-6497-15A8-98683BEC76A4}"/>
              </a:ext>
            </a:extLst>
          </p:cNvPr>
          <p:cNvSpPr/>
          <p:nvPr/>
        </p:nvSpPr>
        <p:spPr>
          <a:xfrm>
            <a:off x="3418633" y="3177793"/>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場所</a:t>
            </a:r>
            <a:r>
              <a:rPr lang="en-US" altLang="ja-JP" sz="1200" dirty="0"/>
              <a:t>d</a:t>
            </a:r>
            <a:endParaRPr kumimoji="1" lang="ja-JP" altLang="en-US" sz="1200"/>
          </a:p>
        </p:txBody>
      </p:sp>
      <p:sp>
        <p:nvSpPr>
          <p:cNvPr id="12" name="正方形/長方形 11">
            <a:extLst>
              <a:ext uri="{FF2B5EF4-FFF2-40B4-BE49-F238E27FC236}">
                <a16:creationId xmlns:a16="http://schemas.microsoft.com/office/drawing/2014/main" id="{14555A97-B44E-0C21-0BF7-3456864C7EDC}"/>
              </a:ext>
            </a:extLst>
          </p:cNvPr>
          <p:cNvSpPr/>
          <p:nvPr/>
        </p:nvSpPr>
        <p:spPr>
          <a:xfrm>
            <a:off x="1006236" y="1350349"/>
            <a:ext cx="3162562" cy="503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E493DCAE-530A-D0DD-A87D-3416A3C5498A}"/>
              </a:ext>
            </a:extLst>
          </p:cNvPr>
          <p:cNvSpPr/>
          <p:nvPr/>
        </p:nvSpPr>
        <p:spPr>
          <a:xfrm>
            <a:off x="1866569" y="1453344"/>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14" name="正方形/長方形 13">
            <a:extLst>
              <a:ext uri="{FF2B5EF4-FFF2-40B4-BE49-F238E27FC236}">
                <a16:creationId xmlns:a16="http://schemas.microsoft.com/office/drawing/2014/main" id="{D6DB9C02-A34D-FEC7-190F-C20C46469591}"/>
              </a:ext>
            </a:extLst>
          </p:cNvPr>
          <p:cNvSpPr/>
          <p:nvPr/>
        </p:nvSpPr>
        <p:spPr>
          <a:xfrm>
            <a:off x="2502448" y="2017246"/>
            <a:ext cx="1666350"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781670BC-9F0A-D793-3390-8BDC3FF33DB8}"/>
              </a:ext>
            </a:extLst>
          </p:cNvPr>
          <p:cNvSpPr txBox="1"/>
          <p:nvPr/>
        </p:nvSpPr>
        <p:spPr>
          <a:xfrm>
            <a:off x="1006236" y="1991047"/>
            <a:ext cx="1312514" cy="1738938"/>
          </a:xfrm>
          <a:prstGeom prst="rect">
            <a:avLst/>
          </a:prstGeom>
          <a:noFill/>
        </p:spPr>
        <p:txBody>
          <a:bodyPr wrap="square" rtlCol="0">
            <a:spAutoFit/>
          </a:bodyPr>
          <a:lstStyle/>
          <a:p>
            <a:pPr algn="ctr"/>
            <a:r>
              <a:rPr kumimoji="1" lang="ja-JP" altLang="en-US" sz="1400" b="1"/>
              <a:t>エンティティ</a:t>
            </a:r>
            <a:endParaRPr kumimoji="1" lang="en-US" altLang="ja-JP" sz="1400" b="1" dirty="0"/>
          </a:p>
          <a:p>
            <a:pPr algn="ctr"/>
            <a:r>
              <a:rPr kumimoji="1" lang="ja-JP" altLang="en-US" sz="1400"/>
              <a:t>企業</a:t>
            </a:r>
            <a:r>
              <a:rPr lang="en-US" altLang="ja-JP" sz="1400" dirty="0"/>
              <a:t>a</a:t>
            </a:r>
            <a:r>
              <a:rPr lang="ja-JP" altLang="en-US" sz="1400"/>
              <a:t>　人物</a:t>
            </a:r>
            <a:r>
              <a:rPr lang="en-US" altLang="ja-JP" sz="1400" dirty="0"/>
              <a:t>b</a:t>
            </a:r>
          </a:p>
          <a:p>
            <a:pPr algn="ctr"/>
            <a:r>
              <a:rPr lang="ja-JP" altLang="en-US" sz="1400"/>
              <a:t>商品</a:t>
            </a:r>
            <a:r>
              <a:rPr lang="en-US" altLang="ja-JP" sz="1400" dirty="0"/>
              <a:t>c</a:t>
            </a:r>
            <a:r>
              <a:rPr lang="ja-JP" altLang="en-US" sz="1400"/>
              <a:t>　場所</a:t>
            </a:r>
            <a:r>
              <a:rPr lang="en-US" altLang="ja-JP" sz="1400" dirty="0"/>
              <a:t>d</a:t>
            </a:r>
          </a:p>
          <a:p>
            <a:pPr algn="ctr"/>
            <a:endParaRPr lang="en-US" altLang="ja-JP" sz="600" dirty="0"/>
          </a:p>
          <a:p>
            <a:pPr algn="ctr"/>
            <a:r>
              <a:rPr lang="ja-JP" altLang="en-US" sz="1400" b="1"/>
              <a:t>関係</a:t>
            </a:r>
            <a:endParaRPr lang="en-US" altLang="ja-JP" sz="1400" b="1" dirty="0"/>
          </a:p>
          <a:p>
            <a:pPr algn="ctr"/>
            <a:r>
              <a:rPr lang="en-US" altLang="ja-JP" sz="1400" dirty="0"/>
              <a:t>b</a:t>
            </a:r>
            <a:r>
              <a:rPr lang="ja-JP" altLang="en-US" sz="1400"/>
              <a:t>は</a:t>
            </a:r>
            <a:r>
              <a:rPr lang="en-US" altLang="ja-JP" sz="1400" dirty="0"/>
              <a:t>a</a:t>
            </a:r>
            <a:r>
              <a:rPr lang="ja-JP" altLang="en-US" sz="1400"/>
              <a:t>に所属</a:t>
            </a:r>
            <a:endParaRPr lang="en-US" altLang="ja-JP" sz="1400" dirty="0"/>
          </a:p>
          <a:p>
            <a:pPr algn="ctr"/>
            <a:r>
              <a:rPr lang="en-US" altLang="ja-JP" sz="1400" dirty="0"/>
              <a:t>c</a:t>
            </a:r>
            <a:r>
              <a:rPr lang="ja-JP" altLang="en-US" sz="1400"/>
              <a:t>は</a:t>
            </a:r>
            <a:r>
              <a:rPr lang="en-US" altLang="ja-JP" sz="1400" dirty="0"/>
              <a:t>a</a:t>
            </a:r>
            <a:r>
              <a:rPr lang="ja-JP" altLang="en-US" sz="1400"/>
              <a:t>が開発</a:t>
            </a:r>
            <a:endParaRPr lang="en-US" altLang="ja-JP" sz="1400" dirty="0"/>
          </a:p>
          <a:p>
            <a:pPr algn="ctr"/>
            <a:r>
              <a:rPr lang="en-US" altLang="ja-JP" sz="1400" dirty="0"/>
              <a:t>b</a:t>
            </a:r>
            <a:r>
              <a:rPr lang="ja-JP" altLang="en-US" sz="1400"/>
              <a:t>は</a:t>
            </a:r>
            <a:r>
              <a:rPr lang="en-US" altLang="ja-JP" sz="1400" dirty="0"/>
              <a:t>d</a:t>
            </a:r>
            <a:r>
              <a:rPr lang="ja-JP" altLang="en-US" sz="1400"/>
              <a:t>に居住</a:t>
            </a:r>
            <a:endParaRPr lang="en-US" altLang="ja-JP" sz="1400" dirty="0"/>
          </a:p>
        </p:txBody>
      </p:sp>
      <p:cxnSp>
        <p:nvCxnSpPr>
          <p:cNvPr id="16" name="直線矢印コネクタ 15">
            <a:extLst>
              <a:ext uri="{FF2B5EF4-FFF2-40B4-BE49-F238E27FC236}">
                <a16:creationId xmlns:a16="http://schemas.microsoft.com/office/drawing/2014/main" id="{FCF15387-1149-FA7F-EB10-28AAFDD127E1}"/>
              </a:ext>
            </a:extLst>
          </p:cNvPr>
          <p:cNvCxnSpPr>
            <a:cxnSpLocks/>
            <a:stCxn id="12" idx="2"/>
            <a:endCxn id="15" idx="0"/>
          </p:cNvCxnSpPr>
          <p:nvPr/>
        </p:nvCxnSpPr>
        <p:spPr>
          <a:xfrm flipH="1">
            <a:off x="1662493" y="1854073"/>
            <a:ext cx="925024" cy="1369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EABB5ECC-E214-6D3C-EC62-059FA9677420}"/>
              </a:ext>
            </a:extLst>
          </p:cNvPr>
          <p:cNvCxnSpPr>
            <a:cxnSpLocks/>
            <a:endCxn id="14" idx="1"/>
          </p:cNvCxnSpPr>
          <p:nvPr/>
        </p:nvCxnSpPr>
        <p:spPr>
          <a:xfrm>
            <a:off x="2323627" y="2830991"/>
            <a:ext cx="1788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BB64EE6D-5D1A-77AA-02ED-FB3F784249A5}"/>
              </a:ext>
            </a:extLst>
          </p:cNvPr>
          <p:cNvCxnSpPr>
            <a:cxnSpLocks/>
            <a:stCxn id="7" idx="2"/>
            <a:endCxn id="10" idx="0"/>
          </p:cNvCxnSpPr>
          <p:nvPr/>
        </p:nvCxnSpPr>
        <p:spPr>
          <a:xfrm>
            <a:off x="2922730" y="2444158"/>
            <a:ext cx="0" cy="400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A0FB4519-B467-D0C7-55C1-915D8FEA906B}"/>
              </a:ext>
            </a:extLst>
          </p:cNvPr>
          <p:cNvCxnSpPr>
            <a:cxnSpLocks/>
            <a:stCxn id="9" idx="0"/>
            <a:endCxn id="7" idx="3"/>
          </p:cNvCxnSpPr>
          <p:nvPr/>
        </p:nvCxnSpPr>
        <p:spPr>
          <a:xfrm flipH="1" flipV="1">
            <a:off x="3254693" y="2283386"/>
            <a:ext cx="510783" cy="191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08C83326-2C9C-9D74-34D7-0C62DF1A2F76}"/>
              </a:ext>
            </a:extLst>
          </p:cNvPr>
          <p:cNvCxnSpPr>
            <a:cxnSpLocks/>
            <a:stCxn id="9" idx="2"/>
            <a:endCxn id="11" idx="0"/>
          </p:cNvCxnSpPr>
          <p:nvPr/>
        </p:nvCxnSpPr>
        <p:spPr>
          <a:xfrm flipH="1">
            <a:off x="3750596" y="2796704"/>
            <a:ext cx="14880" cy="381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66383A37-BB9A-A444-2FFD-F3EB3E565C17}"/>
              </a:ext>
            </a:extLst>
          </p:cNvPr>
          <p:cNvSpPr txBox="1"/>
          <p:nvPr/>
        </p:nvSpPr>
        <p:spPr>
          <a:xfrm>
            <a:off x="2573480" y="2506581"/>
            <a:ext cx="698500" cy="276999"/>
          </a:xfrm>
          <a:prstGeom prst="rect">
            <a:avLst/>
          </a:prstGeom>
          <a:noFill/>
        </p:spPr>
        <p:txBody>
          <a:bodyPr wrap="square" rtlCol="0">
            <a:spAutoFit/>
          </a:bodyPr>
          <a:lstStyle/>
          <a:p>
            <a:pPr algn="ctr"/>
            <a:r>
              <a:rPr kumimoji="1" lang="ja-JP" altLang="en-US" sz="1200"/>
              <a:t>開発</a:t>
            </a:r>
          </a:p>
        </p:txBody>
      </p:sp>
      <p:pic>
        <p:nvPicPr>
          <p:cNvPr id="164" name="図 163" descr="図形 が含まれている画像&#10;&#10;AI によって生成されたコンテンツは間違っている可能性があります。">
            <a:extLst>
              <a:ext uri="{FF2B5EF4-FFF2-40B4-BE49-F238E27FC236}">
                <a16:creationId xmlns:a16="http://schemas.microsoft.com/office/drawing/2014/main" id="{22DAB33C-AB3A-3DC2-11C9-6F3C4774FE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918" y="5513826"/>
            <a:ext cx="756278" cy="504185"/>
          </a:xfrm>
          <a:prstGeom prst="rect">
            <a:avLst/>
          </a:prstGeom>
        </p:spPr>
      </p:pic>
      <p:sp>
        <p:nvSpPr>
          <p:cNvPr id="22" name="テキスト ボックス 21">
            <a:extLst>
              <a:ext uri="{FF2B5EF4-FFF2-40B4-BE49-F238E27FC236}">
                <a16:creationId xmlns:a16="http://schemas.microsoft.com/office/drawing/2014/main" id="{78EA609C-B3D5-2868-442D-8616A14207B1}"/>
              </a:ext>
            </a:extLst>
          </p:cNvPr>
          <p:cNvSpPr txBox="1"/>
          <p:nvPr/>
        </p:nvSpPr>
        <p:spPr>
          <a:xfrm>
            <a:off x="3279426" y="2164092"/>
            <a:ext cx="698500" cy="276999"/>
          </a:xfrm>
          <a:prstGeom prst="rect">
            <a:avLst/>
          </a:prstGeom>
          <a:noFill/>
        </p:spPr>
        <p:txBody>
          <a:bodyPr wrap="square" rtlCol="0">
            <a:spAutoFit/>
          </a:bodyPr>
          <a:lstStyle/>
          <a:p>
            <a:pPr algn="ctr"/>
            <a:r>
              <a:rPr kumimoji="1" lang="ja-JP" altLang="en-US" sz="1200"/>
              <a:t>所属</a:t>
            </a:r>
          </a:p>
        </p:txBody>
      </p:sp>
      <p:sp>
        <p:nvSpPr>
          <p:cNvPr id="23" name="テキスト ボックス 22">
            <a:extLst>
              <a:ext uri="{FF2B5EF4-FFF2-40B4-BE49-F238E27FC236}">
                <a16:creationId xmlns:a16="http://schemas.microsoft.com/office/drawing/2014/main" id="{93C9C6F1-77CA-89E8-81D4-F35704EA9928}"/>
              </a:ext>
            </a:extLst>
          </p:cNvPr>
          <p:cNvSpPr txBox="1"/>
          <p:nvPr/>
        </p:nvSpPr>
        <p:spPr>
          <a:xfrm>
            <a:off x="3416226" y="2841283"/>
            <a:ext cx="698500" cy="276999"/>
          </a:xfrm>
          <a:prstGeom prst="rect">
            <a:avLst/>
          </a:prstGeom>
          <a:noFill/>
        </p:spPr>
        <p:txBody>
          <a:bodyPr wrap="square" rtlCol="0">
            <a:spAutoFit/>
          </a:bodyPr>
          <a:lstStyle/>
          <a:p>
            <a:pPr algn="ctr"/>
            <a:r>
              <a:rPr kumimoji="1" lang="ja-JP" altLang="en-US" sz="1200"/>
              <a:t>居住</a:t>
            </a:r>
          </a:p>
        </p:txBody>
      </p:sp>
      <p:sp>
        <p:nvSpPr>
          <p:cNvPr id="24" name="正方形/長方形 23">
            <a:extLst>
              <a:ext uri="{FF2B5EF4-FFF2-40B4-BE49-F238E27FC236}">
                <a16:creationId xmlns:a16="http://schemas.microsoft.com/office/drawing/2014/main" id="{6C9A9823-ED2A-7ED7-8772-28981B5DEDF3}"/>
              </a:ext>
            </a:extLst>
          </p:cNvPr>
          <p:cNvSpPr/>
          <p:nvPr/>
        </p:nvSpPr>
        <p:spPr>
          <a:xfrm>
            <a:off x="2647655" y="1453344"/>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25" name="正方形/長方形 24">
            <a:extLst>
              <a:ext uri="{FF2B5EF4-FFF2-40B4-BE49-F238E27FC236}">
                <a16:creationId xmlns:a16="http://schemas.microsoft.com/office/drawing/2014/main" id="{B91092D4-BF79-89BC-66E2-B82C5A3D88B8}"/>
              </a:ext>
            </a:extLst>
          </p:cNvPr>
          <p:cNvSpPr/>
          <p:nvPr/>
        </p:nvSpPr>
        <p:spPr>
          <a:xfrm>
            <a:off x="3438126" y="1451609"/>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sp>
        <p:nvSpPr>
          <p:cNvPr id="84" name="正方形/長方形 83">
            <a:extLst>
              <a:ext uri="{FF2B5EF4-FFF2-40B4-BE49-F238E27FC236}">
                <a16:creationId xmlns:a16="http://schemas.microsoft.com/office/drawing/2014/main" id="{E5C873D3-3107-A451-CC39-A02904A668AA}"/>
              </a:ext>
            </a:extLst>
          </p:cNvPr>
          <p:cNvSpPr/>
          <p:nvPr/>
        </p:nvSpPr>
        <p:spPr>
          <a:xfrm>
            <a:off x="1007686" y="2006023"/>
            <a:ext cx="1317391"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5" name="直線矢印コネクタ 84">
            <a:extLst>
              <a:ext uri="{FF2B5EF4-FFF2-40B4-BE49-F238E27FC236}">
                <a16:creationId xmlns:a16="http://schemas.microsoft.com/office/drawing/2014/main" id="{B05C914B-55E4-42BE-6313-15EDB678C396}"/>
              </a:ext>
            </a:extLst>
          </p:cNvPr>
          <p:cNvCxnSpPr>
            <a:cxnSpLocks/>
            <a:stCxn id="89" idx="2"/>
            <a:endCxn id="40" idx="0"/>
          </p:cNvCxnSpPr>
          <p:nvPr/>
        </p:nvCxnSpPr>
        <p:spPr>
          <a:xfrm>
            <a:off x="2582942" y="3686770"/>
            <a:ext cx="1746" cy="148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0" name="グループ化 109">
            <a:extLst>
              <a:ext uri="{FF2B5EF4-FFF2-40B4-BE49-F238E27FC236}">
                <a16:creationId xmlns:a16="http://schemas.microsoft.com/office/drawing/2014/main" id="{5ABC04AD-0DFA-3C1A-E7CA-735DB17625ED}"/>
              </a:ext>
            </a:extLst>
          </p:cNvPr>
          <p:cNvGrpSpPr/>
          <p:nvPr/>
        </p:nvGrpSpPr>
        <p:grpSpPr>
          <a:xfrm>
            <a:off x="4915837" y="1367453"/>
            <a:ext cx="3162562" cy="2265583"/>
            <a:chOff x="6532140" y="2890694"/>
            <a:chExt cx="3162562" cy="2265583"/>
          </a:xfrm>
        </p:grpSpPr>
        <p:sp>
          <p:nvSpPr>
            <p:cNvPr id="93" name="角丸四角形 92">
              <a:extLst>
                <a:ext uri="{FF2B5EF4-FFF2-40B4-BE49-F238E27FC236}">
                  <a16:creationId xmlns:a16="http://schemas.microsoft.com/office/drawing/2014/main" id="{CC71F87E-46F9-9187-E458-062A1379704D}"/>
                </a:ext>
              </a:extLst>
            </p:cNvPr>
            <p:cNvSpPr/>
            <p:nvPr/>
          </p:nvSpPr>
          <p:spPr>
            <a:xfrm>
              <a:off x="6634512" y="3839358"/>
              <a:ext cx="1970944" cy="1161973"/>
            </a:xfrm>
            <a:prstGeom prst="roundRect">
              <a:avLst/>
            </a:prstGeom>
            <a:solidFill>
              <a:schemeClr val="accent1">
                <a:lumMod val="20000"/>
                <a:lumOff val="80000"/>
                <a:alpha val="5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角丸四角形 93">
              <a:extLst>
                <a:ext uri="{FF2B5EF4-FFF2-40B4-BE49-F238E27FC236}">
                  <a16:creationId xmlns:a16="http://schemas.microsoft.com/office/drawing/2014/main" id="{15B214AC-F122-D284-6AD7-D450947BE096}"/>
                </a:ext>
              </a:extLst>
            </p:cNvPr>
            <p:cNvSpPr/>
            <p:nvPr/>
          </p:nvSpPr>
          <p:spPr>
            <a:xfrm>
              <a:off x="7662787" y="4094671"/>
              <a:ext cx="1970945" cy="957427"/>
            </a:xfrm>
            <a:prstGeom prst="roundRect">
              <a:avLst/>
            </a:prstGeom>
            <a:solidFill>
              <a:schemeClr val="accent6">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a:extLst>
                <a:ext uri="{FF2B5EF4-FFF2-40B4-BE49-F238E27FC236}">
                  <a16:creationId xmlns:a16="http://schemas.microsoft.com/office/drawing/2014/main" id="{A7728C83-26DC-0F66-7926-9081A94F4A1E}"/>
                </a:ext>
              </a:extLst>
            </p:cNvPr>
            <p:cNvSpPr/>
            <p:nvPr/>
          </p:nvSpPr>
          <p:spPr>
            <a:xfrm>
              <a:off x="6859648" y="4182560"/>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96" name="正方形/長方形 95">
              <a:extLst>
                <a:ext uri="{FF2B5EF4-FFF2-40B4-BE49-F238E27FC236}">
                  <a16:creationId xmlns:a16="http://schemas.microsoft.com/office/drawing/2014/main" id="{65DB048C-7A9B-B9EC-98A6-FB039303D4F4}"/>
                </a:ext>
              </a:extLst>
            </p:cNvPr>
            <p:cNvSpPr/>
            <p:nvPr/>
          </p:nvSpPr>
          <p:spPr>
            <a:xfrm>
              <a:off x="6532140" y="3561904"/>
              <a:ext cx="3162562" cy="15943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正方形/長方形 97">
              <a:extLst>
                <a:ext uri="{FF2B5EF4-FFF2-40B4-BE49-F238E27FC236}">
                  <a16:creationId xmlns:a16="http://schemas.microsoft.com/office/drawing/2014/main" id="{C0022E6D-FE86-FFB6-67BC-559CE5AD82C5}"/>
                </a:ext>
              </a:extLst>
            </p:cNvPr>
            <p:cNvSpPr/>
            <p:nvPr/>
          </p:nvSpPr>
          <p:spPr>
            <a:xfrm>
              <a:off x="6866239" y="4599401"/>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99" name="正方形/長方形 98">
              <a:extLst>
                <a:ext uri="{FF2B5EF4-FFF2-40B4-BE49-F238E27FC236}">
                  <a16:creationId xmlns:a16="http://schemas.microsoft.com/office/drawing/2014/main" id="{4F5C8270-8227-4633-A667-0ADC05D6FA99}"/>
                </a:ext>
              </a:extLst>
            </p:cNvPr>
            <p:cNvSpPr/>
            <p:nvPr/>
          </p:nvSpPr>
          <p:spPr>
            <a:xfrm>
              <a:off x="7844654" y="4409063"/>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101" name="正方形/長方形 100">
              <a:extLst>
                <a:ext uri="{FF2B5EF4-FFF2-40B4-BE49-F238E27FC236}">
                  <a16:creationId xmlns:a16="http://schemas.microsoft.com/office/drawing/2014/main" id="{B48A45EA-217C-871D-7CC2-242933F9A364}"/>
                </a:ext>
              </a:extLst>
            </p:cNvPr>
            <p:cNvSpPr/>
            <p:nvPr/>
          </p:nvSpPr>
          <p:spPr>
            <a:xfrm>
              <a:off x="7291235" y="3685333"/>
              <a:ext cx="657498" cy="3215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単語</a:t>
              </a:r>
              <a:r>
                <a:rPr kumimoji="1" lang="en-US" altLang="ja-JP" sz="1200" dirty="0">
                  <a:solidFill>
                    <a:sysClr val="windowText" lastClr="000000"/>
                  </a:solidFill>
                </a:rPr>
                <a:t>a</a:t>
              </a:r>
              <a:endParaRPr kumimoji="1" lang="ja-JP" altLang="en-US" sz="1200">
                <a:solidFill>
                  <a:sysClr val="windowText" lastClr="000000"/>
                </a:solidFill>
              </a:endParaRPr>
            </a:p>
          </p:txBody>
        </p:sp>
        <p:sp>
          <p:nvSpPr>
            <p:cNvPr id="102" name="正方形/長方形 101">
              <a:extLst>
                <a:ext uri="{FF2B5EF4-FFF2-40B4-BE49-F238E27FC236}">
                  <a16:creationId xmlns:a16="http://schemas.microsoft.com/office/drawing/2014/main" id="{41C74FFE-FBED-142A-DC79-45CCEC3FA8C5}"/>
                </a:ext>
              </a:extLst>
            </p:cNvPr>
            <p:cNvSpPr/>
            <p:nvPr/>
          </p:nvSpPr>
          <p:spPr>
            <a:xfrm>
              <a:off x="8787225" y="4603296"/>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sp>
          <p:nvSpPr>
            <p:cNvPr id="103" name="正方形/長方形 102">
              <a:extLst>
                <a:ext uri="{FF2B5EF4-FFF2-40B4-BE49-F238E27FC236}">
                  <a16:creationId xmlns:a16="http://schemas.microsoft.com/office/drawing/2014/main" id="{E68CF8F5-5D46-60A0-5474-EE9C33C17E8B}"/>
                </a:ext>
              </a:extLst>
            </p:cNvPr>
            <p:cNvSpPr/>
            <p:nvPr/>
          </p:nvSpPr>
          <p:spPr>
            <a:xfrm>
              <a:off x="8821330" y="3944868"/>
              <a:ext cx="657498" cy="32154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単語</a:t>
              </a:r>
              <a:r>
                <a:rPr lang="en-US" altLang="ja-JP" sz="1200" dirty="0">
                  <a:solidFill>
                    <a:sysClr val="windowText" lastClr="000000"/>
                  </a:solidFill>
                </a:rPr>
                <a:t>b</a:t>
              </a:r>
              <a:endParaRPr kumimoji="1" lang="ja-JP" altLang="en-US" sz="1200">
                <a:solidFill>
                  <a:sysClr val="windowText" lastClr="000000"/>
                </a:solidFill>
              </a:endParaRPr>
            </a:p>
          </p:txBody>
        </p:sp>
        <p:sp>
          <p:nvSpPr>
            <p:cNvPr id="104" name="正方形/長方形 103">
              <a:extLst>
                <a:ext uri="{FF2B5EF4-FFF2-40B4-BE49-F238E27FC236}">
                  <a16:creationId xmlns:a16="http://schemas.microsoft.com/office/drawing/2014/main" id="{33EAB36C-5DB6-14F6-7E0D-F553946A3261}"/>
                </a:ext>
              </a:extLst>
            </p:cNvPr>
            <p:cNvSpPr/>
            <p:nvPr/>
          </p:nvSpPr>
          <p:spPr>
            <a:xfrm>
              <a:off x="6611387" y="2986976"/>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105" name="正方形/長方形 104">
              <a:extLst>
                <a:ext uri="{FF2B5EF4-FFF2-40B4-BE49-F238E27FC236}">
                  <a16:creationId xmlns:a16="http://schemas.microsoft.com/office/drawing/2014/main" id="{4BD9026F-DD1D-027B-4534-64D1F037DD48}"/>
                </a:ext>
              </a:extLst>
            </p:cNvPr>
            <p:cNvSpPr/>
            <p:nvPr/>
          </p:nvSpPr>
          <p:spPr>
            <a:xfrm>
              <a:off x="6532140" y="2890694"/>
              <a:ext cx="3162562" cy="503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正方形/長方形 105">
              <a:extLst>
                <a:ext uri="{FF2B5EF4-FFF2-40B4-BE49-F238E27FC236}">
                  <a16:creationId xmlns:a16="http://schemas.microsoft.com/office/drawing/2014/main" id="{C8CA8DCC-0D07-2481-1700-7A65DD783F18}"/>
                </a:ext>
              </a:extLst>
            </p:cNvPr>
            <p:cNvSpPr/>
            <p:nvPr/>
          </p:nvSpPr>
          <p:spPr>
            <a:xfrm>
              <a:off x="7392473" y="2993689"/>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107" name="正方形/長方形 106">
              <a:extLst>
                <a:ext uri="{FF2B5EF4-FFF2-40B4-BE49-F238E27FC236}">
                  <a16:creationId xmlns:a16="http://schemas.microsoft.com/office/drawing/2014/main" id="{970CDE7F-F7E6-EB57-1B22-1BDF5CF84FD3}"/>
                </a:ext>
              </a:extLst>
            </p:cNvPr>
            <p:cNvSpPr/>
            <p:nvPr/>
          </p:nvSpPr>
          <p:spPr>
            <a:xfrm>
              <a:off x="8173559" y="2993689"/>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108" name="正方形/長方形 107">
              <a:extLst>
                <a:ext uri="{FF2B5EF4-FFF2-40B4-BE49-F238E27FC236}">
                  <a16:creationId xmlns:a16="http://schemas.microsoft.com/office/drawing/2014/main" id="{DD67B55E-8AC8-2F64-4037-8C0F49E48A65}"/>
                </a:ext>
              </a:extLst>
            </p:cNvPr>
            <p:cNvSpPr/>
            <p:nvPr/>
          </p:nvSpPr>
          <p:spPr>
            <a:xfrm>
              <a:off x="8964030" y="2991954"/>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cxnSp>
          <p:nvCxnSpPr>
            <p:cNvPr id="109" name="直線矢印コネクタ 108">
              <a:extLst>
                <a:ext uri="{FF2B5EF4-FFF2-40B4-BE49-F238E27FC236}">
                  <a16:creationId xmlns:a16="http://schemas.microsoft.com/office/drawing/2014/main" id="{2078BF7F-8D90-DA05-5A43-D817D9F420C2}"/>
                </a:ext>
              </a:extLst>
            </p:cNvPr>
            <p:cNvCxnSpPr>
              <a:cxnSpLocks/>
              <a:stCxn id="105" idx="2"/>
              <a:endCxn id="96" idx="0"/>
            </p:cNvCxnSpPr>
            <p:nvPr/>
          </p:nvCxnSpPr>
          <p:spPr>
            <a:xfrm>
              <a:off x="8113421" y="3394418"/>
              <a:ext cx="0" cy="167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5" name="正方形/長方形 114">
            <a:extLst>
              <a:ext uri="{FF2B5EF4-FFF2-40B4-BE49-F238E27FC236}">
                <a16:creationId xmlns:a16="http://schemas.microsoft.com/office/drawing/2014/main" id="{CE114937-AF5E-23ED-1D66-0C5330A3DCDA}"/>
              </a:ext>
            </a:extLst>
          </p:cNvPr>
          <p:cNvSpPr/>
          <p:nvPr/>
        </p:nvSpPr>
        <p:spPr>
          <a:xfrm>
            <a:off x="4761236" y="1293257"/>
            <a:ext cx="3484811" cy="23936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テキスト ボックス 144">
            <a:extLst>
              <a:ext uri="{FF2B5EF4-FFF2-40B4-BE49-F238E27FC236}">
                <a16:creationId xmlns:a16="http://schemas.microsoft.com/office/drawing/2014/main" id="{50A0D30B-5B5A-E670-EB5C-80BA125686EA}"/>
              </a:ext>
            </a:extLst>
          </p:cNvPr>
          <p:cNvSpPr txBox="1"/>
          <p:nvPr/>
        </p:nvSpPr>
        <p:spPr>
          <a:xfrm>
            <a:off x="4071518" y="1799074"/>
            <a:ext cx="942106" cy="1323439"/>
          </a:xfrm>
          <a:prstGeom prst="rect">
            <a:avLst/>
          </a:prstGeom>
          <a:noFill/>
          <a:ln>
            <a:noFill/>
          </a:ln>
        </p:spPr>
        <p:txBody>
          <a:bodyPr wrap="square" rtlCol="0">
            <a:spAutoFit/>
          </a:bodyPr>
          <a:lstStyle/>
          <a:p>
            <a:pPr algn="ctr"/>
            <a:r>
              <a:rPr lang="ja-JP" altLang="en-US" sz="1600"/>
              <a:t>グ</a:t>
            </a:r>
            <a:endParaRPr lang="en-US" altLang="ja-JP" sz="1600" dirty="0"/>
          </a:p>
          <a:p>
            <a:pPr algn="ctr"/>
            <a:r>
              <a:rPr lang="ja-JP" altLang="en-US" sz="1600"/>
              <a:t>ラ</a:t>
            </a:r>
            <a:endParaRPr lang="en-US" altLang="ja-JP" sz="1600" dirty="0"/>
          </a:p>
          <a:p>
            <a:pPr algn="ctr"/>
            <a:r>
              <a:rPr lang="ja-JP" altLang="en-US" sz="1600"/>
              <a:t>フ</a:t>
            </a:r>
            <a:endParaRPr lang="en-US" altLang="ja-JP" sz="1600" dirty="0"/>
          </a:p>
          <a:p>
            <a:pPr algn="ctr"/>
            <a:r>
              <a:rPr lang="ja-JP" altLang="en-US" sz="1600"/>
              <a:t>構</a:t>
            </a:r>
            <a:endParaRPr lang="en-US" altLang="ja-JP" sz="1600" dirty="0"/>
          </a:p>
          <a:p>
            <a:pPr algn="ctr"/>
            <a:r>
              <a:rPr lang="ja-JP" altLang="en-US" sz="1600"/>
              <a:t>築</a:t>
            </a:r>
            <a:endParaRPr kumimoji="1" lang="en-US" altLang="ja-JP" sz="1600" dirty="0"/>
          </a:p>
        </p:txBody>
      </p:sp>
      <p:sp>
        <p:nvSpPr>
          <p:cNvPr id="147" name="左大かっこ 146">
            <a:extLst>
              <a:ext uri="{FF2B5EF4-FFF2-40B4-BE49-F238E27FC236}">
                <a16:creationId xmlns:a16="http://schemas.microsoft.com/office/drawing/2014/main" id="{34E7F223-BEC3-B9A6-97DC-056A3A34F3C6}"/>
              </a:ext>
            </a:extLst>
          </p:cNvPr>
          <p:cNvSpPr/>
          <p:nvPr/>
        </p:nvSpPr>
        <p:spPr>
          <a:xfrm>
            <a:off x="4698139" y="1251792"/>
            <a:ext cx="154949" cy="2478194"/>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48" name="左大かっこ 147">
            <a:extLst>
              <a:ext uri="{FF2B5EF4-FFF2-40B4-BE49-F238E27FC236}">
                <a16:creationId xmlns:a16="http://schemas.microsoft.com/office/drawing/2014/main" id="{865CFBD0-9CC1-213C-8221-233C599A524B}"/>
              </a:ext>
            </a:extLst>
          </p:cNvPr>
          <p:cNvSpPr/>
          <p:nvPr/>
        </p:nvSpPr>
        <p:spPr>
          <a:xfrm flipH="1">
            <a:off x="4228520" y="1251792"/>
            <a:ext cx="154638" cy="2478194"/>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cxnSp>
        <p:nvCxnSpPr>
          <p:cNvPr id="150" name="直線コネクタ 149">
            <a:extLst>
              <a:ext uri="{FF2B5EF4-FFF2-40B4-BE49-F238E27FC236}">
                <a16:creationId xmlns:a16="http://schemas.microsoft.com/office/drawing/2014/main" id="{5703BD06-530F-3099-A63B-738EF0FA269B}"/>
              </a:ext>
            </a:extLst>
          </p:cNvPr>
          <p:cNvCxnSpPr>
            <a:cxnSpLocks/>
          </p:cNvCxnSpPr>
          <p:nvPr/>
        </p:nvCxnSpPr>
        <p:spPr>
          <a:xfrm flipV="1">
            <a:off x="4540235" y="818126"/>
            <a:ext cx="0" cy="433666"/>
          </a:xfrm>
          <a:prstGeom prst="line">
            <a:avLst/>
          </a:prstGeom>
        </p:spPr>
        <p:style>
          <a:lnRef idx="3">
            <a:schemeClr val="dk1"/>
          </a:lnRef>
          <a:fillRef idx="0">
            <a:schemeClr val="dk1"/>
          </a:fillRef>
          <a:effectRef idx="2">
            <a:schemeClr val="dk1"/>
          </a:effectRef>
          <a:fontRef idx="minor">
            <a:schemeClr val="tx1"/>
          </a:fontRef>
        </p:style>
      </p:cxnSp>
      <p:pic>
        <p:nvPicPr>
          <p:cNvPr id="166" name="図 165" descr="図形 が含まれている画像&#10;&#10;AI によって生成されたコンテンツは間違っている可能性があります。">
            <a:extLst>
              <a:ext uri="{FF2B5EF4-FFF2-40B4-BE49-F238E27FC236}">
                <a16:creationId xmlns:a16="http://schemas.microsoft.com/office/drawing/2014/main" id="{70815749-F3DE-D66A-0970-2E04698B61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787" y="3770476"/>
            <a:ext cx="756278" cy="504185"/>
          </a:xfrm>
          <a:prstGeom prst="rect">
            <a:avLst/>
          </a:prstGeom>
        </p:spPr>
      </p:pic>
      <p:pic>
        <p:nvPicPr>
          <p:cNvPr id="167" name="図 166" descr="図形 が含まれている画像&#10;&#10;AI によって生成されたコンテンツは間違っている可能性があります。">
            <a:extLst>
              <a:ext uri="{FF2B5EF4-FFF2-40B4-BE49-F238E27FC236}">
                <a16:creationId xmlns:a16="http://schemas.microsoft.com/office/drawing/2014/main" id="{BA55B02B-61DA-128C-1084-F35C54CF52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059" y="5485507"/>
            <a:ext cx="756278" cy="504185"/>
          </a:xfrm>
          <a:prstGeom prst="rect">
            <a:avLst/>
          </a:prstGeom>
        </p:spPr>
      </p:pic>
      <p:pic>
        <p:nvPicPr>
          <p:cNvPr id="168" name="図 167" descr="図形 が含まれている画像&#10;&#10;AI によって生成されたコンテンツは間違っている可能性があります。">
            <a:extLst>
              <a:ext uri="{FF2B5EF4-FFF2-40B4-BE49-F238E27FC236}">
                <a16:creationId xmlns:a16="http://schemas.microsoft.com/office/drawing/2014/main" id="{385F05F1-20A8-A400-531B-70703EC9B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6418" y="5519994"/>
            <a:ext cx="756278" cy="504185"/>
          </a:xfrm>
          <a:prstGeom prst="rect">
            <a:avLst/>
          </a:prstGeom>
        </p:spPr>
      </p:pic>
      <p:pic>
        <p:nvPicPr>
          <p:cNvPr id="169" name="図 168" descr="図形 が含まれている画像&#10;&#10;AI によって生成されたコンテンツは間違っている可能性があります。">
            <a:extLst>
              <a:ext uri="{FF2B5EF4-FFF2-40B4-BE49-F238E27FC236}">
                <a16:creationId xmlns:a16="http://schemas.microsoft.com/office/drawing/2014/main" id="{B645DEE3-B4C8-43A4-66F1-361EAF810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989" y="1241660"/>
            <a:ext cx="756278" cy="504185"/>
          </a:xfrm>
          <a:prstGeom prst="rect">
            <a:avLst/>
          </a:prstGeom>
        </p:spPr>
      </p:pic>
      <mc:AlternateContent xmlns:mc="http://schemas.openxmlformats.org/markup-compatibility/2006">
        <mc:Choice xmlns:a14="http://schemas.microsoft.com/office/drawing/2010/main" Requires="a14">
          <p:sp>
            <p:nvSpPr>
              <p:cNvPr id="170" name="テキスト ボックス 169">
                <a:extLst>
                  <a:ext uri="{FF2B5EF4-FFF2-40B4-BE49-F238E27FC236}">
                    <a16:creationId xmlns:a16="http://schemas.microsoft.com/office/drawing/2014/main" id="{442A352F-CA7A-0D90-C49F-92FCC87F6A74}"/>
                  </a:ext>
                </a:extLst>
              </p:cNvPr>
              <p:cNvSpPr txBox="1"/>
              <p:nvPr/>
            </p:nvSpPr>
            <p:spPr>
              <a:xfrm>
                <a:off x="8602011" y="2036442"/>
                <a:ext cx="3522689" cy="1323439"/>
              </a:xfrm>
              <a:prstGeom prst="rect">
                <a:avLst/>
              </a:prstGeom>
              <a:noFill/>
              <a:ln>
                <a:noFill/>
              </a:ln>
            </p:spPr>
            <p:txBody>
              <a:bodyPr wrap="square" rtlCol="0">
                <a:spAutoFit/>
              </a:bodyPr>
              <a:lstStyle/>
              <a:p>
                <a:pPr algn="ctr"/>
                <a:r>
                  <a:rPr lang="en-US" altLang="ja-JP" sz="1600" dirty="0"/>
                  <a:t>RAG</a:t>
                </a:r>
                <a:r>
                  <a:rPr lang="ja-JP" altLang="en-US" sz="1600"/>
                  <a:t>の埋め込み：計算量</a:t>
                </a:r>
                <a:r>
                  <a:rPr lang="en-US" altLang="ja-JP" sz="1600" dirty="0"/>
                  <a:t> </a:t>
                </a:r>
                <a14:m>
                  <m:oMath xmlns:m="http://schemas.openxmlformats.org/officeDocument/2006/math">
                    <m:r>
                      <a:rPr lang="en-US" altLang="ja-JP" sz="1600" b="0" i="1" smtClean="0">
                        <a:latin typeface="Cambria Math" panose="02040503050406030204" pitchFamily="18" charset="0"/>
                      </a:rPr>
                      <m:t>𝑂</m:t>
                    </m:r>
                    <m:r>
                      <a:rPr lang="en-US" altLang="ja-JP" sz="1600" b="0" i="1" smtClean="0">
                        <a:latin typeface="Cambria Math" panose="02040503050406030204" pitchFamily="18" charset="0"/>
                      </a:rPr>
                      <m:t>(</m:t>
                    </m:r>
                    <m:sSup>
                      <m:sSupPr>
                        <m:ctrlPr>
                          <a:rPr lang="en-US" altLang="ja-JP" sz="1600" b="0" i="1" smtClean="0">
                            <a:latin typeface="Cambria Math" panose="02040503050406030204" pitchFamily="18" charset="0"/>
                          </a:rPr>
                        </m:ctrlPr>
                      </m:sSupPr>
                      <m:e>
                        <m:r>
                          <a:rPr lang="en-US" altLang="ja-JP" sz="1600" b="0" i="1" smtClean="0">
                            <a:latin typeface="Cambria Math" panose="02040503050406030204" pitchFamily="18" charset="0"/>
                          </a:rPr>
                          <m:t>𝑁</m:t>
                        </m:r>
                      </m:e>
                      <m:sup>
                        <m:r>
                          <a:rPr lang="en-US" altLang="ja-JP" sz="1600" b="0" i="1" smtClean="0">
                            <a:latin typeface="Cambria Math" panose="02040503050406030204" pitchFamily="18" charset="0"/>
                          </a:rPr>
                          <m:t>2</m:t>
                        </m:r>
                      </m:sup>
                    </m:sSup>
                    <m:r>
                      <a:rPr lang="en-US" altLang="ja-JP" sz="1600" b="0" i="1" smtClean="0">
                        <a:latin typeface="Cambria Math" panose="02040503050406030204" pitchFamily="18" charset="0"/>
                      </a:rPr>
                      <m:t>)</m:t>
                    </m:r>
                  </m:oMath>
                </a14:m>
                <a:r>
                  <a:rPr lang="en-US" altLang="ja-JP" sz="1600" dirty="0"/>
                  <a:t> </a:t>
                </a:r>
              </a:p>
              <a:p>
                <a:pPr algn="ctr"/>
                <a:r>
                  <a:rPr lang="ja-JP" altLang="en-US" sz="1600"/>
                  <a:t>提案手法のグラフ構築：計算量</a:t>
                </a:r>
                <a:r>
                  <a:rPr lang="en-US" altLang="ja-JP" sz="1600" dirty="0"/>
                  <a:t> </a:t>
                </a:r>
                <a:r>
                  <a:rPr lang="ja-JP" altLang="en-US" sz="1600"/>
                  <a:t>𝑂</a:t>
                </a:r>
                <a:r>
                  <a:rPr lang="en-US" altLang="ja-JP" sz="1600" dirty="0"/>
                  <a:t>(𝑁)</a:t>
                </a:r>
              </a:p>
              <a:p>
                <a:pPr algn="ctr"/>
                <a:r>
                  <a:rPr lang="en-US" altLang="ja-JP" sz="1600" dirty="0"/>
                  <a:t> (N</a:t>
                </a:r>
                <a:r>
                  <a:rPr lang="ja-JP" altLang="en-US" sz="1600"/>
                  <a:t>：全文書の合計単語数</a:t>
                </a:r>
                <a:r>
                  <a:rPr lang="en-US" altLang="ja-JP" sz="1600" dirty="0"/>
                  <a:t>)</a:t>
                </a:r>
              </a:p>
              <a:p>
                <a:pPr algn="ctr"/>
                <a:endParaRPr lang="en-US" altLang="ja-JP" sz="1600" dirty="0"/>
              </a:p>
              <a:p>
                <a:pPr algn="ctr"/>
                <a:r>
                  <a:rPr lang="ja-JP" altLang="en-US" sz="1600"/>
                  <a:t>提案手法は</a:t>
                </a:r>
                <a:r>
                  <a:rPr lang="en-US" altLang="ja-JP" sz="1600" b="1" dirty="0">
                    <a:solidFill>
                      <a:srgbClr val="C00000"/>
                    </a:solidFill>
                  </a:rPr>
                  <a:t>RAG</a:t>
                </a:r>
                <a:r>
                  <a:rPr lang="ja-JP" altLang="en-US" sz="1600" b="1">
                    <a:solidFill>
                      <a:srgbClr val="C00000"/>
                    </a:solidFill>
                  </a:rPr>
                  <a:t>よりも軽い処理</a:t>
                </a:r>
                <a:endParaRPr lang="en-US" altLang="ja-JP" sz="1600" b="1" dirty="0">
                  <a:solidFill>
                    <a:srgbClr val="C00000"/>
                  </a:solidFill>
                </a:endParaRPr>
              </a:p>
            </p:txBody>
          </p:sp>
        </mc:Choice>
        <mc:Fallback>
          <p:sp>
            <p:nvSpPr>
              <p:cNvPr id="170" name="テキスト ボックス 169">
                <a:extLst>
                  <a:ext uri="{FF2B5EF4-FFF2-40B4-BE49-F238E27FC236}">
                    <a16:creationId xmlns:a16="http://schemas.microsoft.com/office/drawing/2014/main" id="{442A352F-CA7A-0D90-C49F-92FCC87F6A74}"/>
                  </a:ext>
                </a:extLst>
              </p:cNvPr>
              <p:cNvSpPr txBox="1">
                <a:spLocks noRot="1" noChangeAspect="1" noMove="1" noResize="1" noEditPoints="1" noAdjustHandles="1" noChangeArrowheads="1" noChangeShapeType="1" noTextEdit="1"/>
              </p:cNvSpPr>
              <p:nvPr/>
            </p:nvSpPr>
            <p:spPr>
              <a:xfrm>
                <a:off x="8602011" y="2036442"/>
                <a:ext cx="3522689" cy="1323439"/>
              </a:xfrm>
              <a:prstGeom prst="rect">
                <a:avLst/>
              </a:prstGeom>
              <a:blipFill>
                <a:blip r:embed="rId3"/>
                <a:stretch>
                  <a:fillRect l="-719" t="-2857" r="-719" b="-4762"/>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1927574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4F96-6633-CAB4-DD51-FEBB68468C5C}"/>
            </a:ext>
          </a:extLst>
        </p:cNvPr>
        <p:cNvGrpSpPr/>
        <p:nvPr/>
      </p:nvGrpSpPr>
      <p:grpSpPr>
        <a:xfrm>
          <a:off x="0" y="0"/>
          <a:ext cx="0" cy="0"/>
          <a:chOff x="0" y="0"/>
          <a:chExt cx="0" cy="0"/>
        </a:xfrm>
      </p:grpSpPr>
      <p:sp>
        <p:nvSpPr>
          <p:cNvPr id="47" name="角丸四角形 46">
            <a:extLst>
              <a:ext uri="{FF2B5EF4-FFF2-40B4-BE49-F238E27FC236}">
                <a16:creationId xmlns:a16="http://schemas.microsoft.com/office/drawing/2014/main" id="{7C994D30-65F0-F7FC-4BC5-A3D29F6B6BA4}"/>
              </a:ext>
            </a:extLst>
          </p:cNvPr>
          <p:cNvSpPr/>
          <p:nvPr/>
        </p:nvSpPr>
        <p:spPr>
          <a:xfrm>
            <a:off x="10043740" y="3175134"/>
            <a:ext cx="2010812" cy="1169851"/>
          </a:xfrm>
          <a:prstGeom prst="roundRect">
            <a:avLst/>
          </a:prstGeom>
          <a:solidFill>
            <a:srgbClr val="C00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角丸四角形 12">
            <a:extLst>
              <a:ext uri="{FF2B5EF4-FFF2-40B4-BE49-F238E27FC236}">
                <a16:creationId xmlns:a16="http://schemas.microsoft.com/office/drawing/2014/main" id="{28BBF369-CC90-59D2-15E8-97409D0E5B89}"/>
              </a:ext>
            </a:extLst>
          </p:cNvPr>
          <p:cNvSpPr/>
          <p:nvPr/>
        </p:nvSpPr>
        <p:spPr>
          <a:xfrm>
            <a:off x="9356939" y="4847317"/>
            <a:ext cx="1418729" cy="1125513"/>
          </a:xfrm>
          <a:prstGeom prst="roundRect">
            <a:avLst/>
          </a:prstGeom>
          <a:solidFill>
            <a:srgbClr val="FFC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角丸四角形 44">
            <a:extLst>
              <a:ext uri="{FF2B5EF4-FFF2-40B4-BE49-F238E27FC236}">
                <a16:creationId xmlns:a16="http://schemas.microsoft.com/office/drawing/2014/main" id="{7BFABAB9-F074-1807-E078-A1CB3F85CBBC}"/>
              </a:ext>
            </a:extLst>
          </p:cNvPr>
          <p:cNvSpPr/>
          <p:nvPr/>
        </p:nvSpPr>
        <p:spPr>
          <a:xfrm>
            <a:off x="9516995" y="5504093"/>
            <a:ext cx="2537557" cy="565299"/>
          </a:xfrm>
          <a:prstGeom prst="roundRect">
            <a:avLst/>
          </a:prstGeom>
          <a:solidFill>
            <a:schemeClr val="bg2">
              <a:lumMod val="60000"/>
              <a:lumOff val="40000"/>
              <a:alpha val="50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F3DE5737-9878-8831-2A42-6613133FB099}"/>
              </a:ext>
            </a:extLst>
          </p:cNvPr>
          <p:cNvSpPr>
            <a:spLocks noGrp="1"/>
          </p:cNvSpPr>
          <p:nvPr>
            <p:ph idx="1"/>
          </p:nvPr>
        </p:nvSpPr>
        <p:spPr>
          <a:xfrm>
            <a:off x="355988" y="1109573"/>
            <a:ext cx="9130253" cy="5635783"/>
          </a:xfrm>
        </p:spPr>
        <p:txBody>
          <a:bodyPr>
            <a:normAutofit fontScale="85000" lnSpcReduction="20000"/>
          </a:bodyPr>
          <a:lstStyle/>
          <a:p>
            <a:r>
              <a:rPr lang="en-US" altLang="ja-JP" dirty="0">
                <a:solidFill>
                  <a:srgbClr val="C00000"/>
                </a:solidFill>
                <a:latin typeface="Yu Gothic" panose="020B0400000000000000" pitchFamily="34" charset="-128"/>
                <a:ea typeface="Yu Gothic" panose="020B0400000000000000" pitchFamily="34" charset="-128"/>
              </a:rPr>
              <a:t>TF-IDF</a:t>
            </a:r>
            <a:r>
              <a:rPr lang="ja-JP" altLang="en-US">
                <a:solidFill>
                  <a:srgbClr val="C00000"/>
                </a:solidFill>
                <a:latin typeface="Yu Gothic" panose="020B0400000000000000" pitchFamily="34" charset="-128"/>
                <a:ea typeface="Yu Gothic" panose="020B0400000000000000" pitchFamily="34" charset="-128"/>
              </a:rPr>
              <a:t>のみで</a:t>
            </a:r>
            <a:r>
              <a:rPr lang="ja-JP" altLang="en-US">
                <a:solidFill>
                  <a:srgbClr val="C00000"/>
                </a:solidFill>
              </a:rPr>
              <a:t>ノード</a:t>
            </a:r>
            <a:r>
              <a:rPr lang="en-US" altLang="ja-JP" dirty="0">
                <a:solidFill>
                  <a:srgbClr val="C00000"/>
                </a:solidFill>
              </a:rPr>
              <a:t>/</a:t>
            </a:r>
            <a:r>
              <a:rPr lang="ja-JP" altLang="en-US">
                <a:solidFill>
                  <a:srgbClr val="C00000"/>
                </a:solidFill>
              </a:rPr>
              <a:t>エッジ検出</a:t>
            </a:r>
            <a:r>
              <a:rPr lang="ja-JP" altLang="en-US"/>
              <a:t>してグラフ生成</a:t>
            </a:r>
            <a:r>
              <a:rPr lang="en-US" altLang="ja-JP" dirty="0"/>
              <a:t>LLM</a:t>
            </a:r>
            <a:r>
              <a:rPr lang="ja-JP" altLang="en-US"/>
              <a:t>を　　用いずにグラフ構築</a:t>
            </a:r>
            <a:endParaRPr lang="en-US" altLang="ja-JP" dirty="0">
              <a:solidFill>
                <a:srgbClr val="C00000"/>
              </a:solidFill>
            </a:endParaRPr>
          </a:p>
          <a:p>
            <a:pPr lvl="1"/>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：ある単語がその文書を特徴づける上でどれだけ重要かを　　示す値</a:t>
            </a:r>
            <a:endParaRPr lang="en-US" altLang="ja-JP" dirty="0">
              <a:latin typeface="Yu Gothic" panose="020B0400000000000000" pitchFamily="34" charset="-128"/>
              <a:ea typeface="Yu Gothic" panose="020B0400000000000000" pitchFamily="34" charset="-128"/>
            </a:endParaRPr>
          </a:p>
          <a:p>
            <a:pPr lvl="2"/>
            <a:r>
              <a:rPr lang="en-US" altLang="ja-JP" dirty="0">
                <a:latin typeface="Yu Gothic" panose="020B0400000000000000" pitchFamily="34" charset="-128"/>
                <a:ea typeface="Yu Gothic" panose="020B0400000000000000" pitchFamily="34" charset="-128"/>
              </a:rPr>
              <a:t>TF (Term Frequency) </a:t>
            </a:r>
            <a:r>
              <a:rPr lang="ja-JP" altLang="en-US">
                <a:latin typeface="Yu Gothic" panose="020B0400000000000000" pitchFamily="34" charset="-128"/>
                <a:ea typeface="Yu Gothic" panose="020B0400000000000000" pitchFamily="34" charset="-128"/>
              </a:rPr>
              <a:t>と</a:t>
            </a:r>
            <a:r>
              <a:rPr lang="en-US" altLang="ja-JP" dirty="0">
                <a:latin typeface="Yu Gothic" panose="020B0400000000000000" pitchFamily="34" charset="-128"/>
                <a:ea typeface="Yu Gothic" panose="020B0400000000000000" pitchFamily="34" charset="-128"/>
              </a:rPr>
              <a:t>IDF (Inverse Document Frequency) </a:t>
            </a:r>
            <a:r>
              <a:rPr lang="ja-JP" altLang="en-US">
                <a:latin typeface="Yu Gothic" panose="020B0400000000000000" pitchFamily="34" charset="-128"/>
                <a:ea typeface="Yu Gothic" panose="020B0400000000000000" pitchFamily="34" charset="-128"/>
              </a:rPr>
              <a:t>の積</a:t>
            </a:r>
          </a:p>
          <a:p>
            <a:pPr lvl="2"/>
            <a:r>
              <a:rPr lang="en-US" altLang="ja-JP" dirty="0">
                <a:latin typeface="Yu Gothic" panose="020B0400000000000000" pitchFamily="34" charset="-128"/>
                <a:ea typeface="Yu Gothic" panose="020B0400000000000000" pitchFamily="34" charset="-128"/>
              </a:rPr>
              <a:t>TF</a:t>
            </a:r>
            <a:r>
              <a:rPr lang="ja-JP" altLang="en-US">
                <a:latin typeface="Yu Gothic" panose="020B0400000000000000" pitchFamily="34" charset="-128"/>
                <a:ea typeface="Yu Gothic" panose="020B0400000000000000" pitchFamily="34" charset="-128"/>
              </a:rPr>
              <a:t>：ある文書に特定の単語がどれだけ出現しているか</a:t>
            </a:r>
          </a:p>
          <a:p>
            <a:pPr lvl="2"/>
            <a:r>
              <a:rPr lang="en-US" altLang="ja-JP" dirty="0">
                <a:latin typeface="Yu Gothic" panose="020B0400000000000000" pitchFamily="34" charset="-128"/>
                <a:ea typeface="Yu Gothic" panose="020B0400000000000000" pitchFamily="34" charset="-128"/>
              </a:rPr>
              <a:t>IDF</a:t>
            </a:r>
            <a:r>
              <a:rPr lang="ja-JP" altLang="en-US">
                <a:latin typeface="Yu Gothic" panose="020B0400000000000000" pitchFamily="34" charset="-128"/>
                <a:ea typeface="Yu Gothic" panose="020B0400000000000000" pitchFamily="34" charset="-128"/>
              </a:rPr>
              <a:t>：ある単語が文書集合の中でどれくらい希少な単語であるか</a:t>
            </a:r>
            <a:endParaRPr lang="en-US" altLang="ja-JP" dirty="0">
              <a:solidFill>
                <a:srgbClr val="C00000"/>
              </a:solidFill>
            </a:endParaRPr>
          </a:p>
          <a:p>
            <a:pPr marL="914400" lvl="1" indent="-457200">
              <a:buFont typeface="+mj-lt"/>
              <a:buAutoNum type="arabicPeriod"/>
            </a:pPr>
            <a:r>
              <a:rPr lang="ja-JP" altLang="en-US">
                <a:latin typeface="Yu Gothic" panose="020B0400000000000000" pitchFamily="34" charset="-128"/>
                <a:ea typeface="Yu Gothic" panose="020B0400000000000000" pitchFamily="34" charset="-128"/>
              </a:rPr>
              <a:t>各文書における各単語の</a:t>
            </a:r>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値を計算</a:t>
            </a:r>
            <a:endParaRPr lang="en-US" altLang="ja-JP" dirty="0">
              <a:latin typeface="Yu Gothic" panose="020B0400000000000000" pitchFamily="34" charset="-128"/>
              <a:ea typeface="Yu Gothic" panose="020B0400000000000000" pitchFamily="34" charset="-128"/>
            </a:endParaRPr>
          </a:p>
          <a:p>
            <a:pPr marL="914400" lvl="1" indent="-457200">
              <a:buFont typeface="+mj-lt"/>
              <a:buAutoNum type="arabicPeriod"/>
            </a:pPr>
            <a:r>
              <a:rPr lang="ja-JP" altLang="en-US">
                <a:latin typeface="Yu Gothic" panose="020B0400000000000000" pitchFamily="34" charset="-128"/>
                <a:ea typeface="Yu Gothic" panose="020B0400000000000000" pitchFamily="34" charset="-128"/>
              </a:rPr>
              <a:t>各単語について</a:t>
            </a:r>
            <a:r>
              <a:rPr lang="en"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値が閾値以上の文書を抽出</a:t>
            </a:r>
            <a:endParaRPr lang="en-US" altLang="ja-JP" dirty="0">
              <a:latin typeface="Yu Gothic" panose="020B0400000000000000" pitchFamily="34" charset="-128"/>
              <a:ea typeface="Yu Gothic" panose="020B0400000000000000" pitchFamily="34" charset="-128"/>
            </a:endParaRPr>
          </a:p>
          <a:p>
            <a:pPr marL="914400" lvl="1" indent="-457200">
              <a:buFont typeface="+mj-lt"/>
              <a:buAutoNum type="arabicPeriod"/>
            </a:pPr>
            <a:r>
              <a:rPr lang="ja-JP" altLang="en-US">
                <a:latin typeface="Yu Gothic" panose="020B0400000000000000" pitchFamily="34" charset="-128"/>
                <a:ea typeface="Yu Gothic" panose="020B0400000000000000" pitchFamily="34" charset="-128"/>
              </a:rPr>
              <a:t>抽出した文書群を</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その単語を媒介としたハイパーエッジで接続</a:t>
            </a:r>
            <a:endParaRPr lang="en-US" altLang="ja-JP" dirty="0">
              <a:latin typeface="Yu Gothic" panose="020B0400000000000000" pitchFamily="34" charset="-128"/>
              <a:ea typeface="Yu Gothic" panose="020B0400000000000000" pitchFamily="34" charset="-128"/>
            </a:endParaRPr>
          </a:p>
          <a:p>
            <a:pPr lvl="2"/>
            <a:r>
              <a:rPr lang="ja-JP" altLang="en-US">
                <a:latin typeface="Yu Gothic" panose="020B0400000000000000" pitchFamily="34" charset="-128"/>
                <a:ea typeface="Yu Gothic" panose="020B0400000000000000" pitchFamily="34" charset="-128"/>
              </a:rPr>
              <a:t>右図の</a:t>
            </a:r>
            <a:r>
              <a:rPr lang="en-US" altLang="ja-JP" dirty="0">
                <a:latin typeface="Yu Gothic" panose="020B0400000000000000" pitchFamily="34" charset="-128"/>
                <a:ea typeface="Yu Gothic" panose="020B0400000000000000" pitchFamily="34" charset="-128"/>
              </a:rPr>
              <a:t>“</a:t>
            </a:r>
            <a:r>
              <a:rPr lang="ja-JP" altLang="en-US">
                <a:latin typeface="Yu Gothic" panose="020B0400000000000000" pitchFamily="34" charset="-128"/>
                <a:ea typeface="Yu Gothic" panose="020B0400000000000000" pitchFamily="34" charset="-128"/>
              </a:rPr>
              <a:t>白雪姫</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かぐや姫</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一寸法師</a:t>
            </a:r>
            <a:r>
              <a:rPr lang="en-US" altLang="ja-JP" dirty="0">
                <a:latin typeface="Yu Gothic" panose="020B0400000000000000" pitchFamily="34" charset="-128"/>
                <a:ea typeface="Yu Gothic" panose="020B0400000000000000" pitchFamily="34" charset="-128"/>
              </a:rPr>
              <a:t>”</a:t>
            </a:r>
            <a:r>
              <a:rPr lang="ja-JP" altLang="en-US">
                <a:latin typeface="Yu Gothic" panose="020B0400000000000000" pitchFamily="34" charset="-128"/>
                <a:ea typeface="Yu Gothic" panose="020B0400000000000000" pitchFamily="34" charset="-128"/>
              </a:rPr>
              <a:t>は</a:t>
            </a:r>
            <a:r>
              <a:rPr lang="en-US" altLang="ja-JP" dirty="0">
                <a:latin typeface="Yu Gothic" panose="020B0400000000000000" pitchFamily="34" charset="-128"/>
                <a:ea typeface="Yu Gothic" panose="020B0400000000000000" pitchFamily="34" charset="-128"/>
              </a:rPr>
              <a:t>“</a:t>
            </a:r>
            <a:r>
              <a:rPr lang="ja-JP" altLang="en-US">
                <a:latin typeface="Yu Gothic" panose="020B0400000000000000" pitchFamily="34" charset="-128"/>
                <a:ea typeface="Yu Gothic" panose="020B0400000000000000" pitchFamily="34" charset="-128"/>
              </a:rPr>
              <a:t>姫</a:t>
            </a:r>
            <a:r>
              <a:rPr lang="en-US" altLang="ja-JP" dirty="0">
                <a:latin typeface="Yu Gothic" panose="020B0400000000000000" pitchFamily="34" charset="-128"/>
                <a:ea typeface="Yu Gothic" panose="020B0400000000000000" pitchFamily="34" charset="-128"/>
              </a:rPr>
              <a:t>”</a:t>
            </a:r>
            <a:r>
              <a:rPr lang="ja-JP" altLang="en-US">
                <a:latin typeface="Yu Gothic" panose="020B0400000000000000" pitchFamily="34" charset="-128"/>
                <a:ea typeface="Yu Gothic" panose="020B0400000000000000" pitchFamily="34" charset="-128"/>
              </a:rPr>
              <a:t>を媒介として接続</a:t>
            </a:r>
            <a:endParaRPr lang="en-US" altLang="ja-JP" dirty="0">
              <a:latin typeface="Yu Gothic" panose="020B0400000000000000" pitchFamily="34" charset="-128"/>
              <a:ea typeface="Yu Gothic" panose="020B0400000000000000" pitchFamily="34" charset="-128"/>
            </a:endParaRPr>
          </a:p>
          <a:p>
            <a:r>
              <a:rPr lang="en-US" altLang="ja-JP" b="1" dirty="0">
                <a:latin typeface="Yu Gothic" panose="020B0400000000000000" pitchFamily="34" charset="-128"/>
                <a:ea typeface="Yu Gothic" panose="020B0400000000000000" pitchFamily="34" charset="-128"/>
              </a:rPr>
              <a:t>LLM</a:t>
            </a:r>
            <a:r>
              <a:rPr lang="ja-JP" altLang="en-US" b="1">
                <a:latin typeface="Yu Gothic" panose="020B0400000000000000" pitchFamily="34" charset="-128"/>
                <a:ea typeface="Yu Gothic" panose="020B0400000000000000" pitchFamily="34" charset="-128"/>
              </a:rPr>
              <a:t>を全く使用せず</a:t>
            </a:r>
            <a:r>
              <a:rPr lang="en-US" altLang="ja-JP" b="1" dirty="0">
                <a:latin typeface="Yu Gothic" panose="020B0400000000000000" pitchFamily="34" charset="-128"/>
                <a:ea typeface="Yu Gothic" panose="020B0400000000000000" pitchFamily="34" charset="-128"/>
              </a:rPr>
              <a:t>, </a:t>
            </a:r>
            <a:r>
              <a:rPr lang="ja-JP" altLang="en-US" b="1">
                <a:solidFill>
                  <a:srgbClr val="C00000"/>
                </a:solidFill>
                <a:latin typeface="Yu Gothic" panose="020B0400000000000000" pitchFamily="34" charset="-128"/>
                <a:ea typeface="Yu Gothic" panose="020B0400000000000000" pitchFamily="34" charset="-128"/>
              </a:rPr>
              <a:t>簡単な計算のみでグラフ構築可能</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文書の意味解析をせず</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単純な単語の出現量のみで計算</a:t>
            </a:r>
            <a:endParaRPr lang="en-US" altLang="ja-JP" dirty="0">
              <a:latin typeface="Yu Gothic" panose="020B0400000000000000" pitchFamily="34" charset="-128"/>
              <a:ea typeface="Yu Gothic" panose="020B0400000000000000" pitchFamily="34" charset="-128"/>
            </a:endParaRPr>
          </a:p>
          <a:p>
            <a:r>
              <a:rPr lang="ja-JP" altLang="en-US">
                <a:latin typeface="Yu Gothic" panose="020B0400000000000000" pitchFamily="34" charset="-128"/>
                <a:ea typeface="Yu Gothic" panose="020B0400000000000000" pitchFamily="34" charset="-128"/>
              </a:rPr>
              <a:t>クエリ時に</a:t>
            </a:r>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より</a:t>
            </a:r>
            <a:r>
              <a:rPr lang="ja-JP" altLang="en-US">
                <a:solidFill>
                  <a:srgbClr val="C00000"/>
                </a:solidFill>
                <a:latin typeface="Yu Gothic" panose="020B0400000000000000" pitchFamily="34" charset="-128"/>
                <a:ea typeface="Yu Gothic" panose="020B0400000000000000" pitchFamily="34" charset="-128"/>
              </a:rPr>
              <a:t>少し多く情報を与えることで</a:t>
            </a:r>
            <a:r>
              <a:rPr lang="en-US" altLang="ja-JP" dirty="0">
                <a:solidFill>
                  <a:srgbClr val="C00000"/>
                </a:solidFill>
                <a:latin typeface="Yu Gothic" panose="020B0400000000000000" pitchFamily="34" charset="-128"/>
                <a:ea typeface="Yu Gothic" panose="020B0400000000000000" pitchFamily="34" charset="-128"/>
              </a:rPr>
              <a:t>, </a:t>
            </a:r>
            <a:r>
              <a:rPr lang="ja-JP" altLang="en-US">
                <a:solidFill>
                  <a:srgbClr val="C00000"/>
                </a:solidFill>
                <a:latin typeface="Yu Gothic" panose="020B0400000000000000" pitchFamily="34" charset="-128"/>
                <a:ea typeface="Yu Gothic" panose="020B0400000000000000" pitchFamily="34" charset="-128"/>
              </a:rPr>
              <a:t>　　　精度劣化を抑える</a:t>
            </a:r>
            <a:endParaRPr lang="en-US" altLang="ja-JP" dirty="0">
              <a:solidFill>
                <a:srgbClr val="C00000"/>
              </a:solidFill>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文書をそのまま渡すため情報の密度が低い</a:t>
            </a:r>
            <a:r>
              <a:rPr lang="en-US" altLang="ja-JP" dirty="0">
                <a:latin typeface="Yu Gothic" panose="020B0400000000000000" pitchFamily="34" charset="-128"/>
                <a:ea typeface="Yu Gothic" panose="020B0400000000000000" pitchFamily="34" charset="-128"/>
              </a:rPr>
              <a:t>→</a:t>
            </a:r>
            <a:r>
              <a:rPr lang="ja-JP" altLang="en-US">
                <a:latin typeface="Yu Gothic" panose="020B0400000000000000" pitchFamily="34" charset="-128"/>
                <a:ea typeface="Yu Gothic" panose="020B0400000000000000" pitchFamily="34" charset="-128"/>
              </a:rPr>
              <a:t>情報を多く与え補う</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各クエリで</a:t>
            </a:r>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は</a:t>
            </a:r>
            <a:r>
              <a:rPr lang="en-US" altLang="ja-JP" dirty="0">
                <a:latin typeface="Yu Gothic" panose="020B0400000000000000" pitchFamily="34" charset="-128"/>
                <a:ea typeface="Yu Gothic" panose="020B0400000000000000" pitchFamily="34" charset="-128"/>
              </a:rPr>
              <a:t>8000</a:t>
            </a:r>
            <a:r>
              <a:rPr lang="ja-JP" altLang="en-US">
                <a:latin typeface="Yu Gothic" panose="020B0400000000000000" pitchFamily="34" charset="-128"/>
                <a:ea typeface="Yu Gothic" panose="020B0400000000000000" pitchFamily="34" charset="-128"/>
              </a:rPr>
              <a:t>トークンに対し</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　　　　　　　　　　　提案手法は</a:t>
            </a:r>
            <a:r>
              <a:rPr lang="en-US" altLang="ja-JP" dirty="0">
                <a:latin typeface="Yu Gothic" panose="020B0400000000000000" pitchFamily="34" charset="-128"/>
                <a:ea typeface="Yu Gothic" panose="020B0400000000000000" pitchFamily="34" charset="-128"/>
              </a:rPr>
              <a:t>10000</a:t>
            </a:r>
            <a:r>
              <a:rPr lang="ja-JP" altLang="en-US">
                <a:latin typeface="Yu Gothic" panose="020B0400000000000000" pitchFamily="34" charset="-128"/>
                <a:ea typeface="Yu Gothic" panose="020B0400000000000000" pitchFamily="34" charset="-128"/>
              </a:rPr>
              <a:t>トークン分の情報を回答生成</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に付与</a:t>
            </a:r>
            <a:endParaRPr lang="en-US" altLang="ja-JP"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841222ED-7A4F-170F-9D7E-4561D539091B}"/>
              </a:ext>
            </a:extLst>
          </p:cNvPr>
          <p:cNvSpPr>
            <a:spLocks noGrp="1"/>
          </p:cNvSpPr>
          <p:nvPr>
            <p:ph type="body" sz="quarter" idx="11"/>
          </p:nvPr>
        </p:nvSpPr>
        <p:spPr/>
        <p:txBody>
          <a:bodyPr>
            <a:normAutofit fontScale="92500" lnSpcReduction="20000"/>
          </a:bodyPr>
          <a:lstStyle/>
          <a:p>
            <a:r>
              <a:rPr kumimoji="1" lang="ja-JP" altLang="en-US"/>
              <a:t>提案手法−</a:t>
            </a:r>
            <a:r>
              <a:rPr kumimoji="1" lang="en-US" altLang="ja-JP" dirty="0"/>
              <a:t>LLM</a:t>
            </a:r>
            <a:r>
              <a:rPr kumimoji="1" lang="ja-JP" altLang="en-US"/>
              <a:t>を用いない単純化したグラフ構築で大幅なコスト削減</a:t>
            </a:r>
            <a:endParaRPr kumimoji="1" lang="en" altLang="ja-JP" dirty="0"/>
          </a:p>
        </p:txBody>
      </p:sp>
      <p:sp>
        <p:nvSpPr>
          <p:cNvPr id="5" name="角丸四角形 4">
            <a:extLst>
              <a:ext uri="{FF2B5EF4-FFF2-40B4-BE49-F238E27FC236}">
                <a16:creationId xmlns:a16="http://schemas.microsoft.com/office/drawing/2014/main" id="{4AD81A8F-CF98-137B-C0A8-5728641C2FFD}"/>
              </a:ext>
            </a:extLst>
          </p:cNvPr>
          <p:cNvSpPr/>
          <p:nvPr/>
        </p:nvSpPr>
        <p:spPr>
          <a:xfrm>
            <a:off x="8981485" y="3369798"/>
            <a:ext cx="2068850" cy="1403923"/>
          </a:xfrm>
          <a:prstGeom prst="roundRect">
            <a:avLst/>
          </a:prstGeom>
          <a:solidFill>
            <a:schemeClr val="accent1">
              <a:lumMod val="20000"/>
              <a:lumOff val="80000"/>
              <a:alpha val="5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角丸四角形 5">
            <a:extLst>
              <a:ext uri="{FF2B5EF4-FFF2-40B4-BE49-F238E27FC236}">
                <a16:creationId xmlns:a16="http://schemas.microsoft.com/office/drawing/2014/main" id="{A22B5192-A4A5-3858-18D7-BE88B337536F}"/>
              </a:ext>
            </a:extLst>
          </p:cNvPr>
          <p:cNvSpPr/>
          <p:nvPr/>
        </p:nvSpPr>
        <p:spPr>
          <a:xfrm>
            <a:off x="9830850" y="3893729"/>
            <a:ext cx="2223701" cy="1449127"/>
          </a:xfrm>
          <a:prstGeom prst="roundRect">
            <a:avLst/>
          </a:prstGeom>
          <a:solidFill>
            <a:schemeClr val="accent6">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5D201F5-2613-0A36-BDC5-9CB50DE3D060}"/>
              </a:ext>
            </a:extLst>
          </p:cNvPr>
          <p:cNvSpPr/>
          <p:nvPr/>
        </p:nvSpPr>
        <p:spPr>
          <a:xfrm>
            <a:off x="10135222" y="3519857"/>
            <a:ext cx="805142"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かぐや姫</a:t>
            </a:r>
            <a:endParaRPr kumimoji="1" lang="ja-JP" altLang="en-US" sz="1200"/>
          </a:p>
        </p:txBody>
      </p:sp>
      <p:sp>
        <p:nvSpPr>
          <p:cNvPr id="8" name="正方形/長方形 7">
            <a:extLst>
              <a:ext uri="{FF2B5EF4-FFF2-40B4-BE49-F238E27FC236}">
                <a16:creationId xmlns:a16="http://schemas.microsoft.com/office/drawing/2014/main" id="{E2237B2F-E3A0-9DBC-CF8A-193992E8D682}"/>
              </a:ext>
            </a:extLst>
          </p:cNvPr>
          <p:cNvSpPr/>
          <p:nvPr/>
        </p:nvSpPr>
        <p:spPr>
          <a:xfrm>
            <a:off x="9130118" y="3893729"/>
            <a:ext cx="657498" cy="41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花咲か爺さん</a:t>
            </a:r>
            <a:endParaRPr kumimoji="1" lang="ja-JP" altLang="en-US" sz="1200"/>
          </a:p>
        </p:txBody>
      </p:sp>
      <p:sp>
        <p:nvSpPr>
          <p:cNvPr id="9" name="正方形/長方形 8">
            <a:extLst>
              <a:ext uri="{FF2B5EF4-FFF2-40B4-BE49-F238E27FC236}">
                <a16:creationId xmlns:a16="http://schemas.microsoft.com/office/drawing/2014/main" id="{0C56822E-D468-C3DC-0266-EE5B3101EA72}"/>
              </a:ext>
            </a:extLst>
          </p:cNvPr>
          <p:cNvSpPr/>
          <p:nvPr/>
        </p:nvSpPr>
        <p:spPr>
          <a:xfrm>
            <a:off x="10118170" y="4404283"/>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桃太郎</a:t>
            </a:r>
            <a:endParaRPr kumimoji="1" lang="ja-JP" altLang="en-US" sz="1200"/>
          </a:p>
        </p:txBody>
      </p:sp>
      <p:sp>
        <p:nvSpPr>
          <p:cNvPr id="11" name="正方形/長方形 10">
            <a:extLst>
              <a:ext uri="{FF2B5EF4-FFF2-40B4-BE49-F238E27FC236}">
                <a16:creationId xmlns:a16="http://schemas.microsoft.com/office/drawing/2014/main" id="{A34F2E88-5C50-353F-C149-1054771B62F6}"/>
              </a:ext>
            </a:extLst>
          </p:cNvPr>
          <p:cNvSpPr/>
          <p:nvPr/>
        </p:nvSpPr>
        <p:spPr>
          <a:xfrm>
            <a:off x="9900289" y="4925881"/>
            <a:ext cx="805895"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鬼滅の刃</a:t>
            </a:r>
            <a:endParaRPr kumimoji="1" lang="ja-JP" altLang="en-US" sz="1200"/>
          </a:p>
        </p:txBody>
      </p:sp>
      <p:sp>
        <p:nvSpPr>
          <p:cNvPr id="44" name="正方形/長方形 43">
            <a:extLst>
              <a:ext uri="{FF2B5EF4-FFF2-40B4-BE49-F238E27FC236}">
                <a16:creationId xmlns:a16="http://schemas.microsoft.com/office/drawing/2014/main" id="{A426659B-1337-8304-B936-D3241AFB624F}"/>
              </a:ext>
            </a:extLst>
          </p:cNvPr>
          <p:cNvSpPr/>
          <p:nvPr/>
        </p:nvSpPr>
        <p:spPr>
          <a:xfrm>
            <a:off x="9608501" y="5599825"/>
            <a:ext cx="97896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走れメロス</a:t>
            </a:r>
          </a:p>
        </p:txBody>
      </p:sp>
      <p:sp>
        <p:nvSpPr>
          <p:cNvPr id="49" name="正方形/長方形 48">
            <a:extLst>
              <a:ext uri="{FF2B5EF4-FFF2-40B4-BE49-F238E27FC236}">
                <a16:creationId xmlns:a16="http://schemas.microsoft.com/office/drawing/2014/main" id="{D7E2194F-D238-7172-6897-44077BE8DC4B}"/>
              </a:ext>
            </a:extLst>
          </p:cNvPr>
          <p:cNvSpPr/>
          <p:nvPr/>
        </p:nvSpPr>
        <p:spPr>
          <a:xfrm>
            <a:off x="11090576" y="3975160"/>
            <a:ext cx="805895"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一寸法師</a:t>
            </a:r>
          </a:p>
        </p:txBody>
      </p:sp>
      <p:sp>
        <p:nvSpPr>
          <p:cNvPr id="50" name="正方形/長方形 49">
            <a:extLst>
              <a:ext uri="{FF2B5EF4-FFF2-40B4-BE49-F238E27FC236}">
                <a16:creationId xmlns:a16="http://schemas.microsoft.com/office/drawing/2014/main" id="{3BDEF488-B390-4CC3-923D-31CA157EED0A}"/>
              </a:ext>
            </a:extLst>
          </p:cNvPr>
          <p:cNvSpPr/>
          <p:nvPr/>
        </p:nvSpPr>
        <p:spPr>
          <a:xfrm>
            <a:off x="11091329" y="3396192"/>
            <a:ext cx="805142"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白雪姫</a:t>
            </a:r>
            <a:endParaRPr kumimoji="1" lang="ja-JP" altLang="en-US" sz="1200"/>
          </a:p>
        </p:txBody>
      </p:sp>
      <p:sp>
        <p:nvSpPr>
          <p:cNvPr id="51" name="正方形/長方形 50">
            <a:extLst>
              <a:ext uri="{FF2B5EF4-FFF2-40B4-BE49-F238E27FC236}">
                <a16:creationId xmlns:a16="http://schemas.microsoft.com/office/drawing/2014/main" id="{80EABAC0-5092-FC62-FB92-38441F73B0FC}"/>
              </a:ext>
            </a:extLst>
          </p:cNvPr>
          <p:cNvSpPr/>
          <p:nvPr/>
        </p:nvSpPr>
        <p:spPr>
          <a:xfrm>
            <a:off x="10815909" y="5586611"/>
            <a:ext cx="1122027"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はだかの王様</a:t>
            </a:r>
          </a:p>
        </p:txBody>
      </p:sp>
      <p:sp>
        <p:nvSpPr>
          <p:cNvPr id="54" name="正方形/長方形 53">
            <a:extLst>
              <a:ext uri="{FF2B5EF4-FFF2-40B4-BE49-F238E27FC236}">
                <a16:creationId xmlns:a16="http://schemas.microsoft.com/office/drawing/2014/main" id="{5B5FE578-A175-8149-1EF4-A7078FFBF045}"/>
              </a:ext>
            </a:extLst>
          </p:cNvPr>
          <p:cNvSpPr/>
          <p:nvPr/>
        </p:nvSpPr>
        <p:spPr>
          <a:xfrm>
            <a:off x="9296872" y="1341984"/>
            <a:ext cx="657498" cy="41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花咲か爺さん</a:t>
            </a:r>
            <a:endParaRPr kumimoji="1" lang="ja-JP" altLang="en-US" sz="1200"/>
          </a:p>
        </p:txBody>
      </p:sp>
      <p:sp>
        <p:nvSpPr>
          <p:cNvPr id="55" name="正方形/長方形 54">
            <a:extLst>
              <a:ext uri="{FF2B5EF4-FFF2-40B4-BE49-F238E27FC236}">
                <a16:creationId xmlns:a16="http://schemas.microsoft.com/office/drawing/2014/main" id="{4A7DDB9C-9F86-9FD0-81A4-06FBF842BC6F}"/>
              </a:ext>
            </a:extLst>
          </p:cNvPr>
          <p:cNvSpPr/>
          <p:nvPr/>
        </p:nvSpPr>
        <p:spPr>
          <a:xfrm>
            <a:off x="10021172" y="1337235"/>
            <a:ext cx="805142"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かぐや姫</a:t>
            </a:r>
            <a:endParaRPr kumimoji="1" lang="ja-JP" altLang="en-US" sz="1200"/>
          </a:p>
        </p:txBody>
      </p:sp>
      <p:sp>
        <p:nvSpPr>
          <p:cNvPr id="56" name="正方形/長方形 55">
            <a:extLst>
              <a:ext uri="{FF2B5EF4-FFF2-40B4-BE49-F238E27FC236}">
                <a16:creationId xmlns:a16="http://schemas.microsoft.com/office/drawing/2014/main" id="{271862E2-67B4-8D21-7290-97ED676EB557}"/>
              </a:ext>
            </a:extLst>
          </p:cNvPr>
          <p:cNvSpPr/>
          <p:nvPr/>
        </p:nvSpPr>
        <p:spPr>
          <a:xfrm>
            <a:off x="10897280" y="1325794"/>
            <a:ext cx="805142"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白雪姫</a:t>
            </a:r>
            <a:endParaRPr kumimoji="1" lang="ja-JP" altLang="en-US" sz="1200"/>
          </a:p>
        </p:txBody>
      </p:sp>
      <p:sp>
        <p:nvSpPr>
          <p:cNvPr id="57" name="正方形/長方形 56">
            <a:extLst>
              <a:ext uri="{FF2B5EF4-FFF2-40B4-BE49-F238E27FC236}">
                <a16:creationId xmlns:a16="http://schemas.microsoft.com/office/drawing/2014/main" id="{3509E0D8-0562-113A-C3D9-C31A7D2C003A}"/>
              </a:ext>
            </a:extLst>
          </p:cNvPr>
          <p:cNvSpPr/>
          <p:nvPr/>
        </p:nvSpPr>
        <p:spPr>
          <a:xfrm>
            <a:off x="9292470" y="1803258"/>
            <a:ext cx="805895"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一寸法師</a:t>
            </a:r>
          </a:p>
        </p:txBody>
      </p:sp>
      <p:sp>
        <p:nvSpPr>
          <p:cNvPr id="58" name="正方形/長方形 57">
            <a:extLst>
              <a:ext uri="{FF2B5EF4-FFF2-40B4-BE49-F238E27FC236}">
                <a16:creationId xmlns:a16="http://schemas.microsoft.com/office/drawing/2014/main" id="{EE35EE89-E5F9-5293-7759-2CDB579FC70C}"/>
              </a:ext>
            </a:extLst>
          </p:cNvPr>
          <p:cNvSpPr/>
          <p:nvPr/>
        </p:nvSpPr>
        <p:spPr>
          <a:xfrm>
            <a:off x="10168816" y="1748302"/>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桃太郎</a:t>
            </a:r>
            <a:endParaRPr kumimoji="1" lang="ja-JP" altLang="en-US" sz="1200"/>
          </a:p>
        </p:txBody>
      </p:sp>
      <p:sp>
        <p:nvSpPr>
          <p:cNvPr id="65" name="正方形/長方形 64">
            <a:extLst>
              <a:ext uri="{FF2B5EF4-FFF2-40B4-BE49-F238E27FC236}">
                <a16:creationId xmlns:a16="http://schemas.microsoft.com/office/drawing/2014/main" id="{DFE7E2C3-F467-CE5D-9E6F-5A453C3FFF49}"/>
              </a:ext>
            </a:extLst>
          </p:cNvPr>
          <p:cNvSpPr/>
          <p:nvPr/>
        </p:nvSpPr>
        <p:spPr>
          <a:xfrm>
            <a:off x="10896903" y="1754214"/>
            <a:ext cx="805895"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鬼滅の刃</a:t>
            </a:r>
            <a:endParaRPr kumimoji="1" lang="ja-JP" altLang="en-US" sz="1200"/>
          </a:p>
        </p:txBody>
      </p:sp>
      <p:sp>
        <p:nvSpPr>
          <p:cNvPr id="66" name="正方形/長方形 65">
            <a:extLst>
              <a:ext uri="{FF2B5EF4-FFF2-40B4-BE49-F238E27FC236}">
                <a16:creationId xmlns:a16="http://schemas.microsoft.com/office/drawing/2014/main" id="{7183133F-E584-2BB1-E755-42DEF8AD0377}"/>
              </a:ext>
            </a:extLst>
          </p:cNvPr>
          <p:cNvSpPr/>
          <p:nvPr/>
        </p:nvSpPr>
        <p:spPr>
          <a:xfrm>
            <a:off x="9290062" y="2175999"/>
            <a:ext cx="97896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走れメロス</a:t>
            </a:r>
          </a:p>
        </p:txBody>
      </p:sp>
      <p:sp>
        <p:nvSpPr>
          <p:cNvPr id="68" name="正方形/長方形 67">
            <a:extLst>
              <a:ext uri="{FF2B5EF4-FFF2-40B4-BE49-F238E27FC236}">
                <a16:creationId xmlns:a16="http://schemas.microsoft.com/office/drawing/2014/main" id="{0809A0DC-1E9C-B406-701D-1EF8238CF2E8}"/>
              </a:ext>
            </a:extLst>
          </p:cNvPr>
          <p:cNvSpPr/>
          <p:nvPr/>
        </p:nvSpPr>
        <p:spPr>
          <a:xfrm>
            <a:off x="10565796" y="2171193"/>
            <a:ext cx="1122027"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はだかの王様</a:t>
            </a:r>
          </a:p>
        </p:txBody>
      </p:sp>
      <p:sp>
        <p:nvSpPr>
          <p:cNvPr id="71" name="正方形/長方形 70">
            <a:extLst>
              <a:ext uri="{FF2B5EF4-FFF2-40B4-BE49-F238E27FC236}">
                <a16:creationId xmlns:a16="http://schemas.microsoft.com/office/drawing/2014/main" id="{BE31A5AE-46BD-B29D-E88D-283D341BBB2D}"/>
              </a:ext>
            </a:extLst>
          </p:cNvPr>
          <p:cNvSpPr/>
          <p:nvPr/>
        </p:nvSpPr>
        <p:spPr>
          <a:xfrm>
            <a:off x="8890612" y="1241931"/>
            <a:ext cx="3204180" cy="13388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2" name="直線矢印コネクタ 71">
            <a:extLst>
              <a:ext uri="{FF2B5EF4-FFF2-40B4-BE49-F238E27FC236}">
                <a16:creationId xmlns:a16="http://schemas.microsoft.com/office/drawing/2014/main" id="{F546EFBD-9D35-F622-BA12-CB65A9555433}"/>
              </a:ext>
            </a:extLst>
          </p:cNvPr>
          <p:cNvCxnSpPr>
            <a:cxnSpLocks/>
            <a:stCxn id="71" idx="2"/>
            <a:endCxn id="81" idx="0"/>
          </p:cNvCxnSpPr>
          <p:nvPr/>
        </p:nvCxnSpPr>
        <p:spPr>
          <a:xfrm>
            <a:off x="10492702" y="2580776"/>
            <a:ext cx="0" cy="3092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10C8F123-6678-D53E-11BB-55C38C16077D}"/>
              </a:ext>
            </a:extLst>
          </p:cNvPr>
          <p:cNvSpPr txBox="1"/>
          <p:nvPr/>
        </p:nvSpPr>
        <p:spPr>
          <a:xfrm>
            <a:off x="9486241" y="6408138"/>
            <a:ext cx="2041061" cy="307777"/>
          </a:xfrm>
          <a:prstGeom prst="rect">
            <a:avLst/>
          </a:prstGeom>
          <a:noFill/>
          <a:ln>
            <a:noFill/>
          </a:ln>
        </p:spPr>
        <p:txBody>
          <a:bodyPr wrap="square" rtlCol="0">
            <a:spAutoFit/>
          </a:bodyPr>
          <a:lstStyle/>
          <a:p>
            <a:pPr algn="ctr"/>
            <a:r>
              <a:rPr kumimoji="1" lang="ja-JP" altLang="en-US" sz="1400"/>
              <a:t>ハイパーグラフ</a:t>
            </a:r>
          </a:p>
        </p:txBody>
      </p:sp>
      <p:sp>
        <p:nvSpPr>
          <p:cNvPr id="76" name="テキスト ボックス 75">
            <a:extLst>
              <a:ext uri="{FF2B5EF4-FFF2-40B4-BE49-F238E27FC236}">
                <a16:creationId xmlns:a16="http://schemas.microsoft.com/office/drawing/2014/main" id="{62D4F504-C1C7-72DD-D720-6B5CA3FDA7FA}"/>
              </a:ext>
            </a:extLst>
          </p:cNvPr>
          <p:cNvSpPr txBox="1"/>
          <p:nvPr/>
        </p:nvSpPr>
        <p:spPr>
          <a:xfrm>
            <a:off x="9477287" y="955295"/>
            <a:ext cx="2041061" cy="307777"/>
          </a:xfrm>
          <a:prstGeom prst="rect">
            <a:avLst/>
          </a:prstGeom>
          <a:noFill/>
          <a:ln>
            <a:noFill/>
          </a:ln>
        </p:spPr>
        <p:txBody>
          <a:bodyPr wrap="square" rtlCol="0">
            <a:spAutoFit/>
          </a:bodyPr>
          <a:lstStyle/>
          <a:p>
            <a:pPr algn="ctr"/>
            <a:r>
              <a:rPr kumimoji="1" lang="ja-JP" altLang="en-US" sz="1400"/>
              <a:t>文書群</a:t>
            </a:r>
          </a:p>
        </p:txBody>
      </p:sp>
      <p:sp>
        <p:nvSpPr>
          <p:cNvPr id="81" name="正方形/長方形 80">
            <a:extLst>
              <a:ext uri="{FF2B5EF4-FFF2-40B4-BE49-F238E27FC236}">
                <a16:creationId xmlns:a16="http://schemas.microsoft.com/office/drawing/2014/main" id="{C0987950-244B-5F40-5CFB-332977072190}"/>
              </a:ext>
            </a:extLst>
          </p:cNvPr>
          <p:cNvSpPr/>
          <p:nvPr/>
        </p:nvSpPr>
        <p:spPr>
          <a:xfrm>
            <a:off x="8890612" y="2890070"/>
            <a:ext cx="3204180" cy="34849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円/楕円 88">
            <a:extLst>
              <a:ext uri="{FF2B5EF4-FFF2-40B4-BE49-F238E27FC236}">
                <a16:creationId xmlns:a16="http://schemas.microsoft.com/office/drawing/2014/main" id="{C1F31B38-C7F5-B850-C3A6-0F11175715F3}"/>
              </a:ext>
            </a:extLst>
          </p:cNvPr>
          <p:cNvSpPr/>
          <p:nvPr/>
        </p:nvSpPr>
        <p:spPr>
          <a:xfrm>
            <a:off x="10215183" y="2983470"/>
            <a:ext cx="725181" cy="353208"/>
          </a:xfrm>
          <a:prstGeom prst="ellipse">
            <a:avLst/>
          </a:prstGeom>
          <a:solidFill>
            <a:srgbClr val="DC858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姫</a:t>
            </a:r>
          </a:p>
        </p:txBody>
      </p:sp>
      <p:sp>
        <p:nvSpPr>
          <p:cNvPr id="90" name="円/楕円 89">
            <a:extLst>
              <a:ext uri="{FF2B5EF4-FFF2-40B4-BE49-F238E27FC236}">
                <a16:creationId xmlns:a16="http://schemas.microsoft.com/office/drawing/2014/main" id="{86C002D5-43BA-52FA-F330-01BC99B4FE8C}"/>
              </a:ext>
            </a:extLst>
          </p:cNvPr>
          <p:cNvSpPr/>
          <p:nvPr/>
        </p:nvSpPr>
        <p:spPr>
          <a:xfrm>
            <a:off x="8911684" y="3197271"/>
            <a:ext cx="1341595" cy="322586"/>
          </a:xfrm>
          <a:prstGeom prst="ellipse">
            <a:avLst/>
          </a:prstGeom>
          <a:solidFill>
            <a:srgbClr val="D0DE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おじいさん</a:t>
            </a:r>
            <a:endParaRPr kumimoji="1" lang="ja-JP" altLang="en-US" sz="1200">
              <a:solidFill>
                <a:sysClr val="windowText" lastClr="000000"/>
              </a:solidFill>
            </a:endParaRPr>
          </a:p>
        </p:txBody>
      </p:sp>
      <p:sp>
        <p:nvSpPr>
          <p:cNvPr id="91" name="円/楕円 90">
            <a:extLst>
              <a:ext uri="{FF2B5EF4-FFF2-40B4-BE49-F238E27FC236}">
                <a16:creationId xmlns:a16="http://schemas.microsoft.com/office/drawing/2014/main" id="{DF2026FF-500E-E19A-7B07-8B8A2154185B}"/>
              </a:ext>
            </a:extLst>
          </p:cNvPr>
          <p:cNvSpPr/>
          <p:nvPr/>
        </p:nvSpPr>
        <p:spPr>
          <a:xfrm>
            <a:off x="11120277" y="5086653"/>
            <a:ext cx="725181" cy="353208"/>
          </a:xfrm>
          <a:prstGeom prst="ellipse">
            <a:avLst/>
          </a:prstGeom>
          <a:solidFill>
            <a:srgbClr val="71AD4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鬼</a:t>
            </a:r>
          </a:p>
        </p:txBody>
      </p:sp>
      <p:sp>
        <p:nvSpPr>
          <p:cNvPr id="93" name="円/楕円 92">
            <a:extLst>
              <a:ext uri="{FF2B5EF4-FFF2-40B4-BE49-F238E27FC236}">
                <a16:creationId xmlns:a16="http://schemas.microsoft.com/office/drawing/2014/main" id="{4629A439-3590-44A7-178C-94CA7AD3F441}"/>
              </a:ext>
            </a:extLst>
          </p:cNvPr>
          <p:cNvSpPr/>
          <p:nvPr/>
        </p:nvSpPr>
        <p:spPr>
          <a:xfrm>
            <a:off x="8966015" y="5053453"/>
            <a:ext cx="725181" cy="353208"/>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妹</a:t>
            </a:r>
            <a:endParaRPr kumimoji="1" lang="ja-JP" altLang="en-US" sz="1200">
              <a:solidFill>
                <a:sysClr val="windowText" lastClr="000000"/>
              </a:solidFill>
            </a:endParaRPr>
          </a:p>
        </p:txBody>
      </p:sp>
      <p:sp>
        <p:nvSpPr>
          <p:cNvPr id="94" name="円/楕円 93">
            <a:extLst>
              <a:ext uri="{FF2B5EF4-FFF2-40B4-BE49-F238E27FC236}">
                <a16:creationId xmlns:a16="http://schemas.microsoft.com/office/drawing/2014/main" id="{8618E509-BB0A-C14E-D9FF-1D207A768300}"/>
              </a:ext>
            </a:extLst>
          </p:cNvPr>
          <p:cNvSpPr/>
          <p:nvPr/>
        </p:nvSpPr>
        <p:spPr>
          <a:xfrm>
            <a:off x="11014331" y="5925825"/>
            <a:ext cx="725181" cy="353208"/>
          </a:xfrm>
          <a:prstGeom prst="ellipse">
            <a:avLst/>
          </a:prstGeom>
          <a:solidFill>
            <a:srgbClr val="D1D1D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ysClr val="windowText" lastClr="000000"/>
                </a:solidFill>
              </a:rPr>
              <a:t>王</a:t>
            </a:r>
            <a:endParaRPr kumimoji="1" lang="ja-JP" altLang="en-US" sz="1200">
              <a:solidFill>
                <a:sysClr val="windowText" lastClr="000000"/>
              </a:solidFill>
            </a:endParaRPr>
          </a:p>
        </p:txBody>
      </p:sp>
    </p:spTree>
    <p:extLst>
      <p:ext uri="{BB962C8B-B14F-4D97-AF65-F5344CB8AC3E}">
        <p14:creationId xmlns:p14="http://schemas.microsoft.com/office/powerpoint/2010/main" val="1460591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44F96-6633-CAB4-DD51-FEBB68468C5C}"/>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3DE5737-9878-8831-2A42-6613133FB099}"/>
              </a:ext>
            </a:extLst>
          </p:cNvPr>
          <p:cNvSpPr>
            <a:spLocks noGrp="1"/>
          </p:cNvSpPr>
          <p:nvPr>
            <p:ph idx="1"/>
          </p:nvPr>
        </p:nvSpPr>
        <p:spPr>
          <a:xfrm>
            <a:off x="472562" y="1120060"/>
            <a:ext cx="11508863" cy="5737940"/>
          </a:xfrm>
        </p:spPr>
        <p:txBody>
          <a:bodyPr>
            <a:normAutofit fontScale="85000" lnSpcReduction="20000"/>
          </a:bodyPr>
          <a:lstStyle/>
          <a:p>
            <a:r>
              <a:rPr lang="ja-JP" altLang="en-US"/>
              <a:t>データセット</a:t>
            </a:r>
            <a:endParaRPr lang="en-US" altLang="ja-JP" dirty="0"/>
          </a:p>
          <a:p>
            <a:pPr lvl="1"/>
            <a:r>
              <a:rPr lang="en" altLang="ja-JP" dirty="0">
                <a:effectLst/>
                <a:latin typeface="Yu Gothic" panose="020B0400000000000000" pitchFamily="34" charset="-128"/>
                <a:ea typeface="Yu Gothic" panose="020B0400000000000000" pitchFamily="34" charset="-128"/>
              </a:rPr>
              <a:t>MultiHop-RAG</a:t>
            </a:r>
            <a:r>
              <a:rPr lang="en" altLang="ja-JP" baseline="30000" dirty="0">
                <a:effectLst/>
                <a:latin typeface="Yu Gothic" panose="020B0400000000000000" pitchFamily="34" charset="-128"/>
                <a:ea typeface="Yu Gothic" panose="020B0400000000000000" pitchFamily="34" charset="-128"/>
              </a:rPr>
              <a:t>[3]</a:t>
            </a:r>
            <a:r>
              <a:rPr lang="en" altLang="ja-JP" dirty="0">
                <a:effectLst/>
                <a:latin typeface="Yu Gothic" panose="020B0400000000000000" pitchFamily="34" charset="-128"/>
                <a:ea typeface="Yu Gothic" panose="020B0400000000000000" pitchFamily="34" charset="-128"/>
              </a:rPr>
              <a:t> </a:t>
            </a:r>
          </a:p>
          <a:p>
            <a:pPr lvl="2"/>
            <a:r>
              <a:rPr lang="en-US" altLang="ja-JP" dirty="0">
                <a:effectLst/>
                <a:latin typeface="Yu Gothic" panose="020B0400000000000000" pitchFamily="34" charset="-128"/>
                <a:ea typeface="Yu Gothic" panose="020B0400000000000000" pitchFamily="34" charset="-128"/>
              </a:rPr>
              <a:t>2013</a:t>
            </a:r>
            <a:r>
              <a:rPr lang="ja-JP" altLang="en-US">
                <a:effectLst/>
                <a:latin typeface="Yu Gothic" panose="020B0400000000000000" pitchFamily="34" charset="-128"/>
                <a:ea typeface="Yu Gothic" panose="020B0400000000000000" pitchFamily="34" charset="-128"/>
              </a:rPr>
              <a:t>年</a:t>
            </a:r>
            <a:r>
              <a:rPr lang="en-US" altLang="ja-JP" dirty="0">
                <a:effectLst/>
                <a:latin typeface="Yu Gothic" panose="020B0400000000000000" pitchFamily="34" charset="-128"/>
                <a:ea typeface="Yu Gothic" panose="020B0400000000000000" pitchFamily="34" charset="-128"/>
              </a:rPr>
              <a:t>9</a:t>
            </a:r>
            <a:r>
              <a:rPr lang="ja-JP" altLang="en-US">
                <a:effectLst/>
                <a:latin typeface="Yu Gothic" panose="020B0400000000000000" pitchFamily="34" charset="-128"/>
                <a:ea typeface="Yu Gothic" panose="020B0400000000000000" pitchFamily="34" charset="-128"/>
              </a:rPr>
              <a:t>月から</a:t>
            </a:r>
            <a:r>
              <a:rPr lang="en-US" altLang="ja-JP" dirty="0">
                <a:effectLst/>
                <a:latin typeface="Yu Gothic" panose="020B0400000000000000" pitchFamily="34" charset="-128"/>
                <a:ea typeface="Yu Gothic" panose="020B0400000000000000" pitchFamily="34" charset="-128"/>
              </a:rPr>
              <a:t>2023</a:t>
            </a:r>
            <a:r>
              <a:rPr lang="ja-JP" altLang="en-US">
                <a:effectLst/>
                <a:latin typeface="Yu Gothic" panose="020B0400000000000000" pitchFamily="34" charset="-128"/>
                <a:ea typeface="Yu Gothic" panose="020B0400000000000000" pitchFamily="34" charset="-128"/>
              </a:rPr>
              <a:t>年</a:t>
            </a:r>
            <a:r>
              <a:rPr lang="en-US" altLang="ja-JP" dirty="0">
                <a:effectLst/>
                <a:latin typeface="Yu Gothic" panose="020B0400000000000000" pitchFamily="34" charset="-128"/>
                <a:ea typeface="Yu Gothic" panose="020B0400000000000000" pitchFamily="34" charset="-128"/>
              </a:rPr>
              <a:t>12</a:t>
            </a:r>
            <a:r>
              <a:rPr lang="ja-JP" altLang="en-US">
                <a:effectLst/>
                <a:latin typeface="Yu Gothic" panose="020B0400000000000000" pitchFamily="34" charset="-128"/>
                <a:ea typeface="Yu Gothic" panose="020B0400000000000000" pitchFamily="34" charset="-128"/>
              </a:rPr>
              <a:t>月までの</a:t>
            </a:r>
            <a:r>
              <a:rPr lang="ja-JP" altLang="en-US">
                <a:latin typeface="Yu Gothic" panose="020B0400000000000000" pitchFamily="34" charset="-128"/>
                <a:ea typeface="Yu Gothic" panose="020B0400000000000000" pitchFamily="34" charset="-128"/>
              </a:rPr>
              <a:t>　　　　　　　　　　　　　　　　　　　　　　　　　　　　　　</a:t>
            </a:r>
            <a:r>
              <a:rPr lang="ja-JP" altLang="en-US">
                <a:effectLst/>
                <a:latin typeface="Yu Gothic" panose="020B0400000000000000" pitchFamily="34" charset="-128"/>
                <a:ea typeface="Yu Gothic" panose="020B0400000000000000" pitchFamily="34" charset="-128"/>
              </a:rPr>
              <a:t>様々なニュース記事</a:t>
            </a:r>
            <a:r>
              <a:rPr lang="en-US" altLang="ja-JP" dirty="0">
                <a:effectLst/>
                <a:latin typeface="Yu Gothic" panose="020B0400000000000000" pitchFamily="34" charset="-128"/>
                <a:ea typeface="Yu Gothic" panose="020B0400000000000000" pitchFamily="34" charset="-128"/>
              </a:rPr>
              <a:t> </a:t>
            </a:r>
            <a:r>
              <a:rPr lang="en" altLang="ja-JP" dirty="0">
                <a:effectLst/>
                <a:latin typeface="Yu Gothic" panose="020B0400000000000000" pitchFamily="34" charset="-128"/>
                <a:ea typeface="Yu Gothic" panose="020B0400000000000000" pitchFamily="34" charset="-128"/>
              </a:rPr>
              <a:t>(</a:t>
            </a:r>
            <a:r>
              <a:rPr lang="en-US" altLang="ja-JP" dirty="0">
                <a:latin typeface="Yu Gothic" panose="020B0400000000000000" pitchFamily="34" charset="-128"/>
                <a:ea typeface="Yu Gothic" panose="020B0400000000000000" pitchFamily="34" charset="-128"/>
              </a:rPr>
              <a:t>609</a:t>
            </a:r>
            <a:r>
              <a:rPr lang="ja-JP" altLang="en-US">
                <a:latin typeface="Yu Gothic" panose="020B0400000000000000" pitchFamily="34" charset="-128"/>
                <a:ea typeface="Yu Gothic" panose="020B0400000000000000" pitchFamily="34" charset="-128"/>
              </a:rPr>
              <a:t>記事</a:t>
            </a:r>
            <a:r>
              <a:rPr lang="en-US" altLang="ja-JP" dirty="0">
                <a:latin typeface="Yu Gothic" panose="020B0400000000000000" pitchFamily="34" charset="-128"/>
                <a:ea typeface="Yu Gothic" panose="020B0400000000000000" pitchFamily="34" charset="-128"/>
              </a:rPr>
              <a:t>)</a:t>
            </a:r>
          </a:p>
          <a:p>
            <a:r>
              <a:rPr lang="ja-JP" altLang="en-US">
                <a:latin typeface="Yu Gothic" panose="020B0400000000000000" pitchFamily="34" charset="-128"/>
                <a:ea typeface="Yu Gothic" panose="020B0400000000000000" pitchFamily="34" charset="-128"/>
              </a:rPr>
              <a:t>各種パラメータ</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クエリ：グローバルな</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コーパス全体を見渡す必要がある</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質問を</a:t>
            </a:r>
            <a:r>
              <a:rPr lang="en-US" altLang="ja-JP" dirty="0">
                <a:latin typeface="Yu Gothic" panose="020B0400000000000000" pitchFamily="34" charset="-128"/>
                <a:ea typeface="Yu Gothic" panose="020B0400000000000000" pitchFamily="34" charset="-128"/>
              </a:rPr>
              <a:t>125</a:t>
            </a:r>
            <a:r>
              <a:rPr lang="ja-JP" altLang="en-US">
                <a:latin typeface="Yu Gothic" panose="020B0400000000000000" pitchFamily="34" charset="-128"/>
                <a:ea typeface="Yu Gothic" panose="020B0400000000000000" pitchFamily="34" charset="-128"/>
              </a:rPr>
              <a:t>個生成</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パラメータ：閾値</a:t>
            </a:r>
            <a:r>
              <a:rPr lang="en-US" altLang="ja-JP" dirty="0">
                <a:latin typeface="Yu Gothic" panose="020B0400000000000000" pitchFamily="34" charset="-128"/>
                <a:ea typeface="Yu Gothic" panose="020B0400000000000000" pitchFamily="34" charset="-128"/>
              </a:rPr>
              <a:t>0.02, </a:t>
            </a:r>
            <a:r>
              <a:rPr lang="ja-JP" altLang="en-US">
                <a:latin typeface="Yu Gothic" panose="020B0400000000000000" pitchFamily="34" charset="-128"/>
                <a:ea typeface="Yu Gothic" panose="020B0400000000000000" pitchFamily="34" charset="-128"/>
              </a:rPr>
              <a:t>最大文書頻度</a:t>
            </a:r>
            <a:r>
              <a:rPr lang="en-US" altLang="ja-JP" dirty="0">
                <a:latin typeface="Yu Gothic" panose="020B0400000000000000" pitchFamily="34" charset="-128"/>
                <a:ea typeface="Yu Gothic" panose="020B0400000000000000" pitchFamily="34" charset="-128"/>
              </a:rPr>
              <a:t>0.5, </a:t>
            </a:r>
            <a:r>
              <a:rPr lang="ja-JP" altLang="en-US">
                <a:latin typeface="Yu Gothic" panose="020B0400000000000000" pitchFamily="34" charset="-128"/>
                <a:ea typeface="Yu Gothic" panose="020B0400000000000000" pitchFamily="34" charset="-128"/>
              </a:rPr>
              <a:t>最小出現文書数</a:t>
            </a:r>
            <a:r>
              <a:rPr lang="en-US" altLang="ja-JP" dirty="0">
                <a:latin typeface="Yu Gothic" panose="020B0400000000000000" pitchFamily="34" charset="-128"/>
                <a:ea typeface="Yu Gothic" panose="020B0400000000000000" pitchFamily="34" charset="-128"/>
              </a:rPr>
              <a:t>2</a:t>
            </a:r>
          </a:p>
          <a:p>
            <a:r>
              <a:rPr lang="ja-JP" altLang="en-US"/>
              <a:t>所要時間・トークン数の評価</a:t>
            </a:r>
            <a:endParaRPr lang="en-US" altLang="ja-JP" dirty="0"/>
          </a:p>
          <a:p>
            <a:pPr marL="800100" marR="0" lvl="1"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pPr>
            <a:r>
              <a:rPr kumimoji="1" lang="en" altLang="ja-JP" sz="2400"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rPr>
              <a:t>index</a:t>
            </a:r>
            <a:r>
              <a:rPr lang="en-US" altLang="ja-JP" dirty="0">
                <a:solidFill>
                  <a:srgbClr val="7F7F7F"/>
                </a:solidFill>
                <a:latin typeface="Yu Gothic" panose="020B0400000000000000" pitchFamily="34" charset="-128"/>
                <a:ea typeface="Yu Gothic" panose="020B0400000000000000" pitchFamily="34" charset="-128"/>
              </a:rPr>
              <a:t> (</a:t>
            </a:r>
            <a:r>
              <a:rPr lang="ja-JP" altLang="en-US">
                <a:solidFill>
                  <a:srgbClr val="7F7F7F"/>
                </a:solidFill>
                <a:latin typeface="Yu Gothic" panose="020B0400000000000000" pitchFamily="34" charset="-128"/>
                <a:ea typeface="Yu Gothic" panose="020B0400000000000000" pitchFamily="34" charset="-128"/>
              </a:rPr>
              <a:t>事前構築</a:t>
            </a:r>
            <a:r>
              <a:rPr lang="en-US" altLang="ja-JP" dirty="0">
                <a:solidFill>
                  <a:srgbClr val="7F7F7F"/>
                </a:solidFill>
                <a:latin typeface="Yu Gothic" panose="020B0400000000000000" pitchFamily="34" charset="-128"/>
                <a:ea typeface="Yu Gothic" panose="020B0400000000000000" pitchFamily="34" charset="-128"/>
              </a:rPr>
              <a:t>) </a:t>
            </a:r>
            <a:r>
              <a:rPr kumimoji="1" lang="ja-JP" altLang="en-US" sz="2400" b="0" i="0" u="none" strike="noStrike" kern="1200" cap="none" spc="0" normalizeH="0" baseline="0" noProof="0">
                <a:ln>
                  <a:noFill/>
                </a:ln>
                <a:solidFill>
                  <a:srgbClr val="7F7F7F"/>
                </a:solidFill>
                <a:effectLst/>
                <a:uLnTx/>
                <a:uFillTx/>
                <a:latin typeface="Yu Gothic" panose="020B0400000000000000" pitchFamily="34" charset="-128"/>
                <a:ea typeface="Yu Gothic" panose="020B0400000000000000" pitchFamily="34" charset="-128"/>
                <a:cs typeface="+mn-cs"/>
              </a:rPr>
              <a:t>にかかる時間・使用したトークン数を比較</a:t>
            </a:r>
            <a:endParaRPr lang="en-US" altLang="ja-JP" dirty="0">
              <a:latin typeface="Yu Gothic" panose="020B0400000000000000" pitchFamily="34" charset="-128"/>
              <a:ea typeface="Yu Gothic" panose="020B0400000000000000" pitchFamily="34" charset="-128"/>
            </a:endParaRPr>
          </a:p>
          <a:p>
            <a:r>
              <a:rPr lang="ja-JP" altLang="en-US"/>
              <a:t>得られた回答の精度を主観・客観の</a:t>
            </a:r>
            <a:r>
              <a:rPr lang="en-US" altLang="ja-JP" dirty="0"/>
              <a:t>2</a:t>
            </a:r>
            <a:r>
              <a:rPr lang="ja-JP" altLang="en-US"/>
              <a:t>観点から評価</a:t>
            </a:r>
            <a:endParaRPr lang="en-US" altLang="ja-JP" dirty="0"/>
          </a:p>
          <a:p>
            <a:pPr lvl="1"/>
            <a:r>
              <a:rPr lang="en-US" altLang="ja-JP" b="1" dirty="0">
                <a:solidFill>
                  <a:srgbClr val="C00000"/>
                </a:solidFill>
                <a:latin typeface="Yu Gothic" panose="020B0400000000000000" pitchFamily="34" charset="-128"/>
                <a:ea typeface="Yu Gothic" panose="020B0400000000000000" pitchFamily="34" charset="-128"/>
              </a:rPr>
              <a:t>LLM</a:t>
            </a:r>
            <a:r>
              <a:rPr lang="ja-JP" altLang="en-US" b="1">
                <a:solidFill>
                  <a:srgbClr val="C00000"/>
                </a:solidFill>
                <a:latin typeface="Yu Gothic" panose="020B0400000000000000" pitchFamily="34" charset="-128"/>
                <a:ea typeface="Yu Gothic" panose="020B0400000000000000" pitchFamily="34" charset="-128"/>
              </a:rPr>
              <a:t>による評価</a:t>
            </a:r>
            <a:r>
              <a:rPr lang="en-US" altLang="ja-JP" b="1" dirty="0">
                <a:solidFill>
                  <a:srgbClr val="C00000"/>
                </a:solidFill>
                <a:latin typeface="Yu Gothic" panose="020B0400000000000000" pitchFamily="34" charset="-128"/>
                <a:ea typeface="Yu Gothic" panose="020B0400000000000000" pitchFamily="34" charset="-128"/>
              </a:rPr>
              <a:t> (</a:t>
            </a:r>
            <a:r>
              <a:rPr lang="ja-JP" altLang="en-US" b="1">
                <a:solidFill>
                  <a:srgbClr val="C00000"/>
                </a:solidFill>
                <a:latin typeface="Yu Gothic" panose="020B0400000000000000" pitchFamily="34" charset="-128"/>
                <a:ea typeface="Yu Gothic" panose="020B0400000000000000" pitchFamily="34" charset="-128"/>
              </a:rPr>
              <a:t>主観</a:t>
            </a:r>
            <a:r>
              <a:rPr lang="en-US" altLang="ja-JP" b="1" dirty="0">
                <a:solidFill>
                  <a:srgbClr val="C00000"/>
                </a:solidFill>
                <a:latin typeface="Yu Gothic" panose="020B0400000000000000" pitchFamily="34" charset="-128"/>
                <a:ea typeface="Yu Gothic" panose="020B0400000000000000" pitchFamily="34" charset="-128"/>
              </a:rPr>
              <a:t>) </a:t>
            </a:r>
          </a:p>
          <a:p>
            <a:pPr lvl="2"/>
            <a:r>
              <a:rPr lang="en" altLang="ja-JP" dirty="0">
                <a:effectLst/>
                <a:latin typeface="Yu Gothic" panose="020B0400000000000000" pitchFamily="34" charset="-128"/>
                <a:ea typeface="Yu Gothic" panose="020B0400000000000000" pitchFamily="34" charset="-128"/>
              </a:rPr>
              <a:t>Comprehensiveness</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網羅性</a:t>
            </a:r>
            <a:r>
              <a:rPr lang="en-US" altLang="ja-JP" dirty="0">
                <a:latin typeface="Yu Gothic" panose="020B0400000000000000" pitchFamily="34" charset="-128"/>
                <a:ea typeface="Yu Gothic" panose="020B0400000000000000" pitchFamily="34" charset="-128"/>
              </a:rPr>
              <a:t>) , </a:t>
            </a:r>
            <a:r>
              <a:rPr lang="en" altLang="ja-JP" dirty="0">
                <a:effectLst/>
                <a:latin typeface="Yu Gothic" panose="020B0400000000000000" pitchFamily="34" charset="-128"/>
                <a:ea typeface="Yu Gothic" panose="020B0400000000000000" pitchFamily="34" charset="-128"/>
              </a:rPr>
              <a:t>Diversity</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多様性</a:t>
            </a:r>
            <a:r>
              <a:rPr lang="en-US" altLang="ja-JP" dirty="0">
                <a:effectLst/>
                <a:latin typeface="Yu Gothic" panose="020B0400000000000000" pitchFamily="34" charset="-128"/>
                <a:ea typeface="Yu Gothic" panose="020B0400000000000000" pitchFamily="34" charset="-128"/>
              </a:rPr>
              <a:t>) , </a:t>
            </a:r>
            <a:r>
              <a:rPr lang="en" altLang="ja-JP" dirty="0">
                <a:effectLst/>
                <a:latin typeface="Yu Gothic" panose="020B0400000000000000" pitchFamily="34" charset="-128"/>
                <a:ea typeface="Yu Gothic" panose="020B0400000000000000" pitchFamily="34" charset="-128"/>
              </a:rPr>
              <a:t>Empowerment</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理解補助</a:t>
            </a:r>
            <a:r>
              <a:rPr lang="en-US" altLang="ja-JP" dirty="0">
                <a:effectLst/>
                <a:latin typeface="Yu Gothic" panose="020B0400000000000000" pitchFamily="34" charset="-128"/>
                <a:ea typeface="Yu Gothic" panose="020B0400000000000000" pitchFamily="34" charset="-128"/>
              </a:rPr>
              <a:t>) , </a:t>
            </a:r>
            <a:r>
              <a:rPr lang="ja-JP" altLang="en-US">
                <a:effectLst/>
                <a:latin typeface="Yu Gothic" panose="020B0400000000000000" pitchFamily="34" charset="-128"/>
                <a:ea typeface="Yu Gothic" panose="020B0400000000000000" pitchFamily="34" charset="-128"/>
              </a:rPr>
              <a:t>　　　　　　　</a:t>
            </a:r>
            <a:r>
              <a:rPr lang="en" altLang="ja-JP" dirty="0">
                <a:effectLst/>
                <a:latin typeface="Yu Gothic" panose="020B0400000000000000" pitchFamily="34" charset="-128"/>
                <a:ea typeface="Yu Gothic" panose="020B0400000000000000" pitchFamily="34" charset="-128"/>
              </a:rPr>
              <a:t>Directness</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簡潔さ・直接性</a:t>
            </a:r>
            <a:r>
              <a:rPr lang="en-US" altLang="ja-JP" dirty="0">
                <a:effectLst/>
                <a:latin typeface="Yu Gothic" panose="020B0400000000000000" pitchFamily="34" charset="-128"/>
                <a:ea typeface="Yu Gothic" panose="020B0400000000000000" pitchFamily="34" charset="-128"/>
              </a:rPr>
              <a:t>) </a:t>
            </a:r>
            <a:r>
              <a:rPr lang="ja-JP" altLang="en-US">
                <a:effectLst/>
                <a:latin typeface="Yu Gothic" panose="020B0400000000000000" pitchFamily="34" charset="-128"/>
                <a:ea typeface="Yu Gothic" panose="020B0400000000000000" pitchFamily="34" charset="-128"/>
              </a:rPr>
              <a:t>の</a:t>
            </a:r>
            <a:r>
              <a:rPr lang="en-US" altLang="ja-JP" dirty="0">
                <a:effectLst/>
                <a:latin typeface="Yu Gothic" panose="020B0400000000000000" pitchFamily="34" charset="-128"/>
                <a:ea typeface="Yu Gothic" panose="020B0400000000000000" pitchFamily="34" charset="-128"/>
              </a:rPr>
              <a:t>4</a:t>
            </a:r>
            <a:r>
              <a:rPr lang="ja-JP" altLang="en-US">
                <a:latin typeface="Yu Gothic" panose="020B0400000000000000" pitchFamily="34" charset="-128"/>
                <a:ea typeface="Yu Gothic" panose="020B0400000000000000" pitchFamily="34" charset="-128"/>
              </a:rPr>
              <a:t>評価軸に対し</a:t>
            </a:r>
            <a:r>
              <a:rPr lang="en-US" altLang="ja-JP" dirty="0">
                <a:latin typeface="Yu Gothic" panose="020B0400000000000000" pitchFamily="34" charset="-128"/>
                <a:ea typeface="Yu Gothic" panose="020B0400000000000000" pitchFamily="34" charset="-128"/>
              </a:rPr>
              <a:t>,</a:t>
            </a:r>
            <a:r>
              <a:rPr lang="ja-JP" altLang="en-US">
                <a:latin typeface="Yu Gothic" panose="020B0400000000000000" pitchFamily="34" charset="-128"/>
                <a:ea typeface="Yu Gothic" panose="020B0400000000000000" pitchFamily="34" charset="-128"/>
              </a:rPr>
              <a:t> 各質問に対し</a:t>
            </a:r>
            <a:r>
              <a:rPr lang="en-US" altLang="ja-JP" dirty="0">
                <a:latin typeface="Yu Gothic" panose="020B0400000000000000" pitchFamily="34" charset="-128"/>
                <a:ea typeface="Yu Gothic" panose="020B0400000000000000" pitchFamily="34" charset="-128"/>
              </a:rPr>
              <a:t>5</a:t>
            </a:r>
            <a:r>
              <a:rPr lang="ja-JP" altLang="en-US">
                <a:latin typeface="Yu Gothic" panose="020B0400000000000000" pitchFamily="34" charset="-128"/>
                <a:ea typeface="Yu Gothic" panose="020B0400000000000000" pitchFamily="34" charset="-128"/>
              </a:rPr>
              <a:t>回ずつ</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がどちらがいいか判定</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　　　　　　　　　　　全</a:t>
            </a:r>
            <a:r>
              <a:rPr lang="en-US" altLang="ja-JP" dirty="0">
                <a:latin typeface="Yu Gothic" panose="020B0400000000000000" pitchFamily="34" charset="-128"/>
                <a:ea typeface="Yu Gothic" panose="020B0400000000000000" pitchFamily="34" charset="-128"/>
              </a:rPr>
              <a:t>625</a:t>
            </a:r>
            <a:r>
              <a:rPr lang="ja-JP" altLang="en-US">
                <a:latin typeface="Yu Gothic" panose="020B0400000000000000" pitchFamily="34" charset="-128"/>
                <a:ea typeface="Yu Gothic" panose="020B0400000000000000" pitchFamily="34" charset="-128"/>
              </a:rPr>
              <a:t>回の判定で提案手法の方がいいと判定した割合を算出</a:t>
            </a:r>
            <a:endParaRPr lang="en-US" altLang="ja-JP" dirty="0">
              <a:latin typeface="Yu Gothic" panose="020B0400000000000000" pitchFamily="34" charset="-128"/>
              <a:ea typeface="Yu Gothic" panose="020B0400000000000000" pitchFamily="34" charset="-128"/>
            </a:endParaRPr>
          </a:p>
          <a:p>
            <a:pPr lvl="1"/>
            <a:r>
              <a:rPr lang="en" altLang="ja-JP" b="1" dirty="0">
                <a:solidFill>
                  <a:srgbClr val="C00000"/>
                </a:solidFill>
                <a:latin typeface="Yu Gothic" panose="020B0400000000000000" pitchFamily="34" charset="-128"/>
                <a:ea typeface="Yu Gothic" panose="020B0400000000000000" pitchFamily="34" charset="-128"/>
              </a:rPr>
              <a:t>Claim</a:t>
            </a:r>
            <a:r>
              <a:rPr lang="en" altLang="ja-JP" b="1" baseline="30000" dirty="0">
                <a:solidFill>
                  <a:srgbClr val="C00000"/>
                </a:solidFill>
                <a:latin typeface="Yu Gothic" panose="020B0400000000000000" pitchFamily="34" charset="-128"/>
                <a:ea typeface="Yu Gothic" panose="020B0400000000000000" pitchFamily="34" charset="-128"/>
              </a:rPr>
              <a:t>[4]</a:t>
            </a:r>
            <a:r>
              <a:rPr lang="ja-JP" altLang="en-US" b="1">
                <a:solidFill>
                  <a:srgbClr val="C00000"/>
                </a:solidFill>
                <a:latin typeface="Yu Gothic" panose="020B0400000000000000" pitchFamily="34" charset="-128"/>
                <a:ea typeface="Yu Gothic" panose="020B0400000000000000" pitchFamily="34" charset="-128"/>
              </a:rPr>
              <a:t>ベースの評価</a:t>
            </a:r>
            <a:r>
              <a:rPr lang="en-US" altLang="ja-JP" b="1" dirty="0">
                <a:solidFill>
                  <a:srgbClr val="C00000"/>
                </a:solidFill>
                <a:latin typeface="Yu Gothic" panose="020B0400000000000000" pitchFamily="34" charset="-128"/>
                <a:ea typeface="Yu Gothic" panose="020B0400000000000000" pitchFamily="34" charset="-128"/>
              </a:rPr>
              <a:t> (</a:t>
            </a:r>
            <a:r>
              <a:rPr lang="ja-JP" altLang="en-US" b="1">
                <a:solidFill>
                  <a:srgbClr val="C00000"/>
                </a:solidFill>
                <a:latin typeface="Yu Gothic" panose="020B0400000000000000" pitchFamily="34" charset="-128"/>
                <a:ea typeface="Yu Gothic" panose="020B0400000000000000" pitchFamily="34" charset="-128"/>
              </a:rPr>
              <a:t>客観</a:t>
            </a:r>
            <a:r>
              <a:rPr lang="en-US" altLang="ja-JP" b="1" dirty="0">
                <a:solidFill>
                  <a:srgbClr val="C00000"/>
                </a:solidFill>
                <a:latin typeface="Yu Gothic" panose="020B0400000000000000" pitchFamily="34" charset="-128"/>
                <a:ea typeface="Yu Gothic" panose="020B0400000000000000" pitchFamily="34" charset="-128"/>
              </a:rPr>
              <a:t>) </a:t>
            </a:r>
          </a:p>
          <a:p>
            <a:pPr lvl="2"/>
            <a:r>
              <a:rPr lang="en" altLang="ja-JP" dirty="0">
                <a:effectLst/>
                <a:latin typeface="Yu Gothic" panose="020B0400000000000000" pitchFamily="34" charset="-128"/>
                <a:ea typeface="Yu Gothic" panose="020B0400000000000000" pitchFamily="34" charset="-128"/>
              </a:rPr>
              <a:t>Claim (</a:t>
            </a:r>
            <a:r>
              <a:rPr lang="ja-JP" altLang="en-US">
                <a:effectLst/>
                <a:latin typeface="Yu Gothic" panose="020B0400000000000000" pitchFamily="34" charset="-128"/>
                <a:ea typeface="Yu Gothic" panose="020B0400000000000000" pitchFamily="34" charset="-128"/>
              </a:rPr>
              <a:t>事実に基づく主張</a:t>
            </a:r>
            <a:r>
              <a:rPr lang="en-US" altLang="ja-JP" dirty="0">
                <a:effectLst/>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：検証可能な事実を明示的に示す文のこと</a:t>
            </a:r>
          </a:p>
          <a:p>
            <a:pPr lvl="2"/>
            <a:r>
              <a:rPr lang="en" altLang="ja-JP" dirty="0">
                <a:effectLst/>
                <a:latin typeface="Yu Gothic" panose="020B0400000000000000" pitchFamily="34" charset="-128"/>
                <a:ea typeface="Yu Gothic" panose="020B0400000000000000" pitchFamily="34" charset="-128"/>
              </a:rPr>
              <a:t>Comprehensiveness</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網羅性</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：各回答から抽出された</a:t>
            </a:r>
            <a:r>
              <a:rPr lang="en-US" altLang="ja-JP" dirty="0">
                <a:latin typeface="Yu Gothic" panose="020B0400000000000000" pitchFamily="34" charset="-128"/>
                <a:ea typeface="Yu Gothic" panose="020B0400000000000000" pitchFamily="34" charset="-128"/>
              </a:rPr>
              <a:t>Claim</a:t>
            </a:r>
            <a:r>
              <a:rPr lang="ja-JP" altLang="en-US">
                <a:latin typeface="Yu Gothic" panose="020B0400000000000000" pitchFamily="34" charset="-128"/>
                <a:ea typeface="Yu Gothic" panose="020B0400000000000000" pitchFamily="34" charset="-128"/>
              </a:rPr>
              <a:t>数の平均値</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　　　　　　　　　　</a:t>
            </a:r>
            <a:r>
              <a:rPr lang="en" altLang="ja-JP" dirty="0">
                <a:effectLst/>
                <a:latin typeface="Yu Gothic" panose="020B0400000000000000" pitchFamily="34" charset="-128"/>
                <a:ea typeface="Yu Gothic" panose="020B0400000000000000" pitchFamily="34" charset="-128"/>
              </a:rPr>
              <a:t>Diversity</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多様性</a:t>
            </a:r>
            <a:r>
              <a:rPr lang="en-US" altLang="ja-JP" dirty="0">
                <a:effectLst/>
                <a:latin typeface="Yu Gothic" panose="020B0400000000000000" pitchFamily="34" charset="-128"/>
                <a:ea typeface="Yu Gothic" panose="020B0400000000000000" pitchFamily="34" charset="-128"/>
              </a:rPr>
              <a:t>) </a:t>
            </a:r>
            <a:r>
              <a:rPr lang="ja-JP" altLang="en-US">
                <a:effectLst/>
                <a:latin typeface="Yu Gothic" panose="020B0400000000000000" pitchFamily="34" charset="-128"/>
                <a:ea typeface="Yu Gothic" panose="020B0400000000000000" pitchFamily="34" charset="-128"/>
              </a:rPr>
              <a:t>：各回答</a:t>
            </a:r>
            <a:r>
              <a:rPr lang="ja-JP" altLang="en-US">
                <a:latin typeface="Yu Gothic" panose="020B0400000000000000" pitchFamily="34" charset="-128"/>
                <a:ea typeface="Yu Gothic" panose="020B0400000000000000" pitchFamily="34" charset="-128"/>
              </a:rPr>
              <a:t>の</a:t>
            </a:r>
            <a:r>
              <a:rPr lang="en" altLang="ja-JP" dirty="0">
                <a:effectLst/>
                <a:latin typeface="Yu Gothic" panose="020B0400000000000000" pitchFamily="34" charset="-128"/>
                <a:ea typeface="Yu Gothic" panose="020B0400000000000000" pitchFamily="34" charset="-128"/>
              </a:rPr>
              <a:t>Claim</a:t>
            </a:r>
            <a:r>
              <a:rPr lang="ja-JP" altLang="en-US">
                <a:effectLst/>
                <a:latin typeface="Yu Gothic" panose="020B0400000000000000" pitchFamily="34" charset="-128"/>
                <a:ea typeface="Yu Gothic" panose="020B0400000000000000" pitchFamily="34" charset="-128"/>
              </a:rPr>
              <a:t>をクラスタリング</a:t>
            </a:r>
            <a:r>
              <a:rPr lang="en-US" altLang="ja-JP" baseline="30000" dirty="0">
                <a:latin typeface="Yu Gothic" panose="020B0400000000000000" pitchFamily="34" charset="-128"/>
                <a:ea typeface="Yu Gothic" panose="020B0400000000000000" pitchFamily="34" charset="-128"/>
              </a:rPr>
              <a:t>[5][6]</a:t>
            </a:r>
            <a:r>
              <a:rPr lang="en-US" altLang="ja-JP" dirty="0">
                <a:effectLst/>
                <a:latin typeface="Yu Gothic" panose="020B0400000000000000" pitchFamily="34" charset="-128"/>
                <a:ea typeface="Yu Gothic" panose="020B0400000000000000" pitchFamily="34" charset="-128"/>
              </a:rPr>
              <a:t>, </a:t>
            </a:r>
            <a:r>
              <a:rPr lang="ja-JP" altLang="en-US">
                <a:effectLst/>
                <a:latin typeface="Yu Gothic" panose="020B0400000000000000" pitchFamily="34" charset="-128"/>
                <a:ea typeface="Yu Gothic" panose="020B0400000000000000" pitchFamily="34" charset="-128"/>
              </a:rPr>
              <a:t>クラスタ数の平均値</a:t>
            </a:r>
            <a:r>
              <a:rPr lang="en-US" altLang="ja-JP" dirty="0">
                <a:effectLst/>
                <a:latin typeface="Yu Gothic" panose="020B0400000000000000" pitchFamily="34" charset="-128"/>
                <a:ea typeface="Yu Gothic" panose="020B0400000000000000" pitchFamily="34" charset="-128"/>
              </a:rPr>
              <a:t>, </a:t>
            </a:r>
            <a:r>
              <a:rPr lang="ja-JP" altLang="en-US">
                <a:effectLst/>
                <a:latin typeface="Yu Gothic" panose="020B0400000000000000" pitchFamily="34" charset="-128"/>
                <a:ea typeface="Yu Gothic" panose="020B0400000000000000" pitchFamily="34" charset="-128"/>
              </a:rPr>
              <a:t>の</a:t>
            </a:r>
            <a:r>
              <a:rPr lang="en-US" altLang="ja-JP" dirty="0">
                <a:effectLst/>
                <a:latin typeface="Yu Gothic" panose="020B0400000000000000" pitchFamily="34" charset="-128"/>
                <a:ea typeface="Yu Gothic" panose="020B0400000000000000" pitchFamily="34" charset="-128"/>
              </a:rPr>
              <a:t>2</a:t>
            </a:r>
            <a:r>
              <a:rPr lang="ja-JP" altLang="en-US">
                <a:effectLst/>
                <a:latin typeface="Yu Gothic" panose="020B0400000000000000" pitchFamily="34" charset="-128"/>
                <a:ea typeface="Yu Gothic" panose="020B0400000000000000" pitchFamily="34" charset="-128"/>
              </a:rPr>
              <a:t>つの客観指標で比較</a:t>
            </a:r>
            <a:endParaRPr lang="en-US" altLang="ja-JP"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841222ED-7A4F-170F-9D7E-4561D539091B}"/>
              </a:ext>
            </a:extLst>
          </p:cNvPr>
          <p:cNvSpPr>
            <a:spLocks noGrp="1"/>
          </p:cNvSpPr>
          <p:nvPr>
            <p:ph type="body" sz="quarter" idx="11"/>
          </p:nvPr>
        </p:nvSpPr>
        <p:spPr/>
        <p:txBody>
          <a:bodyPr>
            <a:normAutofit fontScale="92500" lnSpcReduction="20000"/>
          </a:bodyPr>
          <a:lstStyle/>
          <a:p>
            <a:r>
              <a:rPr kumimoji="1" lang="ja-JP" altLang="en-US"/>
              <a:t>評価指標</a:t>
            </a:r>
            <a:endParaRPr kumimoji="1" lang="en" altLang="ja-JP" dirty="0"/>
          </a:p>
        </p:txBody>
      </p:sp>
      <p:sp>
        <p:nvSpPr>
          <p:cNvPr id="10" name="テキスト ボックス 9">
            <a:extLst>
              <a:ext uri="{FF2B5EF4-FFF2-40B4-BE49-F238E27FC236}">
                <a16:creationId xmlns:a16="http://schemas.microsoft.com/office/drawing/2014/main" id="{9568D249-FE93-48A1-FA77-8C82227506AE}"/>
              </a:ext>
            </a:extLst>
          </p:cNvPr>
          <p:cNvSpPr txBox="1"/>
          <p:nvPr/>
        </p:nvSpPr>
        <p:spPr>
          <a:xfrm>
            <a:off x="6095999" y="1055754"/>
            <a:ext cx="6101542" cy="2043573"/>
          </a:xfrm>
          <a:prstGeom prst="rect">
            <a:avLst/>
          </a:prstGeom>
          <a:noFill/>
        </p:spPr>
        <p:txBody>
          <a:bodyPr wrap="square">
            <a:spAutoFit/>
          </a:bodyPr>
          <a:lstStyle/>
          <a:p>
            <a:pPr marL="457200" marR="0" lvl="0" indent="-457200" algn="l" defTabSz="914400" rtl="0" eaLnBrk="1" fontAlgn="auto" latinLnBrk="0" hangingPunct="1">
              <a:lnSpc>
                <a:spcPct val="110000"/>
              </a:lnSpc>
              <a:spcBef>
                <a:spcPts val="1800"/>
              </a:spcBef>
              <a:spcAft>
                <a:spcPts val="0"/>
              </a:spcAft>
              <a:buClr>
                <a:srgbClr val="3E9288"/>
              </a:buClr>
              <a:buSzTx/>
              <a:buFont typeface="Wingdings" panose="05000000000000000000" pitchFamily="2" charset="2"/>
              <a:buChar char="l"/>
              <a:tabLst/>
              <a:defRPr/>
            </a:pPr>
            <a:r>
              <a:rPr kumimoji="1" lang="ja-JP" altLang="en-US" sz="2400" b="1" i="0" u="none" strike="noStrike" kern="1200" cap="none" spc="0" normalizeH="0" baseline="0" noProof="0">
                <a:ln>
                  <a:noFill/>
                </a:ln>
                <a:solidFill>
                  <a:srgbClr val="4D4D4D"/>
                </a:solidFill>
                <a:effectLst/>
                <a:uLnTx/>
                <a:uFillTx/>
                <a:latin typeface="游ゴシック" panose="020B0400000000000000" pitchFamily="50" charset="-128"/>
                <a:ea typeface="游ゴシック" panose="020B0400000000000000" pitchFamily="50" charset="-128"/>
                <a:cs typeface="+mn-cs"/>
              </a:rPr>
              <a:t>実験環境</a:t>
            </a:r>
            <a:endParaRPr kumimoji="1" lang="en-US" altLang="ja-JP" sz="2400" b="1" i="0" u="none" strike="noStrike" kern="1200" cap="none" spc="0" normalizeH="0" baseline="0" noProof="0" dirty="0">
              <a:ln>
                <a:noFill/>
              </a:ln>
              <a:solidFill>
                <a:srgbClr val="4D4D4D"/>
              </a:solidFill>
              <a:effectLst/>
              <a:uLnTx/>
              <a:uFillTx/>
              <a:latin typeface="游ゴシック" panose="020B0400000000000000" pitchFamily="50" charset="-128"/>
              <a:ea typeface="游ゴシック" panose="020B0400000000000000" pitchFamily="50" charset="-128"/>
              <a:cs typeface="+mn-cs"/>
            </a:endParaRPr>
          </a:p>
          <a:p>
            <a:pPr marL="800100" marR="0" lvl="1"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pPr>
            <a:r>
              <a:rPr kumimoji="1" lang="en-US" altLang="ja-JP"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rPr>
              <a:t>MacOS Sequoia 15.5 Apple M3 16GB</a:t>
            </a:r>
          </a:p>
          <a:p>
            <a:pPr marL="800100" marR="0" lvl="1"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pPr>
            <a:r>
              <a:rPr kumimoji="1" lang="en-US" altLang="ja-JP"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rPr>
              <a:t>LLM</a:t>
            </a:r>
            <a:r>
              <a:rPr kumimoji="1" lang="ja-JP" altLang="en-US" b="0" i="0" u="none" strike="noStrike" kern="1200" cap="none" spc="0" normalizeH="0" baseline="0" noProof="0">
                <a:ln>
                  <a:noFill/>
                </a:ln>
                <a:solidFill>
                  <a:srgbClr val="7F7F7F"/>
                </a:solidFill>
                <a:effectLst/>
                <a:uLnTx/>
                <a:uFillTx/>
                <a:latin typeface="Yu Gothic" panose="020B0400000000000000" pitchFamily="34" charset="-128"/>
                <a:ea typeface="Yu Gothic" panose="020B0400000000000000" pitchFamily="34" charset="-128"/>
                <a:cs typeface="+mn-cs"/>
              </a:rPr>
              <a:t>：</a:t>
            </a:r>
            <a:r>
              <a:rPr kumimoji="1" lang="en-US" altLang="ja-JP"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rPr>
              <a:t>gpt-4o-mini</a:t>
            </a:r>
          </a:p>
          <a:p>
            <a:pPr marL="800100" marR="0" lvl="1"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pPr>
            <a:r>
              <a:rPr kumimoji="1" lang="ja-JP" altLang="en-US" b="0" i="0" u="none" strike="noStrike" kern="1200" cap="none" spc="0" normalizeH="0" baseline="0" noProof="0">
                <a:ln>
                  <a:noFill/>
                </a:ln>
                <a:solidFill>
                  <a:srgbClr val="7F7F7F"/>
                </a:solidFill>
                <a:effectLst/>
                <a:uLnTx/>
                <a:uFillTx/>
                <a:latin typeface="Yu Gothic" panose="020B0400000000000000" pitchFamily="34" charset="-128"/>
                <a:ea typeface="Yu Gothic" panose="020B0400000000000000" pitchFamily="34" charset="-128"/>
                <a:cs typeface="+mn-cs"/>
              </a:rPr>
              <a:t>埋め込みモデル： </a:t>
            </a:r>
            <a:r>
              <a:rPr kumimoji="1" lang="en-US" altLang="ja-JP"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rPr>
              <a:t>text-embedding-3-small</a:t>
            </a:r>
          </a:p>
          <a:p>
            <a:pPr marL="800100" marR="0" lvl="1"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pPr>
            <a:endParaRPr kumimoji="1" lang="en-US" altLang="ja-JP"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endParaRPr>
          </a:p>
          <a:p>
            <a:pPr marL="800100" marR="0" lvl="1"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a:pPr>
            <a:endParaRPr kumimoji="1" lang="en" altLang="ja-JP" sz="2000" b="0" i="0" u="none" strike="noStrike" kern="1200" cap="none" spc="0" normalizeH="0" baseline="0" noProof="0" dirty="0">
              <a:ln>
                <a:noFill/>
              </a:ln>
              <a:solidFill>
                <a:srgbClr val="7F7F7F"/>
              </a:solidFill>
              <a:effectLst/>
              <a:uLnTx/>
              <a:uFillTx/>
              <a:latin typeface="Yu Gothic" panose="020B0400000000000000" pitchFamily="34" charset="-128"/>
              <a:ea typeface="Yu Gothic" panose="020B0400000000000000" pitchFamily="34" charset="-128"/>
              <a:cs typeface="+mn-cs"/>
            </a:endParaRPr>
          </a:p>
        </p:txBody>
      </p:sp>
      <p:sp>
        <p:nvSpPr>
          <p:cNvPr id="5" name="テキスト ボックス 4">
            <a:extLst>
              <a:ext uri="{FF2B5EF4-FFF2-40B4-BE49-F238E27FC236}">
                <a16:creationId xmlns:a16="http://schemas.microsoft.com/office/drawing/2014/main" id="{2C44746C-94BF-2711-CDC5-2585F0F02A71}"/>
              </a:ext>
            </a:extLst>
          </p:cNvPr>
          <p:cNvSpPr txBox="1"/>
          <p:nvPr/>
        </p:nvSpPr>
        <p:spPr>
          <a:xfrm>
            <a:off x="3737809" y="369600"/>
            <a:ext cx="9699209" cy="338554"/>
          </a:xfrm>
          <a:prstGeom prst="rect">
            <a:avLst/>
          </a:prstGeom>
          <a:noFill/>
        </p:spPr>
        <p:txBody>
          <a:bodyPr wrap="square">
            <a:spAutoFit/>
          </a:bodyPr>
          <a:lstStyle/>
          <a:p>
            <a:r>
              <a:rPr kumimoji="1" lang="en" altLang="ja-JP" sz="800" dirty="0">
                <a:solidFill>
                  <a:schemeClr val="bg2"/>
                </a:solidFill>
              </a:rPr>
              <a:t>[3] </a:t>
            </a:r>
            <a:r>
              <a:rPr kumimoji="1" lang="en" altLang="ja-JP" sz="800" dirty="0" err="1">
                <a:solidFill>
                  <a:schemeClr val="bg2"/>
                </a:solidFill>
              </a:rPr>
              <a:t>Yixuan</a:t>
            </a:r>
            <a:r>
              <a:rPr kumimoji="1" lang="en" altLang="ja-JP" sz="800" dirty="0">
                <a:solidFill>
                  <a:schemeClr val="bg2"/>
                </a:solidFill>
              </a:rPr>
              <a:t> Tang and Yi Yang. </a:t>
            </a:r>
            <a:r>
              <a:rPr kumimoji="1" lang="en" altLang="ja-JP" sz="800" dirty="0" err="1">
                <a:solidFill>
                  <a:schemeClr val="bg2"/>
                </a:solidFill>
              </a:rPr>
              <a:t>Multihop</a:t>
            </a:r>
            <a:r>
              <a:rPr kumimoji="1" lang="en" altLang="ja-JP" sz="800" dirty="0">
                <a:solidFill>
                  <a:schemeClr val="bg2"/>
                </a:solidFill>
              </a:rPr>
              <a:t>-RAG: Benchmarking retrieval-augmented generation for </a:t>
            </a:r>
            <a:r>
              <a:rPr kumimoji="1" lang="en" altLang="ja-JP" sz="800" dirty="0" err="1">
                <a:solidFill>
                  <a:schemeClr val="bg2"/>
                </a:solidFill>
              </a:rPr>
              <a:t>multihop</a:t>
            </a:r>
            <a:r>
              <a:rPr lang="en" altLang="ja-JP" sz="800" dirty="0">
                <a:solidFill>
                  <a:schemeClr val="bg2"/>
                </a:solidFill>
              </a:rPr>
              <a:t> </a:t>
            </a:r>
            <a:r>
              <a:rPr kumimoji="1" lang="en" altLang="ja-JP" sz="800" dirty="0">
                <a:solidFill>
                  <a:schemeClr val="bg2"/>
                </a:solidFill>
              </a:rPr>
              <a:t>queries. In First Conference on Language Modeling, 2024.</a:t>
            </a:r>
          </a:p>
          <a:p>
            <a:r>
              <a:rPr kumimoji="1" lang="en" altLang="ja-JP" sz="800" dirty="0">
                <a:solidFill>
                  <a:schemeClr val="bg2"/>
                </a:solidFill>
              </a:rPr>
              <a:t>[4] Dasha </a:t>
            </a:r>
            <a:r>
              <a:rPr kumimoji="1" lang="en" altLang="ja-JP" sz="800" dirty="0" err="1">
                <a:solidFill>
                  <a:schemeClr val="bg2"/>
                </a:solidFill>
              </a:rPr>
              <a:t>Metropolitansky</a:t>
            </a:r>
            <a:r>
              <a:rPr kumimoji="1" lang="en" altLang="ja-JP" sz="800" dirty="0">
                <a:solidFill>
                  <a:schemeClr val="bg2"/>
                </a:solidFill>
              </a:rPr>
              <a:t> and Jonathan Larson. Towards effective extraction and evaluation of factual claims. In ACL 2025 Main Conference, February 2025.</a:t>
            </a:r>
          </a:p>
        </p:txBody>
      </p:sp>
      <p:sp>
        <p:nvSpPr>
          <p:cNvPr id="6" name="テキスト ボックス 5">
            <a:extLst>
              <a:ext uri="{FF2B5EF4-FFF2-40B4-BE49-F238E27FC236}">
                <a16:creationId xmlns:a16="http://schemas.microsoft.com/office/drawing/2014/main" id="{F7E03AB7-1146-1B34-5A6C-9832416BC799}"/>
              </a:ext>
            </a:extLst>
          </p:cNvPr>
          <p:cNvSpPr txBox="1"/>
          <p:nvPr/>
        </p:nvSpPr>
        <p:spPr>
          <a:xfrm>
            <a:off x="8390021" y="3429000"/>
            <a:ext cx="3591404" cy="1323439"/>
          </a:xfrm>
          <a:prstGeom prst="rect">
            <a:avLst/>
          </a:prstGeom>
          <a:noFill/>
        </p:spPr>
        <p:txBody>
          <a:bodyPr wrap="square">
            <a:spAutoFit/>
          </a:bodyPr>
          <a:lstStyle/>
          <a:p>
            <a:r>
              <a:rPr lang="en" altLang="ja-JP" sz="800" dirty="0">
                <a:solidFill>
                  <a:schemeClr val="bg2"/>
                </a:solidFill>
              </a:rPr>
              <a:t>[5] Vishakh </a:t>
            </a:r>
            <a:r>
              <a:rPr lang="en" altLang="ja-JP" sz="800" dirty="0" err="1">
                <a:solidFill>
                  <a:schemeClr val="bg2"/>
                </a:solidFill>
              </a:rPr>
              <a:t>Padmakumar</a:t>
            </a:r>
            <a:r>
              <a:rPr lang="en" altLang="ja-JP" sz="800" dirty="0">
                <a:solidFill>
                  <a:schemeClr val="bg2"/>
                </a:solidFill>
              </a:rPr>
              <a:t> and He He. Does writing with language models reduce content diversity? In B. Kim, Y. Yue, S. Chaudhuri, K. </a:t>
            </a:r>
            <a:r>
              <a:rPr lang="en" altLang="ja-JP" sz="800" dirty="0" err="1">
                <a:solidFill>
                  <a:schemeClr val="bg2"/>
                </a:solidFill>
              </a:rPr>
              <a:t>Fragkiadaki</a:t>
            </a:r>
            <a:r>
              <a:rPr lang="en" altLang="ja-JP" sz="800" dirty="0">
                <a:solidFill>
                  <a:schemeClr val="bg2"/>
                </a:solidFill>
              </a:rPr>
              <a:t>, M. Khan, and Y. Sun, editors, International Conference on Learning Representations, volume 2024, pages 642–669, 2024.</a:t>
            </a:r>
            <a:endParaRPr lang="en-US" altLang="ja-JP" sz="800" dirty="0">
              <a:solidFill>
                <a:schemeClr val="bg2"/>
              </a:solidFill>
            </a:endParaRPr>
          </a:p>
          <a:p>
            <a:r>
              <a:rPr lang="en-US" altLang="ja-JP" sz="800" dirty="0">
                <a:solidFill>
                  <a:schemeClr val="bg2"/>
                </a:solidFill>
              </a:rPr>
              <a:t>[6] Fabian </a:t>
            </a:r>
            <a:r>
              <a:rPr lang="en-US" altLang="ja-JP" sz="800" dirty="0" err="1">
                <a:solidFill>
                  <a:schemeClr val="bg2"/>
                </a:solidFill>
              </a:rPr>
              <a:t>Pedregosa</a:t>
            </a:r>
            <a:r>
              <a:rPr lang="en-US" altLang="ja-JP" sz="800" dirty="0">
                <a:solidFill>
                  <a:schemeClr val="bg2"/>
                </a:solidFill>
              </a:rPr>
              <a:t>, </a:t>
            </a:r>
            <a:r>
              <a:rPr lang="en-US" altLang="ja-JP" sz="800" dirty="0" err="1">
                <a:solidFill>
                  <a:schemeClr val="bg2"/>
                </a:solidFill>
              </a:rPr>
              <a:t>GaÅNel</a:t>
            </a:r>
            <a:r>
              <a:rPr lang="en-US" altLang="ja-JP" sz="800" dirty="0">
                <a:solidFill>
                  <a:schemeClr val="bg2"/>
                </a:solidFill>
              </a:rPr>
              <a:t> </a:t>
            </a:r>
            <a:r>
              <a:rPr lang="en-US" altLang="ja-JP" sz="800" dirty="0" err="1">
                <a:solidFill>
                  <a:schemeClr val="bg2"/>
                </a:solidFill>
              </a:rPr>
              <a:t>Varoquaux</a:t>
            </a:r>
            <a:r>
              <a:rPr lang="en-US" altLang="ja-JP" sz="800" dirty="0">
                <a:solidFill>
                  <a:schemeClr val="bg2"/>
                </a:solidFill>
              </a:rPr>
              <a:t>, Alexandre </a:t>
            </a:r>
            <a:r>
              <a:rPr lang="en-US" altLang="ja-JP" sz="800" dirty="0" err="1">
                <a:solidFill>
                  <a:schemeClr val="bg2"/>
                </a:solidFill>
              </a:rPr>
              <a:t>Gramfort</a:t>
            </a:r>
            <a:r>
              <a:rPr lang="en-US" altLang="ja-JP" sz="800" dirty="0">
                <a:solidFill>
                  <a:schemeClr val="bg2"/>
                </a:solidFill>
              </a:rPr>
              <a:t>, Vincent Michel, Bertrand </a:t>
            </a:r>
            <a:r>
              <a:rPr lang="en-US" altLang="ja-JP" sz="800" dirty="0" err="1">
                <a:solidFill>
                  <a:schemeClr val="bg2"/>
                </a:solidFill>
              </a:rPr>
              <a:t>Thirion</a:t>
            </a:r>
            <a:r>
              <a:rPr lang="en-US" altLang="ja-JP" sz="800" dirty="0">
                <a:solidFill>
                  <a:schemeClr val="bg2"/>
                </a:solidFill>
              </a:rPr>
              <a:t>, Olivier Grisel, Mathieu Blondel, Peter </a:t>
            </a:r>
            <a:r>
              <a:rPr lang="en-US" altLang="ja-JP" sz="800" dirty="0" err="1">
                <a:solidFill>
                  <a:schemeClr val="bg2"/>
                </a:solidFill>
              </a:rPr>
              <a:t>Prettenhofer</a:t>
            </a:r>
            <a:r>
              <a:rPr lang="en-US" altLang="ja-JP" sz="800" dirty="0">
                <a:solidFill>
                  <a:schemeClr val="bg2"/>
                </a:solidFill>
              </a:rPr>
              <a:t>, </a:t>
            </a:r>
            <a:r>
              <a:rPr lang="en-US" altLang="ja-JP" sz="800" dirty="0" err="1">
                <a:solidFill>
                  <a:schemeClr val="bg2"/>
                </a:solidFill>
              </a:rPr>
              <a:t>RonWeiss</a:t>
            </a:r>
            <a:r>
              <a:rPr lang="en-US" altLang="ja-JP" sz="800" dirty="0">
                <a:solidFill>
                  <a:schemeClr val="bg2"/>
                </a:solidFill>
              </a:rPr>
              <a:t>, Vincent </a:t>
            </a:r>
            <a:r>
              <a:rPr lang="en-US" altLang="ja-JP" sz="800" dirty="0" err="1">
                <a:solidFill>
                  <a:schemeClr val="bg2"/>
                </a:solidFill>
              </a:rPr>
              <a:t>Dubourg</a:t>
            </a:r>
            <a:r>
              <a:rPr lang="en-US" altLang="ja-JP" sz="800" dirty="0">
                <a:solidFill>
                  <a:schemeClr val="bg2"/>
                </a:solidFill>
              </a:rPr>
              <a:t>, Jake </a:t>
            </a:r>
            <a:r>
              <a:rPr lang="en-US" altLang="ja-JP" sz="800" dirty="0" err="1">
                <a:solidFill>
                  <a:schemeClr val="bg2"/>
                </a:solidFill>
              </a:rPr>
              <a:t>Vanderplas</a:t>
            </a:r>
            <a:r>
              <a:rPr lang="en-US" altLang="ja-JP" sz="800" dirty="0">
                <a:solidFill>
                  <a:schemeClr val="bg2"/>
                </a:solidFill>
              </a:rPr>
              <a:t>, Alexandre Passos, David </a:t>
            </a:r>
            <a:r>
              <a:rPr lang="en-US" altLang="ja-JP" sz="800" dirty="0" err="1">
                <a:solidFill>
                  <a:schemeClr val="bg2"/>
                </a:solidFill>
              </a:rPr>
              <a:t>Cournapeau</a:t>
            </a:r>
            <a:r>
              <a:rPr lang="en-US" altLang="ja-JP" sz="800" dirty="0">
                <a:solidFill>
                  <a:schemeClr val="bg2"/>
                </a:solidFill>
              </a:rPr>
              <a:t>, Matthieu </a:t>
            </a:r>
            <a:r>
              <a:rPr lang="en-US" altLang="ja-JP" sz="800" dirty="0" err="1">
                <a:solidFill>
                  <a:schemeClr val="bg2"/>
                </a:solidFill>
              </a:rPr>
              <a:t>Brucher</a:t>
            </a:r>
            <a:r>
              <a:rPr lang="en-US" altLang="ja-JP" sz="800" dirty="0">
                <a:solidFill>
                  <a:schemeClr val="bg2"/>
                </a:solidFill>
              </a:rPr>
              <a:t>, Matthieu Perrot, and </a:t>
            </a:r>
            <a:r>
              <a:rPr lang="en-US" altLang="ja-JP" sz="800" dirty="0" err="1">
                <a:solidFill>
                  <a:schemeClr val="bg2"/>
                </a:solidFill>
              </a:rPr>
              <a:t>ÅLEdouard</a:t>
            </a:r>
            <a:r>
              <a:rPr lang="en-US" altLang="ja-JP" sz="800" dirty="0">
                <a:solidFill>
                  <a:schemeClr val="bg2"/>
                </a:solidFill>
              </a:rPr>
              <a:t> </a:t>
            </a:r>
            <a:r>
              <a:rPr lang="en-US" altLang="ja-JP" sz="800" dirty="0" err="1">
                <a:solidFill>
                  <a:schemeClr val="bg2"/>
                </a:solidFill>
              </a:rPr>
              <a:t>Duchesnay</a:t>
            </a:r>
            <a:r>
              <a:rPr lang="en-US" altLang="ja-JP" sz="800" dirty="0">
                <a:solidFill>
                  <a:schemeClr val="bg2"/>
                </a:solidFill>
              </a:rPr>
              <a:t>. </a:t>
            </a:r>
            <a:r>
              <a:rPr lang="en-US" altLang="ja-JP" sz="800" dirty="0" err="1">
                <a:solidFill>
                  <a:schemeClr val="bg2"/>
                </a:solidFill>
              </a:rPr>
              <a:t>Scikitlearn</a:t>
            </a:r>
            <a:r>
              <a:rPr lang="en-US" altLang="ja-JP" sz="800" dirty="0">
                <a:solidFill>
                  <a:schemeClr val="bg2"/>
                </a:solidFill>
              </a:rPr>
              <a:t>: Machine learning in python. J. Mach. Learn. Res., 12(null):2825–2830, November 2011.</a:t>
            </a:r>
          </a:p>
        </p:txBody>
      </p:sp>
    </p:spTree>
    <p:extLst>
      <p:ext uri="{BB962C8B-B14F-4D97-AF65-F5344CB8AC3E}">
        <p14:creationId xmlns:p14="http://schemas.microsoft.com/office/powerpoint/2010/main" val="770158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806FD-B48D-91DB-C939-2A9832063A03}"/>
            </a:ext>
          </a:extLst>
        </p:cNvPr>
        <p:cNvGrpSpPr/>
        <p:nvPr/>
      </p:nvGrpSpPr>
      <p:grpSpPr>
        <a:xfrm>
          <a:off x="0" y="0"/>
          <a:ext cx="0" cy="0"/>
          <a:chOff x="0" y="0"/>
          <a:chExt cx="0" cy="0"/>
        </a:xfrm>
      </p:grpSpPr>
      <p:graphicFrame>
        <p:nvGraphicFramePr>
          <p:cNvPr id="19" name="グラフ 18">
            <a:extLst>
              <a:ext uri="{FF2B5EF4-FFF2-40B4-BE49-F238E27FC236}">
                <a16:creationId xmlns:a16="http://schemas.microsoft.com/office/drawing/2014/main" id="{D8770E7B-0E9A-2120-3ED6-72D0C418F91C}"/>
              </a:ext>
            </a:extLst>
          </p:cNvPr>
          <p:cNvGraphicFramePr/>
          <p:nvPr>
            <p:extLst>
              <p:ext uri="{D42A27DB-BD31-4B8C-83A1-F6EECF244321}">
                <p14:modId xmlns:p14="http://schemas.microsoft.com/office/powerpoint/2010/main" val="2495015648"/>
              </p:ext>
            </p:extLst>
          </p:nvPr>
        </p:nvGraphicFramePr>
        <p:xfrm>
          <a:off x="6686429" y="2289175"/>
          <a:ext cx="5237112" cy="327814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37CFDB0A-AF65-4E44-C2BE-8E074907A887}"/>
                  </a:ext>
                </a:extLst>
              </p:cNvPr>
              <p:cNvSpPr>
                <a:spLocks noGrp="1"/>
              </p:cNvSpPr>
              <p:nvPr>
                <p:ph idx="1"/>
              </p:nvPr>
            </p:nvSpPr>
            <p:spPr>
              <a:xfrm>
                <a:off x="363221" y="2104993"/>
                <a:ext cx="9138588" cy="4753007"/>
              </a:xfrm>
            </p:spPr>
            <p:txBody>
              <a:bodyPr>
                <a:normAutofit fontScale="77500" lnSpcReduction="20000"/>
              </a:bodyPr>
              <a:lstStyle/>
              <a:p>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が</a:t>
                </a:r>
                <a:r>
                  <a:rPr lang="en-US" altLang="ja-JP" dirty="0">
                    <a:latin typeface="Yu Gothic" panose="020B0400000000000000" pitchFamily="34" charset="-128"/>
                    <a:ea typeface="Yu Gothic" panose="020B0400000000000000" pitchFamily="34" charset="-128"/>
                  </a:rPr>
                  <a:t>2.5</a:t>
                </a:r>
                <a:r>
                  <a:rPr lang="ja-JP" altLang="en-US">
                    <a:latin typeface="Yu Gothic" panose="020B0400000000000000" pitchFamily="34" charset="-128"/>
                    <a:ea typeface="Yu Gothic" panose="020B0400000000000000" pitchFamily="34" charset="-128"/>
                  </a:rPr>
                  <a:t>時間以上かかるのに　　　　　　　　　　　　　対し</a:t>
                </a:r>
                <a:r>
                  <a:rPr lang="en-US" altLang="ja-JP" dirty="0">
                    <a:latin typeface="Yu Gothic" panose="020B0400000000000000" pitchFamily="34" charset="-128"/>
                    <a:ea typeface="Yu Gothic" panose="020B0400000000000000" pitchFamily="34" charset="-128"/>
                  </a:rPr>
                  <a:t>, </a:t>
                </a:r>
                <a:r>
                  <a:rPr lang="ja-JP" altLang="en-US">
                    <a:solidFill>
                      <a:srgbClr val="C00000"/>
                    </a:solidFill>
                    <a:latin typeface="Yu Gothic" panose="020B0400000000000000" pitchFamily="34" charset="-128"/>
                    <a:ea typeface="Yu Gothic" panose="020B0400000000000000" pitchFamily="34" charset="-128"/>
                  </a:rPr>
                  <a:t>提案手法は</a:t>
                </a:r>
                <a:r>
                  <a:rPr lang="en-US" altLang="ja-JP" dirty="0">
                    <a:solidFill>
                      <a:srgbClr val="C00000"/>
                    </a:solidFill>
                    <a:latin typeface="Yu Gothic" panose="020B0400000000000000" pitchFamily="34" charset="-128"/>
                    <a:ea typeface="Yu Gothic" panose="020B0400000000000000" pitchFamily="34" charset="-128"/>
                  </a:rPr>
                  <a:t>2.7</a:t>
                </a:r>
                <a:r>
                  <a:rPr lang="ja-JP" altLang="en-US">
                    <a:solidFill>
                      <a:srgbClr val="C00000"/>
                    </a:solidFill>
                    <a:latin typeface="Yu Gothic" panose="020B0400000000000000" pitchFamily="34" charset="-128"/>
                    <a:ea typeface="Yu Gothic" panose="020B0400000000000000" pitchFamily="34" charset="-128"/>
                  </a:rPr>
                  <a:t>秒で</a:t>
                </a:r>
                <a:r>
                  <a:rPr lang="en-US" altLang="ja-JP" dirty="0">
                    <a:solidFill>
                      <a:srgbClr val="C00000"/>
                    </a:solidFill>
                    <a:latin typeface="Yu Gothic" panose="020B0400000000000000" pitchFamily="34" charset="-128"/>
                    <a:ea typeface="Yu Gothic" panose="020B0400000000000000" pitchFamily="34" charset="-128"/>
                  </a:rPr>
                  <a:t>index</a:t>
                </a:r>
                <a:r>
                  <a:rPr lang="ja-JP" altLang="en-US">
                    <a:solidFill>
                      <a:srgbClr val="C00000"/>
                    </a:solidFill>
                    <a:latin typeface="Yu Gothic" panose="020B0400000000000000" pitchFamily="34" charset="-128"/>
                    <a:ea typeface="Yu Gothic" panose="020B0400000000000000" pitchFamily="34" charset="-128"/>
                  </a:rPr>
                  <a:t>終了</a:t>
                </a:r>
                <a:endParaRPr lang="en-US" altLang="ja-JP" dirty="0">
                  <a:solidFill>
                    <a:srgbClr val="C00000"/>
                  </a:solidFill>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は</a:t>
                </a:r>
                <a:r>
                  <a:rPr lang="en-US" altLang="ja-JP" dirty="0">
                    <a:latin typeface="Yu Gothic" panose="020B0400000000000000" pitchFamily="34" charset="-128"/>
                    <a:ea typeface="Yu Gothic" panose="020B0400000000000000" pitchFamily="34" charset="-128"/>
                  </a:rPr>
                  <a:t>85</a:t>
                </a:r>
                <a:r>
                  <a:rPr lang="ja-JP" altLang="en-US">
                    <a:latin typeface="Yu Gothic" panose="020B0400000000000000" pitchFamily="34" charset="-128"/>
                    <a:ea typeface="Yu Gothic" panose="020B0400000000000000" pitchFamily="34" charset="-128"/>
                  </a:rPr>
                  <a:t>秒で</a:t>
                </a:r>
                <a:r>
                  <a:rPr lang="en-US" altLang="ja-JP" dirty="0">
                    <a:latin typeface="Yu Gothic" panose="020B0400000000000000" pitchFamily="34" charset="-128"/>
                    <a:ea typeface="Yu Gothic" panose="020B0400000000000000" pitchFamily="34" charset="-128"/>
                  </a:rPr>
                  <a:t>index</a:t>
                </a:r>
                <a:r>
                  <a:rPr lang="ja-JP" altLang="en-US">
                    <a:latin typeface="Yu Gothic" panose="020B0400000000000000" pitchFamily="34" charset="-128"/>
                    <a:ea typeface="Yu Gothic" panose="020B0400000000000000" pitchFamily="34" charset="-128"/>
                  </a:rPr>
                  <a:t>終了</a:t>
                </a:r>
                <a:endParaRPr lang="en-US" altLang="ja-JP" dirty="0">
                  <a:latin typeface="Yu Gothic" panose="020B0400000000000000" pitchFamily="34" charset="-128"/>
                  <a:ea typeface="Yu Gothic" panose="020B0400000000000000" pitchFamily="34" charset="-128"/>
                </a:endParaRPr>
              </a:p>
              <a:p>
                <a:r>
                  <a:rPr lang="ja-JP" altLang="en-US"/>
                  <a:t>コミュニティ検出・要約や　　　　　　　　　　　　　　　　　　埋め込みをスキップ</a:t>
                </a:r>
                <a:endParaRPr lang="en-US" altLang="ja-JP" dirty="0"/>
              </a:p>
              <a:p>
                <a:pPr lvl="1"/>
                <a:r>
                  <a:rPr lang="ja-JP" altLang="en-US">
                    <a:latin typeface="Yu Gothic" panose="020B0400000000000000" pitchFamily="34" charset="-128"/>
                    <a:ea typeface="Yu Gothic" panose="020B0400000000000000" pitchFamily="34" charset="-128"/>
                  </a:rPr>
                  <a:t>これだけで</a:t>
                </a:r>
                <a:r>
                  <a:rPr lang="en-US" altLang="ja-JP" dirty="0">
                    <a:latin typeface="Yu Gothic" panose="020B0400000000000000" pitchFamily="34" charset="-128"/>
                    <a:ea typeface="Yu Gothic" panose="020B0400000000000000" pitchFamily="34" charset="-128"/>
                  </a:rPr>
                  <a:t>1</a:t>
                </a:r>
                <a:r>
                  <a:rPr lang="ja-JP" altLang="en-US">
                    <a:latin typeface="Yu Gothic" panose="020B0400000000000000" pitchFamily="34" charset="-128"/>
                    <a:ea typeface="Yu Gothic" panose="020B0400000000000000" pitchFamily="34" charset="-128"/>
                  </a:rPr>
                  <a:t>時間以上短縮</a:t>
                </a:r>
                <a:endParaRPr lang="en-US" altLang="ja-JP" dirty="0">
                  <a:latin typeface="Yu Gothic" panose="020B0400000000000000" pitchFamily="34" charset="-128"/>
                  <a:ea typeface="Yu Gothic" panose="020B0400000000000000" pitchFamily="34" charset="-128"/>
                </a:endParaRPr>
              </a:p>
              <a:p>
                <a:r>
                  <a:rPr lang="ja-JP" altLang="en-US" b="1">
                    <a:latin typeface="Yu Gothic" panose="020B0400000000000000" pitchFamily="34" charset="-128"/>
                    <a:ea typeface="Yu Gothic" panose="020B0400000000000000" pitchFamily="34" charset="-128"/>
                  </a:rPr>
                  <a:t>従来手法では約</a:t>
                </a:r>
                <a:r>
                  <a:rPr lang="en-US" altLang="ja-JP" b="1" dirty="0">
                    <a:latin typeface="Yu Gothic" panose="020B0400000000000000" pitchFamily="34" charset="-128"/>
                    <a:ea typeface="Yu Gothic" panose="020B0400000000000000" pitchFamily="34" charset="-128"/>
                  </a:rPr>
                  <a:t>5000</a:t>
                </a:r>
                <a:r>
                  <a:rPr lang="ja-JP" altLang="en-US" b="1">
                    <a:latin typeface="Yu Gothic" panose="020B0400000000000000" pitchFamily="34" charset="-128"/>
                    <a:ea typeface="Yu Gothic" panose="020B0400000000000000" pitchFamily="34" charset="-128"/>
                  </a:rPr>
                  <a:t>万トークン使用</a:t>
                </a:r>
                <a:endParaRPr lang="en-US" altLang="ja-JP" b="1"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input:4233</a:t>
                </a:r>
                <a:r>
                  <a:rPr lang="ja-JP" altLang="en-US">
                    <a:latin typeface="Yu Gothic" panose="020B0400000000000000" pitchFamily="34" charset="-128"/>
                    <a:ea typeface="Yu Gothic" panose="020B0400000000000000" pitchFamily="34" charset="-128"/>
                  </a:rPr>
                  <a:t>万</a:t>
                </a:r>
                <a:r>
                  <a:rPr lang="en-US" altLang="ja-JP" dirty="0">
                    <a:latin typeface="Yu Gothic" panose="020B0400000000000000" pitchFamily="34" charset="-128"/>
                    <a:ea typeface="Yu Gothic" panose="020B0400000000000000" pitchFamily="34" charset="-128"/>
                  </a:rPr>
                  <a:t>, output:1045</a:t>
                </a:r>
                <a:r>
                  <a:rPr lang="ja-JP" altLang="en-US">
                    <a:latin typeface="Yu Gothic" panose="020B0400000000000000" pitchFamily="34" charset="-128"/>
                    <a:ea typeface="Yu Gothic" panose="020B0400000000000000" pitchFamily="34" charset="-128"/>
                  </a:rPr>
                  <a:t>万トークン</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gpt-4o-mini (</a:t>
                </a:r>
                <a:r>
                  <a:rPr lang="ja-JP" altLang="en-US">
                    <a:latin typeface="Yu Gothic" panose="020B0400000000000000" pitchFamily="34" charset="-128"/>
                    <a:ea typeface="Yu Gothic" panose="020B0400000000000000" pitchFamily="34" charset="-128"/>
                  </a:rPr>
                  <a:t>安いモデル</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で</a:t>
                </a:r>
                <a:r>
                  <a:rPr lang="en-US" altLang="ja-JP" dirty="0">
                    <a:latin typeface="Yu Gothic" panose="020B0400000000000000" pitchFamily="34" charset="-128"/>
                    <a:ea typeface="Yu Gothic" panose="020B0400000000000000" pitchFamily="34" charset="-128"/>
                  </a:rPr>
                  <a:t>$11.20</a:t>
                </a:r>
              </a:p>
              <a:p>
                <a:pPr lvl="1"/>
                <a:r>
                  <a:rPr lang="en-US" altLang="ja-JP" dirty="0">
                    <a:latin typeface="Yu Gothic" panose="020B0400000000000000" pitchFamily="34" charset="-128"/>
                    <a:ea typeface="Yu Gothic" panose="020B0400000000000000" pitchFamily="34" charset="-128"/>
                  </a:rPr>
                  <a:t>gpt-5.2 (</a:t>
                </a:r>
                <a:r>
                  <a:rPr lang="ja-JP" altLang="en-US">
                    <a:latin typeface="Yu Gothic" panose="020B0400000000000000" pitchFamily="34" charset="-128"/>
                    <a:ea typeface="Yu Gothic" panose="020B0400000000000000" pitchFamily="34" charset="-128"/>
                  </a:rPr>
                  <a:t>最新モデル</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では</a:t>
                </a:r>
                <a:r>
                  <a:rPr lang="en-US" altLang="ja-JP" dirty="0">
                    <a:latin typeface="Yu Gothic" panose="020B0400000000000000" pitchFamily="34" charset="-128"/>
                    <a:ea typeface="Yu Gothic" panose="020B0400000000000000" pitchFamily="34" charset="-128"/>
                  </a:rPr>
                  <a:t>$220</a:t>
                </a:r>
                <a:r>
                  <a:rPr lang="ja-JP" altLang="en-US">
                    <a:latin typeface="Yu Gothic" panose="020B0400000000000000" pitchFamily="34" charset="-128"/>
                    <a:ea typeface="Yu Gothic" panose="020B0400000000000000" pitchFamily="34" charset="-128"/>
                  </a:rPr>
                  <a:t>と推定</a:t>
                </a:r>
                <a:endParaRPr lang="en-US" altLang="ja-JP" dirty="0">
                  <a:latin typeface="Yu Gothic" panose="020B0400000000000000" pitchFamily="34" charset="-128"/>
                  <a:ea typeface="Yu Gothic" panose="020B0400000000000000" pitchFamily="34" charset="-128"/>
                </a:endParaRPr>
              </a:p>
              <a:p>
                <a:r>
                  <a:rPr lang="ja-JP" altLang="en-US" b="1">
                    <a:solidFill>
                      <a:srgbClr val="C00000"/>
                    </a:solidFill>
                    <a:latin typeface="Yu Gothic" panose="020B0400000000000000" pitchFamily="34" charset="-128"/>
                    <a:ea typeface="Yu Gothic" panose="020B0400000000000000" pitchFamily="34" charset="-128"/>
                  </a:rPr>
                  <a:t>提案手法はグラフ構築時</a:t>
                </a:r>
                <a:r>
                  <a:rPr lang="en-US" altLang="ja-JP" b="1" dirty="0">
                    <a:solidFill>
                      <a:srgbClr val="C00000"/>
                    </a:solidFill>
                    <a:latin typeface="Yu Gothic" panose="020B0400000000000000" pitchFamily="34" charset="-128"/>
                    <a:ea typeface="Yu Gothic" panose="020B0400000000000000" pitchFamily="34" charset="-128"/>
                  </a:rPr>
                  <a:t>LLM</a:t>
                </a:r>
                <a:r>
                  <a:rPr lang="ja-JP" altLang="en-US" b="1">
                    <a:solidFill>
                      <a:srgbClr val="C00000"/>
                    </a:solidFill>
                    <a:latin typeface="Yu Gothic" panose="020B0400000000000000" pitchFamily="34" charset="-128"/>
                    <a:ea typeface="Yu Gothic" panose="020B0400000000000000" pitchFamily="34" charset="-128"/>
                  </a:rPr>
                  <a:t>不使用</a:t>
                </a:r>
                <a:r>
                  <a:rPr lang="en-US" altLang="ja-JP" b="1" dirty="0">
                    <a:solidFill>
                      <a:srgbClr val="C00000"/>
                    </a:solidFill>
                    <a:latin typeface="Yu Gothic" panose="020B0400000000000000" pitchFamily="34" charset="-128"/>
                    <a:ea typeface="Yu Gothic" panose="020B0400000000000000" pitchFamily="34" charset="-128"/>
                  </a:rPr>
                  <a:t>→$0</a:t>
                </a:r>
              </a:p>
              <a:p>
                <a:pPr lvl="1"/>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と提案手法を比較しても</a:t>
                </a:r>
                <a:r>
                  <a:rPr lang="en-US" altLang="ja-JP" dirty="0">
                    <a:latin typeface="Yu Gothic" panose="020B0400000000000000" pitchFamily="34" charset="-128"/>
                    <a:ea typeface="Yu Gothic" panose="020B0400000000000000" pitchFamily="34" charset="-128"/>
                  </a:rPr>
                  <a:t>, </a:t>
                </a:r>
                <a:r>
                  <a:rPr lang="ja-JP" altLang="en-US" b="1">
                    <a:solidFill>
                      <a:srgbClr val="C00000"/>
                    </a:solidFill>
                    <a:latin typeface="Yu Gothic" panose="020B0400000000000000" pitchFamily="34" charset="-128"/>
                    <a:ea typeface="Yu Gothic" panose="020B0400000000000000" pitchFamily="34" charset="-128"/>
                  </a:rPr>
                  <a:t>提案手法の方が計算量が少ない</a:t>
                </a:r>
                <a:endParaRPr lang="en-US" altLang="ja-JP" b="1" dirty="0">
                  <a:solidFill>
                    <a:srgbClr val="C00000"/>
                  </a:solidFill>
                  <a:latin typeface="Yu Gothic" panose="020B0400000000000000" pitchFamily="34" charset="-128"/>
                  <a:ea typeface="Yu Gothic" panose="020B0400000000000000" pitchFamily="34" charset="-128"/>
                </a:endParaRPr>
              </a:p>
              <a:p>
                <a:pPr lvl="2"/>
                <a:r>
                  <a:rPr lang="en-US" altLang="ja-JP" dirty="0">
                    <a:solidFill>
                      <a:schemeClr val="tx2"/>
                    </a:solidFill>
                    <a:latin typeface="Yu Gothic" panose="020B0400000000000000" pitchFamily="34" charset="-128"/>
                    <a:ea typeface="Yu Gothic" panose="020B0400000000000000" pitchFamily="34" charset="-128"/>
                  </a:rPr>
                  <a:t>RAG</a:t>
                </a:r>
                <a:r>
                  <a:rPr lang="ja-JP" altLang="en-US">
                    <a:solidFill>
                      <a:schemeClr val="tx2"/>
                    </a:solidFill>
                    <a:latin typeface="Yu Gothic" panose="020B0400000000000000" pitchFamily="34" charset="-128"/>
                    <a:ea typeface="Yu Gothic" panose="020B0400000000000000" pitchFamily="34" charset="-128"/>
                  </a:rPr>
                  <a:t>：</a:t>
                </a:r>
                <a14:m>
                  <m:oMath xmlns:m="http://schemas.openxmlformats.org/officeDocument/2006/math">
                    <m:r>
                      <a:rPr lang="en-US" altLang="ja-JP" b="0" i="1" smtClean="0">
                        <a:solidFill>
                          <a:schemeClr val="tx2"/>
                        </a:solidFill>
                        <a:latin typeface="Cambria Math" panose="02040503050406030204" pitchFamily="18" charset="0"/>
                        <a:ea typeface="Yu Gothic" panose="020B0400000000000000" pitchFamily="34" charset="-128"/>
                      </a:rPr>
                      <m:t>𝑂</m:t>
                    </m:r>
                    <m:d>
                      <m:dPr>
                        <m:ctrlPr>
                          <a:rPr lang="en-US" altLang="ja-JP" i="1" smtClean="0">
                            <a:solidFill>
                              <a:schemeClr val="tx2"/>
                            </a:solidFill>
                            <a:latin typeface="Cambria Math" panose="02040503050406030204" pitchFamily="18" charset="0"/>
                            <a:ea typeface="Yu Gothic" panose="020B0400000000000000" pitchFamily="34" charset="-128"/>
                          </a:rPr>
                        </m:ctrlPr>
                      </m:dPr>
                      <m:e>
                        <m:sSup>
                          <m:sSupPr>
                            <m:ctrlPr>
                              <a:rPr lang="en-US" altLang="ja-JP" i="1" smtClean="0">
                                <a:solidFill>
                                  <a:schemeClr val="tx2"/>
                                </a:solidFill>
                                <a:latin typeface="Cambria Math" panose="02040503050406030204" pitchFamily="18" charset="0"/>
                                <a:ea typeface="Yu Gothic" panose="020B0400000000000000" pitchFamily="34" charset="-128"/>
                              </a:rPr>
                            </m:ctrlPr>
                          </m:sSupPr>
                          <m:e>
                            <m:r>
                              <a:rPr lang="en-US" altLang="ja-JP" b="0" i="1" smtClean="0">
                                <a:solidFill>
                                  <a:schemeClr val="tx2"/>
                                </a:solidFill>
                                <a:latin typeface="Cambria Math" panose="02040503050406030204" pitchFamily="18" charset="0"/>
                                <a:ea typeface="Yu Gothic" panose="020B0400000000000000" pitchFamily="34" charset="-128"/>
                              </a:rPr>
                              <m:t>𝑁</m:t>
                            </m:r>
                          </m:e>
                          <m:sup>
                            <m:r>
                              <a:rPr lang="en-US" altLang="ja-JP" b="0" i="1" smtClean="0">
                                <a:solidFill>
                                  <a:schemeClr val="tx2"/>
                                </a:solidFill>
                                <a:latin typeface="Cambria Math" panose="02040503050406030204" pitchFamily="18" charset="0"/>
                                <a:ea typeface="Yu Gothic" panose="020B0400000000000000" pitchFamily="34" charset="-128"/>
                              </a:rPr>
                              <m:t>2</m:t>
                            </m:r>
                          </m:sup>
                        </m:sSup>
                      </m:e>
                    </m:d>
                  </m:oMath>
                </a14:m>
                <a:r>
                  <a:rPr lang="en-US" altLang="ja-JP" dirty="0">
                    <a:solidFill>
                      <a:schemeClr val="tx2"/>
                    </a:solidFill>
                    <a:latin typeface="Yu Gothic" panose="020B0400000000000000" pitchFamily="34" charset="-128"/>
                    <a:ea typeface="Yu Gothic" panose="020B0400000000000000" pitchFamily="34" charset="-128"/>
                  </a:rPr>
                  <a:t> </a:t>
                </a:r>
              </a:p>
              <a:p>
                <a:pPr lvl="2"/>
                <a:r>
                  <a:rPr lang="ja-JP" altLang="en-US">
                    <a:solidFill>
                      <a:schemeClr val="tx2"/>
                    </a:solidFill>
                    <a:latin typeface="Yu Gothic" panose="020B0400000000000000" pitchFamily="34" charset="-128"/>
                    <a:ea typeface="Yu Gothic" panose="020B0400000000000000" pitchFamily="34" charset="-128"/>
                  </a:rPr>
                  <a:t>提案手法：</a:t>
                </a:r>
                <a14:m>
                  <m:oMath xmlns:m="http://schemas.openxmlformats.org/officeDocument/2006/math">
                    <m:r>
                      <a:rPr lang="en-US" altLang="ja-JP" b="0" i="1" smtClean="0">
                        <a:solidFill>
                          <a:schemeClr val="tx2"/>
                        </a:solidFill>
                        <a:latin typeface="Cambria Math" panose="02040503050406030204" pitchFamily="18" charset="0"/>
                        <a:ea typeface="Yu Gothic" panose="020B0400000000000000" pitchFamily="34" charset="-128"/>
                      </a:rPr>
                      <m:t>𝑂</m:t>
                    </m:r>
                    <m:r>
                      <a:rPr lang="en-US" altLang="ja-JP" b="0" i="1" smtClean="0">
                        <a:solidFill>
                          <a:schemeClr val="tx2"/>
                        </a:solidFill>
                        <a:latin typeface="Cambria Math" panose="02040503050406030204" pitchFamily="18" charset="0"/>
                        <a:ea typeface="Yu Gothic" panose="020B0400000000000000" pitchFamily="34" charset="-128"/>
                      </a:rPr>
                      <m:t>(</m:t>
                    </m:r>
                    <m:r>
                      <a:rPr lang="en-US" altLang="ja-JP" b="0" i="1" smtClean="0">
                        <a:solidFill>
                          <a:schemeClr val="tx2"/>
                        </a:solidFill>
                        <a:latin typeface="Cambria Math" panose="02040503050406030204" pitchFamily="18" charset="0"/>
                        <a:ea typeface="Yu Gothic" panose="020B0400000000000000" pitchFamily="34" charset="-128"/>
                      </a:rPr>
                      <m:t>𝑁</m:t>
                    </m:r>
                    <m:r>
                      <a:rPr lang="en-US" altLang="ja-JP" b="0" i="1" smtClean="0">
                        <a:solidFill>
                          <a:schemeClr val="tx2"/>
                        </a:solidFill>
                        <a:latin typeface="Cambria Math" panose="02040503050406030204" pitchFamily="18" charset="0"/>
                        <a:ea typeface="Yu Gothic" panose="020B0400000000000000" pitchFamily="34" charset="-128"/>
                      </a:rPr>
                      <m:t>)</m:t>
                    </m:r>
                  </m:oMath>
                </a14:m>
                <a:r>
                  <a:rPr lang="en-US" altLang="ja-JP" dirty="0">
                    <a:solidFill>
                      <a:schemeClr val="tx2"/>
                    </a:solidFill>
                    <a:latin typeface="Yu Gothic" panose="020B0400000000000000" pitchFamily="34" charset="-128"/>
                    <a:ea typeface="Yu Gothic" panose="020B0400000000000000" pitchFamily="34" charset="-128"/>
                  </a:rPr>
                  <a:t> (N</a:t>
                </a:r>
                <a:r>
                  <a:rPr lang="ja-JP" altLang="en-US">
                    <a:solidFill>
                      <a:schemeClr val="tx2"/>
                    </a:solidFill>
                    <a:latin typeface="Yu Gothic" panose="020B0400000000000000" pitchFamily="34" charset="-128"/>
                    <a:ea typeface="Yu Gothic" panose="020B0400000000000000" pitchFamily="34" charset="-128"/>
                  </a:rPr>
                  <a:t>：全文書の合計単語数</a:t>
                </a:r>
                <a:r>
                  <a:rPr lang="en-US" altLang="ja-JP" dirty="0">
                    <a:solidFill>
                      <a:schemeClr val="tx2"/>
                    </a:solidFill>
                    <a:latin typeface="Yu Gothic" panose="020B0400000000000000" pitchFamily="34" charset="-128"/>
                    <a:ea typeface="Yu Gothic" panose="020B0400000000000000" pitchFamily="34" charset="-128"/>
                  </a:rPr>
                  <a:t>)</a:t>
                </a:r>
              </a:p>
            </p:txBody>
          </p:sp>
        </mc:Choice>
        <mc:Fallback>
          <p:sp>
            <p:nvSpPr>
              <p:cNvPr id="3" name="コンテンツ プレースホルダー 2">
                <a:extLst>
                  <a:ext uri="{FF2B5EF4-FFF2-40B4-BE49-F238E27FC236}">
                    <a16:creationId xmlns:a16="http://schemas.microsoft.com/office/drawing/2014/main" id="{37CFDB0A-AF65-4E44-C2BE-8E074907A887}"/>
                  </a:ext>
                </a:extLst>
              </p:cNvPr>
              <p:cNvSpPr>
                <a:spLocks noGrp="1" noRot="1" noChangeAspect="1" noMove="1" noResize="1" noEditPoints="1" noAdjustHandles="1" noChangeArrowheads="1" noChangeShapeType="1" noTextEdit="1"/>
              </p:cNvSpPr>
              <p:nvPr>
                <p:ph idx="1"/>
              </p:nvPr>
            </p:nvSpPr>
            <p:spPr>
              <a:xfrm>
                <a:off x="363221" y="2104993"/>
                <a:ext cx="9138588" cy="4753007"/>
              </a:xfrm>
              <a:blipFill>
                <a:blip r:embed="rId3"/>
                <a:stretch>
                  <a:fillRect l="-693" t="-1333"/>
                </a:stretch>
              </a:blipFill>
            </p:spPr>
            <p:txBody>
              <a:bodyPr/>
              <a:lstStyle/>
              <a:p>
                <a:r>
                  <a:rPr lang="ja-JP" altLang="en-US">
                    <a:noFill/>
                  </a:rPr>
                  <a:t> </a:t>
                </a:r>
              </a:p>
            </p:txBody>
          </p:sp>
        </mc:Fallback>
      </mc:AlternateContent>
      <p:sp>
        <p:nvSpPr>
          <p:cNvPr id="4" name="テキスト プレースホルダー 3">
            <a:extLst>
              <a:ext uri="{FF2B5EF4-FFF2-40B4-BE49-F238E27FC236}">
                <a16:creationId xmlns:a16="http://schemas.microsoft.com/office/drawing/2014/main" id="{80319D88-4039-7B4B-D2FD-67560000A232}"/>
              </a:ext>
            </a:extLst>
          </p:cNvPr>
          <p:cNvSpPr>
            <a:spLocks noGrp="1"/>
          </p:cNvSpPr>
          <p:nvPr>
            <p:ph type="body" sz="quarter" idx="11"/>
          </p:nvPr>
        </p:nvSpPr>
        <p:spPr/>
        <p:txBody>
          <a:bodyPr>
            <a:normAutofit fontScale="92500" lnSpcReduction="20000"/>
          </a:bodyPr>
          <a:lstStyle/>
          <a:p>
            <a:r>
              <a:rPr lang="ja-JP" altLang="en-US"/>
              <a:t>評価結果</a:t>
            </a:r>
            <a:r>
              <a:rPr lang="en-US" altLang="ja-JP" dirty="0"/>
              <a:t> (index</a:t>
            </a:r>
            <a:r>
              <a:rPr lang="ja-JP" altLang="en-US"/>
              <a:t>の所要時間・トークン数</a:t>
            </a:r>
            <a:r>
              <a:rPr lang="en-US" altLang="ja-JP" dirty="0"/>
              <a:t>)</a:t>
            </a:r>
          </a:p>
        </p:txBody>
      </p:sp>
      <p:sp>
        <p:nvSpPr>
          <p:cNvPr id="14" name="タイトル 1">
            <a:extLst>
              <a:ext uri="{FF2B5EF4-FFF2-40B4-BE49-F238E27FC236}">
                <a16:creationId xmlns:a16="http://schemas.microsoft.com/office/drawing/2014/main" id="{8FB45AA4-2B42-D728-EB69-4929A669D8FE}"/>
              </a:ext>
            </a:extLst>
          </p:cNvPr>
          <p:cNvSpPr>
            <a:spLocks noGrp="1"/>
          </p:cNvSpPr>
          <p:nvPr>
            <p:ph type="title"/>
          </p:nvPr>
        </p:nvSpPr>
        <p:spPr>
          <a:xfrm>
            <a:off x="981230" y="1084571"/>
            <a:ext cx="11099800" cy="938159"/>
          </a:xfrm>
        </p:spPr>
        <p:txBody>
          <a:bodyPr/>
          <a:lstStyle/>
          <a:p>
            <a:r>
              <a:rPr lang="en-US" altLang="ja-JP" sz="3200" dirty="0">
                <a:latin typeface="Yu Gothic" panose="020B0400000000000000" pitchFamily="34" charset="-128"/>
                <a:ea typeface="Yu Gothic" panose="020B0400000000000000" pitchFamily="34" charset="-128"/>
              </a:rPr>
              <a:t>index (</a:t>
            </a:r>
            <a:r>
              <a:rPr lang="ja-JP" altLang="en-US" sz="3200">
                <a:latin typeface="Yu Gothic" panose="020B0400000000000000" pitchFamily="34" charset="-128"/>
                <a:ea typeface="Yu Gothic" panose="020B0400000000000000" pitchFamily="34" charset="-128"/>
              </a:rPr>
              <a:t>事前構築</a:t>
            </a:r>
            <a:r>
              <a:rPr lang="en-US" altLang="ja-JP" sz="3200" dirty="0">
                <a:latin typeface="Yu Gothic" panose="020B0400000000000000" pitchFamily="34" charset="-128"/>
                <a:ea typeface="Yu Gothic" panose="020B0400000000000000" pitchFamily="34" charset="-128"/>
              </a:rPr>
              <a:t>) </a:t>
            </a:r>
            <a:r>
              <a:rPr lang="ja-JP" altLang="en-US" sz="3200">
                <a:latin typeface="Yu Gothic" panose="020B0400000000000000" pitchFamily="34" charset="-128"/>
                <a:ea typeface="Yu Gothic" panose="020B0400000000000000" pitchFamily="34" charset="-128"/>
              </a:rPr>
              <a:t>時間を大幅に短縮</a:t>
            </a:r>
            <a:endParaRPr kumimoji="1" lang="ja-JP" altLang="en-US" sz="3200">
              <a:solidFill>
                <a:srgbClr val="C00000"/>
              </a:solidFill>
            </a:endParaRPr>
          </a:p>
        </p:txBody>
      </p:sp>
      <p:sp>
        <p:nvSpPr>
          <p:cNvPr id="2" name="左大かっこ 1">
            <a:extLst>
              <a:ext uri="{FF2B5EF4-FFF2-40B4-BE49-F238E27FC236}">
                <a16:creationId xmlns:a16="http://schemas.microsoft.com/office/drawing/2014/main" id="{93789C57-C262-44E4-2315-1A1986EBFE94}"/>
              </a:ext>
            </a:extLst>
          </p:cNvPr>
          <p:cNvSpPr/>
          <p:nvPr/>
        </p:nvSpPr>
        <p:spPr>
          <a:xfrm rot="5400000">
            <a:off x="9525436" y="2164254"/>
            <a:ext cx="140366" cy="2208928"/>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56CCDDDA-0C74-CC22-884C-2C78D029561A}"/>
              </a:ext>
            </a:extLst>
          </p:cNvPr>
          <p:cNvSpPr txBox="1"/>
          <p:nvPr/>
        </p:nvSpPr>
        <p:spPr>
          <a:xfrm>
            <a:off x="8435007" y="2927070"/>
            <a:ext cx="2321224" cy="307777"/>
          </a:xfrm>
          <a:prstGeom prst="rect">
            <a:avLst/>
          </a:prstGeom>
          <a:noFill/>
        </p:spPr>
        <p:txBody>
          <a:bodyPr wrap="square" rtlCol="0">
            <a:spAutoFit/>
          </a:bodyPr>
          <a:lstStyle/>
          <a:p>
            <a:r>
              <a:rPr kumimoji="1" lang="ja-JP" altLang="en-US" sz="1400"/>
              <a:t>提案手法はここをスキップ</a:t>
            </a:r>
          </a:p>
        </p:txBody>
      </p:sp>
    </p:spTree>
    <p:extLst>
      <p:ext uri="{BB962C8B-B14F-4D97-AF65-F5344CB8AC3E}">
        <p14:creationId xmlns:p14="http://schemas.microsoft.com/office/powerpoint/2010/main" val="3400572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67CD2-0075-9812-B24C-A36724A66A19}"/>
            </a:ext>
          </a:extLst>
        </p:cNvPr>
        <p:cNvGrpSpPr/>
        <p:nvPr/>
      </p:nvGrpSpPr>
      <p:grpSpPr>
        <a:xfrm>
          <a:off x="0" y="0"/>
          <a:ext cx="0" cy="0"/>
          <a:chOff x="0" y="0"/>
          <a:chExt cx="0" cy="0"/>
        </a:xfrm>
      </p:grpSpPr>
      <p:graphicFrame>
        <p:nvGraphicFramePr>
          <p:cNvPr id="16" name="表 15">
            <a:extLst>
              <a:ext uri="{FF2B5EF4-FFF2-40B4-BE49-F238E27FC236}">
                <a16:creationId xmlns:a16="http://schemas.microsoft.com/office/drawing/2014/main" id="{51A5CAA5-9D34-EDFB-40B5-3AD7E0662C55}"/>
              </a:ext>
            </a:extLst>
          </p:cNvPr>
          <p:cNvGraphicFramePr>
            <a:graphicFrameLocks noGrp="1"/>
          </p:cNvGraphicFramePr>
          <p:nvPr>
            <p:extLst>
              <p:ext uri="{D42A27DB-BD31-4B8C-83A1-F6EECF244321}">
                <p14:modId xmlns:p14="http://schemas.microsoft.com/office/powerpoint/2010/main" val="223652307"/>
              </p:ext>
            </p:extLst>
          </p:nvPr>
        </p:nvGraphicFramePr>
        <p:xfrm>
          <a:off x="6600312" y="5895049"/>
          <a:ext cx="48768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132078996"/>
                    </a:ext>
                  </a:extLst>
                </a:gridCol>
                <a:gridCol w="1625600">
                  <a:extLst>
                    <a:ext uri="{9D8B030D-6E8A-4147-A177-3AD203B41FA5}">
                      <a16:colId xmlns:a16="http://schemas.microsoft.com/office/drawing/2014/main" val="235820936"/>
                    </a:ext>
                  </a:extLst>
                </a:gridCol>
                <a:gridCol w="1625600">
                  <a:extLst>
                    <a:ext uri="{9D8B030D-6E8A-4147-A177-3AD203B41FA5}">
                      <a16:colId xmlns:a16="http://schemas.microsoft.com/office/drawing/2014/main" val="1296012596"/>
                    </a:ext>
                  </a:extLst>
                </a:gridCol>
              </a:tblGrid>
              <a:tr h="370840">
                <a:tc>
                  <a:txBody>
                    <a:bodyPr/>
                    <a:lstStyle/>
                    <a:p>
                      <a:pPr algn="ctr"/>
                      <a:r>
                        <a:rPr kumimoji="1" lang="en-US" altLang="ja-JP" dirty="0"/>
                        <a:t>GraphRAG</a:t>
                      </a:r>
                      <a:endParaRPr kumimoji="1" lang="ja-JP" altLang="en-US"/>
                    </a:p>
                  </a:txBody>
                  <a:tcPr/>
                </a:tc>
                <a:tc>
                  <a:txBody>
                    <a:bodyPr/>
                    <a:lstStyle/>
                    <a:p>
                      <a:pPr algn="ctr"/>
                      <a:r>
                        <a:rPr kumimoji="1" lang="ja-JP" altLang="en-US"/>
                        <a:t>提案手法</a:t>
                      </a:r>
                    </a:p>
                  </a:txBody>
                  <a:tcPr/>
                </a:tc>
                <a:tc>
                  <a:txBody>
                    <a:bodyPr/>
                    <a:lstStyle/>
                    <a:p>
                      <a:pPr algn="ctr"/>
                      <a:r>
                        <a:rPr kumimoji="1" lang="en-US" altLang="ja-JP" dirty="0"/>
                        <a:t>RAG</a:t>
                      </a:r>
                    </a:p>
                  </a:txBody>
                  <a:tcPr/>
                </a:tc>
                <a:extLst>
                  <a:ext uri="{0D108BD9-81ED-4DB2-BD59-A6C34878D82A}">
                    <a16:rowId xmlns:a16="http://schemas.microsoft.com/office/drawing/2014/main" val="874790018"/>
                  </a:ext>
                </a:extLst>
              </a:tr>
              <a:tr h="370840">
                <a:tc>
                  <a:txBody>
                    <a:bodyPr/>
                    <a:lstStyle/>
                    <a:p>
                      <a:pPr algn="ctr"/>
                      <a:r>
                        <a:rPr kumimoji="1" lang="en-US" altLang="ja-JP" dirty="0"/>
                        <a:t>18.46</a:t>
                      </a:r>
                    </a:p>
                  </a:txBody>
                  <a:tcPr/>
                </a:tc>
                <a:tc>
                  <a:txBody>
                    <a:bodyPr/>
                    <a:lstStyle/>
                    <a:p>
                      <a:pPr algn="ctr"/>
                      <a:r>
                        <a:rPr kumimoji="1" lang="en-US" altLang="ja-JP" dirty="0"/>
                        <a:t>14.08</a:t>
                      </a:r>
                      <a:endParaRPr kumimoji="1" lang="ja-JP" altLang="en-US"/>
                    </a:p>
                  </a:txBody>
                  <a:tcPr/>
                </a:tc>
                <a:tc>
                  <a:txBody>
                    <a:bodyPr/>
                    <a:lstStyle/>
                    <a:p>
                      <a:pPr algn="ctr"/>
                      <a:r>
                        <a:rPr kumimoji="1" lang="en-US" altLang="ja-JP" dirty="0"/>
                        <a:t>13.93</a:t>
                      </a:r>
                    </a:p>
                  </a:txBody>
                  <a:tcPr/>
                </a:tc>
                <a:extLst>
                  <a:ext uri="{0D108BD9-81ED-4DB2-BD59-A6C34878D82A}">
                    <a16:rowId xmlns:a16="http://schemas.microsoft.com/office/drawing/2014/main" val="3509194947"/>
                  </a:ext>
                </a:extLst>
              </a:tr>
            </a:tbl>
          </a:graphicData>
        </a:graphic>
      </p:graphicFrame>
      <p:sp>
        <p:nvSpPr>
          <p:cNvPr id="3" name="コンテンツ プレースホルダー 2">
            <a:extLst>
              <a:ext uri="{FF2B5EF4-FFF2-40B4-BE49-F238E27FC236}">
                <a16:creationId xmlns:a16="http://schemas.microsoft.com/office/drawing/2014/main" id="{4D4F0BF6-ED2D-7264-3326-5D0738AB8F00}"/>
              </a:ext>
            </a:extLst>
          </p:cNvPr>
          <p:cNvSpPr>
            <a:spLocks noGrp="1"/>
          </p:cNvSpPr>
          <p:nvPr>
            <p:ph idx="1"/>
          </p:nvPr>
        </p:nvSpPr>
        <p:spPr>
          <a:xfrm>
            <a:off x="210574" y="2042490"/>
            <a:ext cx="5594477" cy="3951425"/>
          </a:xfrm>
        </p:spPr>
        <p:txBody>
          <a:bodyPr>
            <a:normAutofit/>
          </a:bodyPr>
          <a:lstStyle/>
          <a:p>
            <a:r>
              <a:rPr lang="ja-JP" altLang="en-US" sz="2400">
                <a:latin typeface="Yu Gothic" panose="020B0400000000000000" pitchFamily="34" charset="-128"/>
                <a:ea typeface="Yu Gothic" panose="020B0400000000000000" pitchFamily="34" charset="-128"/>
              </a:rPr>
              <a:t>実験</a:t>
            </a:r>
            <a:r>
              <a:rPr lang="en-US" altLang="ja-JP" sz="2400" dirty="0">
                <a:latin typeface="Yu Gothic" panose="020B0400000000000000" pitchFamily="34" charset="-128"/>
                <a:ea typeface="Yu Gothic" panose="020B0400000000000000" pitchFamily="34" charset="-128"/>
              </a:rPr>
              <a:t>1 LLM</a:t>
            </a:r>
            <a:r>
              <a:rPr lang="ja-JP" altLang="en-US" sz="2400">
                <a:latin typeface="Yu Gothic" panose="020B0400000000000000" pitchFamily="34" charset="-128"/>
                <a:ea typeface="Yu Gothic" panose="020B0400000000000000" pitchFamily="34" charset="-128"/>
              </a:rPr>
              <a:t>による評価</a:t>
            </a:r>
            <a:endParaRPr lang="en-US" altLang="ja-JP" sz="2400" dirty="0">
              <a:latin typeface="Yu Gothic" panose="020B0400000000000000" pitchFamily="34" charset="-128"/>
              <a:ea typeface="Yu Gothic" panose="020B0400000000000000" pitchFamily="34" charset="-128"/>
            </a:endParaRPr>
          </a:p>
          <a:p>
            <a:pPr lvl="1"/>
            <a:r>
              <a:rPr lang="en-US" altLang="ja-JP" sz="2000" dirty="0">
                <a:latin typeface="Yu Gothic" panose="020B0400000000000000" pitchFamily="34" charset="-128"/>
                <a:ea typeface="Yu Gothic" panose="020B0400000000000000" pitchFamily="34" charset="-128"/>
              </a:rPr>
              <a:t>RAG</a:t>
            </a:r>
            <a:r>
              <a:rPr lang="ja-JP" altLang="en-US" sz="2000">
                <a:latin typeface="Yu Gothic" panose="020B0400000000000000" pitchFamily="34" charset="-128"/>
                <a:ea typeface="Yu Gothic" panose="020B0400000000000000" pitchFamily="34" charset="-128"/>
              </a:rPr>
              <a:t>との比較では全項目で</a:t>
            </a:r>
            <a:r>
              <a:rPr lang="en-US" altLang="ja-JP" sz="2000" dirty="0">
                <a:latin typeface="Yu Gothic" panose="020B0400000000000000" pitchFamily="34" charset="-128"/>
                <a:ea typeface="Yu Gothic" panose="020B0400000000000000" pitchFamily="34" charset="-128"/>
              </a:rPr>
              <a:t>50%</a:t>
            </a:r>
            <a:r>
              <a:rPr lang="ja-JP" altLang="en-US" sz="2000">
                <a:latin typeface="Yu Gothic" panose="020B0400000000000000" pitchFamily="34" charset="-128"/>
                <a:ea typeface="Yu Gothic" panose="020B0400000000000000" pitchFamily="34" charset="-128"/>
              </a:rPr>
              <a:t>超　　</a:t>
            </a:r>
            <a:r>
              <a:rPr lang="en-US" altLang="ja-JP" sz="2000" dirty="0">
                <a:latin typeface="Yu Gothic" panose="020B0400000000000000" pitchFamily="34" charset="-128"/>
                <a:ea typeface="Yu Gothic" panose="020B0400000000000000" pitchFamily="34" charset="-128"/>
              </a:rPr>
              <a:t> (</a:t>
            </a:r>
            <a:r>
              <a:rPr lang="ja-JP" altLang="en-US" sz="2000">
                <a:latin typeface="Yu Gothic" panose="020B0400000000000000" pitchFamily="34" charset="-128"/>
                <a:ea typeface="Yu Gothic" panose="020B0400000000000000" pitchFamily="34" charset="-128"/>
              </a:rPr>
              <a:t>対称指標である</a:t>
            </a:r>
            <a:r>
              <a:rPr lang="en-US" altLang="ja-JP" sz="2000" dirty="0">
                <a:latin typeface="Yu Gothic" panose="020B0400000000000000" pitchFamily="34" charset="-128"/>
                <a:ea typeface="Yu Gothic" panose="020B0400000000000000" pitchFamily="34" charset="-128"/>
              </a:rPr>
              <a:t>Directness</a:t>
            </a:r>
            <a:r>
              <a:rPr lang="ja-JP" altLang="en-US" sz="2000">
                <a:latin typeface="Yu Gothic" panose="020B0400000000000000" pitchFamily="34" charset="-128"/>
                <a:ea typeface="Yu Gothic" panose="020B0400000000000000" pitchFamily="34" charset="-128"/>
              </a:rPr>
              <a:t>を除く</a:t>
            </a:r>
            <a:r>
              <a:rPr lang="en-US" altLang="ja-JP" sz="2000" dirty="0">
                <a:latin typeface="Yu Gothic" panose="020B0400000000000000" pitchFamily="34" charset="-128"/>
                <a:ea typeface="Yu Gothic" panose="020B0400000000000000" pitchFamily="34" charset="-128"/>
              </a:rPr>
              <a:t>)</a:t>
            </a:r>
          </a:p>
          <a:p>
            <a:pPr lvl="1"/>
            <a:r>
              <a:rPr lang="en-US" altLang="ja-JP" sz="2000" dirty="0">
                <a:latin typeface="Yu Gothic" panose="020B0400000000000000" pitchFamily="34" charset="-128"/>
                <a:ea typeface="Yu Gothic" panose="020B0400000000000000" pitchFamily="34" charset="-128"/>
              </a:rPr>
              <a:t>Comprehensiveness, Diversity</a:t>
            </a:r>
            <a:r>
              <a:rPr lang="ja-JP" altLang="en-US" sz="2000">
                <a:latin typeface="Yu Gothic" panose="020B0400000000000000" pitchFamily="34" charset="-128"/>
                <a:ea typeface="Yu Gothic" panose="020B0400000000000000" pitchFamily="34" charset="-128"/>
              </a:rPr>
              <a:t>では</a:t>
            </a:r>
            <a:r>
              <a:rPr lang="en-US" altLang="ja-JP" sz="2000" dirty="0">
                <a:latin typeface="Yu Gothic" panose="020B0400000000000000" pitchFamily="34" charset="-128"/>
                <a:ea typeface="Yu Gothic" panose="020B0400000000000000" pitchFamily="34" charset="-128"/>
              </a:rPr>
              <a:t>GraphRAG</a:t>
            </a:r>
            <a:r>
              <a:rPr lang="ja-JP" altLang="en-US" sz="2000">
                <a:latin typeface="Yu Gothic" panose="020B0400000000000000" pitchFamily="34" charset="-128"/>
                <a:ea typeface="Yu Gothic" panose="020B0400000000000000" pitchFamily="34" charset="-128"/>
              </a:rPr>
              <a:t>と比較しても</a:t>
            </a:r>
            <a:r>
              <a:rPr lang="en-US" altLang="ja-JP" sz="2000" dirty="0">
                <a:latin typeface="Yu Gothic" panose="020B0400000000000000" pitchFamily="34" charset="-128"/>
                <a:ea typeface="Yu Gothic" panose="020B0400000000000000" pitchFamily="34" charset="-128"/>
              </a:rPr>
              <a:t>50%</a:t>
            </a:r>
            <a:r>
              <a:rPr lang="ja-JP" altLang="en-US" sz="2000">
                <a:latin typeface="Yu Gothic" panose="020B0400000000000000" pitchFamily="34" charset="-128"/>
                <a:ea typeface="Yu Gothic" panose="020B0400000000000000" pitchFamily="34" charset="-128"/>
              </a:rPr>
              <a:t>近く</a:t>
            </a:r>
            <a:endParaRPr lang="en-US" altLang="ja-JP" sz="2400" dirty="0">
              <a:solidFill>
                <a:srgbClr val="C00000"/>
              </a:solidFill>
              <a:latin typeface="Yu Gothic" panose="020B0400000000000000" pitchFamily="34" charset="-128"/>
              <a:ea typeface="Yu Gothic" panose="020B0400000000000000" pitchFamily="34" charset="-128"/>
            </a:endParaRPr>
          </a:p>
          <a:p>
            <a:r>
              <a:rPr lang="ja-JP" altLang="en-US" sz="2400">
                <a:latin typeface="Yu Gothic" panose="020B0400000000000000" pitchFamily="34" charset="-128"/>
                <a:ea typeface="Yu Gothic" panose="020B0400000000000000" pitchFamily="34" charset="-128"/>
              </a:rPr>
              <a:t>実験</a:t>
            </a:r>
            <a:r>
              <a:rPr lang="en-US" altLang="ja-JP" sz="2400" dirty="0">
                <a:latin typeface="Yu Gothic" panose="020B0400000000000000" pitchFamily="34" charset="-128"/>
                <a:ea typeface="Yu Gothic" panose="020B0400000000000000" pitchFamily="34" charset="-128"/>
              </a:rPr>
              <a:t>2 Claim</a:t>
            </a:r>
            <a:r>
              <a:rPr lang="ja-JP" altLang="en-US" sz="2400">
                <a:latin typeface="Yu Gothic" panose="020B0400000000000000" pitchFamily="34" charset="-128"/>
                <a:ea typeface="Yu Gothic" panose="020B0400000000000000" pitchFamily="34" charset="-128"/>
              </a:rPr>
              <a:t>ベースの評価</a:t>
            </a:r>
            <a:endParaRPr lang="en-US" altLang="ja-JP" sz="1200" dirty="0">
              <a:latin typeface="Yu Gothic" panose="020B0400000000000000" pitchFamily="34" charset="-128"/>
              <a:ea typeface="Yu Gothic" panose="020B0400000000000000" pitchFamily="34" charset="-128"/>
            </a:endParaRPr>
          </a:p>
          <a:p>
            <a:pPr lvl="1"/>
            <a:r>
              <a:rPr lang="ja-JP" altLang="en-US" sz="2000">
                <a:latin typeface="Yu Gothic" panose="020B0400000000000000" pitchFamily="34" charset="-128"/>
                <a:ea typeface="Yu Gothic" panose="020B0400000000000000" pitchFamily="34" charset="-128"/>
              </a:rPr>
              <a:t>全項目で</a:t>
            </a:r>
            <a:r>
              <a:rPr lang="en-US" altLang="ja-JP" sz="2000" dirty="0">
                <a:latin typeface="Yu Gothic" panose="020B0400000000000000" pitchFamily="34" charset="-128"/>
                <a:ea typeface="Yu Gothic" panose="020B0400000000000000" pitchFamily="34" charset="-128"/>
              </a:rPr>
              <a:t>RAG</a:t>
            </a:r>
            <a:r>
              <a:rPr lang="ja-JP" altLang="en-US" sz="2000">
                <a:latin typeface="Yu Gothic" panose="020B0400000000000000" pitchFamily="34" charset="-128"/>
                <a:ea typeface="Yu Gothic" panose="020B0400000000000000" pitchFamily="34" charset="-128"/>
              </a:rPr>
              <a:t>を上回る</a:t>
            </a:r>
            <a:endParaRPr lang="en-US" altLang="ja-JP" sz="2000" dirty="0">
              <a:latin typeface="Yu Gothic" panose="020B0400000000000000" pitchFamily="34" charset="-128"/>
              <a:ea typeface="Yu Gothic" panose="020B0400000000000000" pitchFamily="34" charset="-128"/>
            </a:endParaRPr>
          </a:p>
          <a:p>
            <a:pPr lvl="1"/>
            <a:endParaRPr lang="en-US" altLang="ja-JP" sz="2000"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0B6A81C6-3CEA-CF3F-358A-E13B184101F4}"/>
              </a:ext>
            </a:extLst>
          </p:cNvPr>
          <p:cNvSpPr>
            <a:spLocks noGrp="1"/>
          </p:cNvSpPr>
          <p:nvPr>
            <p:ph type="body" sz="quarter" idx="11"/>
          </p:nvPr>
        </p:nvSpPr>
        <p:spPr/>
        <p:txBody>
          <a:bodyPr>
            <a:normAutofit fontScale="92500" lnSpcReduction="20000"/>
          </a:bodyPr>
          <a:lstStyle/>
          <a:p>
            <a:r>
              <a:rPr lang="ja-JP" altLang="en-US"/>
              <a:t>評価結果</a:t>
            </a:r>
            <a:r>
              <a:rPr lang="en-US" altLang="ja-JP" dirty="0"/>
              <a:t> (</a:t>
            </a:r>
            <a:r>
              <a:rPr lang="ja-JP" altLang="en-US"/>
              <a:t>精度</a:t>
            </a:r>
            <a:r>
              <a:rPr lang="en-US" altLang="ja-JP" dirty="0"/>
              <a:t>)</a:t>
            </a:r>
          </a:p>
        </p:txBody>
      </p:sp>
      <p:sp>
        <p:nvSpPr>
          <p:cNvPr id="14" name="タイトル 1">
            <a:extLst>
              <a:ext uri="{FF2B5EF4-FFF2-40B4-BE49-F238E27FC236}">
                <a16:creationId xmlns:a16="http://schemas.microsoft.com/office/drawing/2014/main" id="{DF37CF21-B343-67DA-D9BE-84D6402ED898}"/>
              </a:ext>
            </a:extLst>
          </p:cNvPr>
          <p:cNvSpPr>
            <a:spLocks noGrp="1"/>
          </p:cNvSpPr>
          <p:nvPr>
            <p:ph type="title"/>
          </p:nvPr>
        </p:nvSpPr>
        <p:spPr>
          <a:xfrm>
            <a:off x="546100" y="1104331"/>
            <a:ext cx="11099800" cy="938159"/>
          </a:xfrm>
        </p:spPr>
        <p:txBody>
          <a:bodyPr/>
          <a:lstStyle/>
          <a:p>
            <a:r>
              <a:rPr lang="ja-JP" altLang="en-US" sz="3200">
                <a:latin typeface="Yu Gothic" panose="020B0400000000000000" pitchFamily="34" charset="-128"/>
                <a:ea typeface="Yu Gothic" panose="020B0400000000000000" pitchFamily="34" charset="-128"/>
              </a:rPr>
              <a:t>各項目で</a:t>
            </a:r>
            <a:r>
              <a:rPr lang="en-US" altLang="ja-JP" sz="3200" dirty="0">
                <a:latin typeface="Yu Gothic" panose="020B0400000000000000" pitchFamily="34" charset="-128"/>
                <a:ea typeface="Yu Gothic" panose="020B0400000000000000" pitchFamily="34" charset="-128"/>
              </a:rPr>
              <a:t>RAG</a:t>
            </a:r>
            <a:r>
              <a:rPr lang="ja-JP" altLang="en-US" sz="3200">
                <a:latin typeface="Yu Gothic" panose="020B0400000000000000" pitchFamily="34" charset="-128"/>
                <a:ea typeface="Yu Gothic" panose="020B0400000000000000" pitchFamily="34" charset="-128"/>
              </a:rPr>
              <a:t>を超える精度</a:t>
            </a:r>
            <a:endParaRPr kumimoji="1" lang="ja-JP" altLang="en-US" sz="3200">
              <a:solidFill>
                <a:srgbClr val="C00000"/>
              </a:solidFill>
            </a:endParaRPr>
          </a:p>
        </p:txBody>
      </p:sp>
      <p:graphicFrame>
        <p:nvGraphicFramePr>
          <p:cNvPr id="2" name="表 1">
            <a:extLst>
              <a:ext uri="{FF2B5EF4-FFF2-40B4-BE49-F238E27FC236}">
                <a16:creationId xmlns:a16="http://schemas.microsoft.com/office/drawing/2014/main" id="{B6C0A571-027E-729E-969A-A3265219DB0D}"/>
              </a:ext>
            </a:extLst>
          </p:cNvPr>
          <p:cNvGraphicFramePr>
            <a:graphicFrameLocks noGrp="1"/>
          </p:cNvGraphicFramePr>
          <p:nvPr>
            <p:extLst>
              <p:ext uri="{D42A27DB-BD31-4B8C-83A1-F6EECF244321}">
                <p14:modId xmlns:p14="http://schemas.microsoft.com/office/powerpoint/2010/main" val="2895968753"/>
              </p:ext>
            </p:extLst>
          </p:nvPr>
        </p:nvGraphicFramePr>
        <p:xfrm>
          <a:off x="714891" y="5886437"/>
          <a:ext cx="48768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188527385"/>
                    </a:ext>
                  </a:extLst>
                </a:gridCol>
                <a:gridCol w="1625600">
                  <a:extLst>
                    <a:ext uri="{9D8B030D-6E8A-4147-A177-3AD203B41FA5}">
                      <a16:colId xmlns:a16="http://schemas.microsoft.com/office/drawing/2014/main" val="1132078996"/>
                    </a:ext>
                  </a:extLst>
                </a:gridCol>
                <a:gridCol w="1625600">
                  <a:extLst>
                    <a:ext uri="{9D8B030D-6E8A-4147-A177-3AD203B41FA5}">
                      <a16:colId xmlns:a16="http://schemas.microsoft.com/office/drawing/2014/main" val="1296012596"/>
                    </a:ext>
                  </a:extLst>
                </a:gridCol>
              </a:tblGrid>
              <a:tr h="370840">
                <a:tc>
                  <a:txBody>
                    <a:bodyPr/>
                    <a:lstStyle/>
                    <a:p>
                      <a:pPr algn="ctr"/>
                      <a:r>
                        <a:rPr kumimoji="1" lang="en-US" altLang="ja-JP" dirty="0"/>
                        <a:t>GraphRAG</a:t>
                      </a:r>
                      <a:endParaRPr kumimoji="1" lang="ja-JP" altLang="en-US"/>
                    </a:p>
                  </a:txBody>
                  <a:tcPr/>
                </a:tc>
                <a:tc>
                  <a:txBody>
                    <a:bodyPr/>
                    <a:lstStyle/>
                    <a:p>
                      <a:pPr algn="ctr"/>
                      <a:r>
                        <a:rPr kumimoji="1" lang="ja-JP" altLang="en-US"/>
                        <a:t>提案手法</a:t>
                      </a:r>
                    </a:p>
                  </a:txBody>
                  <a:tcPr/>
                </a:tc>
                <a:tc>
                  <a:txBody>
                    <a:bodyPr/>
                    <a:lstStyle/>
                    <a:p>
                      <a:pPr algn="ctr"/>
                      <a:r>
                        <a:rPr kumimoji="1" lang="en-US" altLang="ja-JP" dirty="0"/>
                        <a:t>RAG</a:t>
                      </a:r>
                    </a:p>
                  </a:txBody>
                  <a:tcPr/>
                </a:tc>
                <a:extLst>
                  <a:ext uri="{0D108BD9-81ED-4DB2-BD59-A6C34878D82A}">
                    <a16:rowId xmlns:a16="http://schemas.microsoft.com/office/drawing/2014/main" val="874790018"/>
                  </a:ext>
                </a:extLst>
              </a:tr>
              <a:tr h="370840">
                <a:tc>
                  <a:txBody>
                    <a:bodyPr/>
                    <a:lstStyle/>
                    <a:p>
                      <a:pPr algn="ctr"/>
                      <a:r>
                        <a:rPr kumimoji="1" lang="en-US" altLang="ja-JP" dirty="0"/>
                        <a:t>22.72</a:t>
                      </a:r>
                      <a:endParaRPr kumimoji="1" lang="ja-JP" altLang="en-US"/>
                    </a:p>
                  </a:txBody>
                  <a:tcPr/>
                </a:tc>
                <a:tc>
                  <a:txBody>
                    <a:bodyPr/>
                    <a:lstStyle/>
                    <a:p>
                      <a:pPr algn="ctr"/>
                      <a:r>
                        <a:rPr kumimoji="1" lang="en-US" altLang="ja-JP" dirty="0"/>
                        <a:t>16.86</a:t>
                      </a:r>
                      <a:endParaRPr kumimoji="1" lang="ja-JP" altLang="en-US"/>
                    </a:p>
                  </a:txBody>
                  <a:tcPr/>
                </a:tc>
                <a:tc>
                  <a:txBody>
                    <a:bodyPr/>
                    <a:lstStyle/>
                    <a:p>
                      <a:pPr algn="ctr"/>
                      <a:r>
                        <a:rPr kumimoji="1" lang="en-US" altLang="ja-JP" dirty="0"/>
                        <a:t>16.29</a:t>
                      </a:r>
                      <a:endParaRPr kumimoji="1" lang="ja-JP" altLang="en-US"/>
                    </a:p>
                  </a:txBody>
                  <a:tcPr/>
                </a:tc>
                <a:extLst>
                  <a:ext uri="{0D108BD9-81ED-4DB2-BD59-A6C34878D82A}">
                    <a16:rowId xmlns:a16="http://schemas.microsoft.com/office/drawing/2014/main" val="3509194947"/>
                  </a:ext>
                </a:extLst>
              </a:tr>
            </a:tbl>
          </a:graphicData>
        </a:graphic>
      </p:graphicFrame>
      <p:sp>
        <p:nvSpPr>
          <p:cNvPr id="11" name="テキスト ボックス 10">
            <a:extLst>
              <a:ext uri="{FF2B5EF4-FFF2-40B4-BE49-F238E27FC236}">
                <a16:creationId xmlns:a16="http://schemas.microsoft.com/office/drawing/2014/main" id="{295AE3FE-ACAF-E9DC-6344-4DD017646107}"/>
              </a:ext>
            </a:extLst>
          </p:cNvPr>
          <p:cNvSpPr txBox="1"/>
          <p:nvPr/>
        </p:nvSpPr>
        <p:spPr>
          <a:xfrm>
            <a:off x="7210490" y="5523225"/>
            <a:ext cx="3656445" cy="369332"/>
          </a:xfrm>
          <a:prstGeom prst="rect">
            <a:avLst/>
          </a:prstGeom>
          <a:noFill/>
        </p:spPr>
        <p:txBody>
          <a:bodyPr wrap="square">
            <a:spAutoFit/>
          </a:bodyPr>
          <a:lstStyle/>
          <a:p>
            <a:pPr algn="ctr"/>
            <a:r>
              <a:rPr lang="en" altLang="ja-JP" dirty="0">
                <a:solidFill>
                  <a:schemeClr val="tx2"/>
                </a:solidFill>
                <a:latin typeface="Yu Gothic" panose="020B0400000000000000" pitchFamily="34" charset="-128"/>
                <a:ea typeface="Yu Gothic" panose="020B0400000000000000" pitchFamily="34" charset="-128"/>
              </a:rPr>
              <a:t>Diversity (</a:t>
            </a:r>
            <a:r>
              <a:rPr lang="ja-JP" altLang="en-US">
                <a:solidFill>
                  <a:schemeClr val="tx2"/>
                </a:solidFill>
                <a:latin typeface="Yu Gothic" panose="020B0400000000000000" pitchFamily="34" charset="-128"/>
                <a:ea typeface="Yu Gothic" panose="020B0400000000000000" pitchFamily="34" charset="-128"/>
              </a:rPr>
              <a:t>個</a:t>
            </a:r>
            <a:r>
              <a:rPr lang="en" altLang="ja-JP" dirty="0">
                <a:solidFill>
                  <a:schemeClr val="tx2"/>
                </a:solidFill>
                <a:latin typeface="Yu Gothic" panose="020B0400000000000000" pitchFamily="34" charset="-128"/>
                <a:ea typeface="Yu Gothic" panose="020B0400000000000000" pitchFamily="34" charset="-128"/>
              </a:rPr>
              <a:t>)</a:t>
            </a:r>
            <a:endParaRPr lang="ja-JP" altLang="en-US">
              <a:solidFill>
                <a:schemeClr val="tx2"/>
              </a:solidFill>
            </a:endParaRPr>
          </a:p>
        </p:txBody>
      </p:sp>
      <p:sp>
        <p:nvSpPr>
          <p:cNvPr id="18" name="テキスト ボックス 17">
            <a:extLst>
              <a:ext uri="{FF2B5EF4-FFF2-40B4-BE49-F238E27FC236}">
                <a16:creationId xmlns:a16="http://schemas.microsoft.com/office/drawing/2014/main" id="{4E5EDD52-FDFA-B434-9958-F8D0DF3D5A95}"/>
              </a:ext>
            </a:extLst>
          </p:cNvPr>
          <p:cNvSpPr txBox="1"/>
          <p:nvPr/>
        </p:nvSpPr>
        <p:spPr>
          <a:xfrm>
            <a:off x="1325068" y="5525717"/>
            <a:ext cx="3656445" cy="369332"/>
          </a:xfrm>
          <a:prstGeom prst="rect">
            <a:avLst/>
          </a:prstGeom>
          <a:noFill/>
        </p:spPr>
        <p:txBody>
          <a:bodyPr wrap="square">
            <a:spAutoFit/>
          </a:bodyPr>
          <a:lstStyle/>
          <a:p>
            <a:pPr algn="ctr"/>
            <a:r>
              <a:rPr lang="en" altLang="ja-JP" dirty="0">
                <a:solidFill>
                  <a:schemeClr val="tx2"/>
                </a:solidFill>
                <a:latin typeface="Yu Gothic" panose="020B0400000000000000" pitchFamily="34" charset="-128"/>
                <a:ea typeface="Yu Gothic" panose="020B0400000000000000" pitchFamily="34" charset="-128"/>
              </a:rPr>
              <a:t>Comprehensiveness</a:t>
            </a:r>
            <a:r>
              <a:rPr lang="en-US" altLang="ja-JP" dirty="0">
                <a:solidFill>
                  <a:schemeClr val="tx2"/>
                </a:solidFill>
                <a:latin typeface="Yu Gothic" panose="020B0400000000000000" pitchFamily="34" charset="-128"/>
                <a:ea typeface="Yu Gothic" panose="020B0400000000000000" pitchFamily="34" charset="-128"/>
              </a:rPr>
              <a:t> (</a:t>
            </a:r>
            <a:r>
              <a:rPr lang="ja-JP" altLang="en-US">
                <a:solidFill>
                  <a:schemeClr val="tx2"/>
                </a:solidFill>
                <a:latin typeface="Yu Gothic" panose="020B0400000000000000" pitchFamily="34" charset="-128"/>
                <a:ea typeface="Yu Gothic" panose="020B0400000000000000" pitchFamily="34" charset="-128"/>
              </a:rPr>
              <a:t>個</a:t>
            </a:r>
            <a:r>
              <a:rPr lang="en-US" altLang="ja-JP" dirty="0">
                <a:solidFill>
                  <a:schemeClr val="tx2"/>
                </a:solidFill>
                <a:latin typeface="Yu Gothic" panose="020B0400000000000000" pitchFamily="34" charset="-128"/>
                <a:ea typeface="Yu Gothic" panose="020B0400000000000000" pitchFamily="34" charset="-128"/>
              </a:rPr>
              <a:t>)</a:t>
            </a:r>
            <a:endParaRPr lang="ja-JP" altLang="en-US" sz="2400">
              <a:solidFill>
                <a:schemeClr val="tx2"/>
              </a:solidFill>
            </a:endParaRPr>
          </a:p>
        </p:txBody>
      </p:sp>
      <p:graphicFrame>
        <p:nvGraphicFramePr>
          <p:cNvPr id="6" name="グラフ 5">
            <a:extLst>
              <a:ext uri="{FF2B5EF4-FFF2-40B4-BE49-F238E27FC236}">
                <a16:creationId xmlns:a16="http://schemas.microsoft.com/office/drawing/2014/main" id="{8E72A2EC-2052-E43F-0745-8062B1D555E7}"/>
              </a:ext>
            </a:extLst>
          </p:cNvPr>
          <p:cNvGraphicFramePr>
            <a:graphicFrameLocks/>
          </p:cNvGraphicFramePr>
          <p:nvPr>
            <p:extLst>
              <p:ext uri="{D42A27DB-BD31-4B8C-83A1-F6EECF244321}">
                <p14:modId xmlns:p14="http://schemas.microsoft.com/office/powerpoint/2010/main" val="3737517275"/>
              </p:ext>
            </p:extLst>
          </p:nvPr>
        </p:nvGraphicFramePr>
        <p:xfrm>
          <a:off x="5317846" y="2047850"/>
          <a:ext cx="3271325" cy="33208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a16="http://schemas.microsoft.com/office/drawing/2014/main" id="{DB224ECB-E986-C606-85DC-0E6499A75818}"/>
              </a:ext>
            </a:extLst>
          </p:cNvPr>
          <p:cNvGraphicFramePr>
            <a:graphicFrameLocks/>
          </p:cNvGraphicFramePr>
          <p:nvPr>
            <p:extLst>
              <p:ext uri="{D42A27DB-BD31-4B8C-83A1-F6EECF244321}">
                <p14:modId xmlns:p14="http://schemas.microsoft.com/office/powerpoint/2010/main" val="1449904529"/>
              </p:ext>
            </p:extLst>
          </p:nvPr>
        </p:nvGraphicFramePr>
        <p:xfrm>
          <a:off x="8810109" y="2039998"/>
          <a:ext cx="3271325" cy="3334107"/>
        </p:xfrm>
        <a:graphic>
          <a:graphicData uri="http://schemas.openxmlformats.org/drawingml/2006/chart">
            <c:chart xmlns:c="http://schemas.openxmlformats.org/drawingml/2006/chart" xmlns:r="http://schemas.openxmlformats.org/officeDocument/2006/relationships" r:id="rId3"/>
          </a:graphicData>
        </a:graphic>
      </p:graphicFrame>
      <p:sp>
        <p:nvSpPr>
          <p:cNvPr id="10" name="テキスト ボックス 9">
            <a:extLst>
              <a:ext uri="{FF2B5EF4-FFF2-40B4-BE49-F238E27FC236}">
                <a16:creationId xmlns:a16="http://schemas.microsoft.com/office/drawing/2014/main" id="{C3A7E3F2-D448-59F2-1DCA-31EA1E5D6C02}"/>
              </a:ext>
            </a:extLst>
          </p:cNvPr>
          <p:cNvSpPr txBox="1"/>
          <p:nvPr/>
        </p:nvSpPr>
        <p:spPr>
          <a:xfrm>
            <a:off x="6729602" y="1667986"/>
            <a:ext cx="3940076" cy="369332"/>
          </a:xfrm>
          <a:prstGeom prst="rect">
            <a:avLst/>
          </a:prstGeom>
          <a:noFill/>
        </p:spPr>
        <p:txBody>
          <a:bodyPr wrap="square">
            <a:spAutoFit/>
          </a:bodyPr>
          <a:lstStyle/>
          <a:p>
            <a:pPr algn="ctr"/>
            <a:r>
              <a:rPr lang="en-US" altLang="ja-JP" dirty="0">
                <a:solidFill>
                  <a:schemeClr val="tx2"/>
                </a:solidFill>
                <a:latin typeface="Yu Gothic" panose="020B0400000000000000" pitchFamily="34" charset="-128"/>
                <a:ea typeface="Yu Gothic" panose="020B0400000000000000" pitchFamily="34" charset="-128"/>
              </a:rPr>
              <a:t>LLM</a:t>
            </a:r>
            <a:r>
              <a:rPr lang="ja-JP" altLang="en-US">
                <a:solidFill>
                  <a:schemeClr val="tx2"/>
                </a:solidFill>
                <a:latin typeface="Yu Gothic" panose="020B0400000000000000" pitchFamily="34" charset="-128"/>
                <a:ea typeface="Yu Gothic" panose="020B0400000000000000" pitchFamily="34" charset="-128"/>
              </a:rPr>
              <a:t>による評価結果</a:t>
            </a:r>
            <a:endParaRPr lang="ja-JP" altLang="en-US" sz="2400">
              <a:solidFill>
                <a:schemeClr val="tx2"/>
              </a:solidFill>
            </a:endParaRPr>
          </a:p>
        </p:txBody>
      </p:sp>
    </p:spTree>
    <p:extLst>
      <p:ext uri="{BB962C8B-B14F-4D97-AF65-F5344CB8AC3E}">
        <p14:creationId xmlns:p14="http://schemas.microsoft.com/office/powerpoint/2010/main" val="3720886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EF4F2-99E6-8D8E-5ADD-F34F08F67040}"/>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CFA686B-6883-52F4-408D-D2A36097AE42}"/>
              </a:ext>
            </a:extLst>
          </p:cNvPr>
          <p:cNvSpPr>
            <a:spLocks noGrp="1"/>
          </p:cNvSpPr>
          <p:nvPr>
            <p:ph idx="1"/>
          </p:nvPr>
        </p:nvSpPr>
        <p:spPr>
          <a:xfrm>
            <a:off x="546099" y="1142999"/>
            <a:ext cx="11455400" cy="5715001"/>
          </a:xfrm>
        </p:spPr>
        <p:txBody>
          <a:bodyPr>
            <a:normAutofit fontScale="92500"/>
          </a:bodyPr>
          <a:lstStyle/>
          <a:p>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は包括的かつ多様な視点での推論を可能とするが</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　　　グラフ生成時のコストが大きい</a:t>
            </a:r>
            <a:endParaRPr lang="en-US" altLang="ja-JP" dirty="0">
              <a:latin typeface="Yu Gothic" panose="020B0400000000000000" pitchFamily="34" charset="-128"/>
              <a:ea typeface="Yu Gothic" panose="020B0400000000000000" pitchFamily="34" charset="-128"/>
            </a:endParaRPr>
          </a:p>
          <a:p>
            <a:r>
              <a:rPr lang="ja-JP" altLang="en-US">
                <a:latin typeface="Yu Gothic" panose="020B0400000000000000" pitchFamily="34" charset="-128"/>
                <a:ea typeface="Yu Gothic" panose="020B0400000000000000" pitchFamily="34" charset="-128"/>
              </a:rPr>
              <a:t>提案手法では</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グラフ生成</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を使用せずにグラフ構築方法を単純化</a:t>
            </a:r>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のメリットである「多様な視点」は残しつつ</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コストを削減</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グラフ構築には単純な単語の出現量のみで計算可能な</a:t>
            </a:r>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を使用</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コミュニティ検出・要約などのワークフローを削減</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グラフ構築時の</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使用を</a:t>
            </a:r>
            <a:r>
              <a:rPr lang="en-US" altLang="ja-JP" dirty="0">
                <a:latin typeface="Yu Gothic" panose="020B0400000000000000" pitchFamily="34" charset="-128"/>
                <a:ea typeface="Yu Gothic" panose="020B0400000000000000" pitchFamily="34" charset="-128"/>
              </a:rPr>
              <a:t>0</a:t>
            </a:r>
            <a:r>
              <a:rPr lang="ja-JP" altLang="en-US">
                <a:latin typeface="Yu Gothic" panose="020B0400000000000000" pitchFamily="34" charset="-128"/>
                <a:ea typeface="Yu Gothic" panose="020B0400000000000000" pitchFamily="34" charset="-128"/>
              </a:rPr>
              <a:t>に</a:t>
            </a:r>
            <a:endParaRPr lang="en-US" altLang="ja-JP" dirty="0">
              <a:latin typeface="Yu Gothic" panose="020B0400000000000000" pitchFamily="34" charset="-128"/>
              <a:ea typeface="Yu Gothic" panose="020B0400000000000000" pitchFamily="34" charset="-128"/>
            </a:endParaRPr>
          </a:p>
          <a:p>
            <a:r>
              <a:rPr lang="ja-JP" altLang="en-US">
                <a:latin typeface="Yu Gothic" panose="020B0400000000000000" pitchFamily="34" charset="-128"/>
                <a:ea typeface="Yu Gothic" panose="020B0400000000000000" pitchFamily="34" charset="-128"/>
              </a:rPr>
              <a:t>グラフ生成の所要時間や</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使用トークンを大幅に削減</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と比べて</a:t>
            </a:r>
            <a:r>
              <a:rPr lang="en-US" altLang="ja-JP" dirty="0">
                <a:latin typeface="Yu Gothic" panose="020B0400000000000000" pitchFamily="34" charset="-128"/>
                <a:ea typeface="Yu Gothic" panose="020B0400000000000000" pitchFamily="34" charset="-128"/>
              </a:rPr>
              <a:t>2.5</a:t>
            </a:r>
            <a:r>
              <a:rPr lang="ja-JP" altLang="en-US">
                <a:latin typeface="Yu Gothic" panose="020B0400000000000000" pitchFamily="34" charset="-128"/>
                <a:ea typeface="Yu Gothic" panose="020B0400000000000000" pitchFamily="34" charset="-128"/>
              </a:rPr>
              <a:t>時間以上短縮</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では</a:t>
            </a:r>
            <a:r>
              <a:rPr lang="en-US" altLang="ja-JP" dirty="0">
                <a:latin typeface="Yu Gothic" panose="020B0400000000000000" pitchFamily="34" charset="-128"/>
                <a:ea typeface="Yu Gothic" panose="020B0400000000000000" pitchFamily="34" charset="-128"/>
              </a:rPr>
              <a:t>LLM</a:t>
            </a:r>
            <a:r>
              <a:rPr lang="ja-JP" altLang="en-US">
                <a:latin typeface="Yu Gothic" panose="020B0400000000000000" pitchFamily="34" charset="-128"/>
                <a:ea typeface="Yu Gothic" panose="020B0400000000000000" pitchFamily="34" charset="-128"/>
              </a:rPr>
              <a:t>を約</a:t>
            </a:r>
            <a:r>
              <a:rPr lang="en-US" altLang="ja-JP" dirty="0">
                <a:latin typeface="Yu Gothic" panose="020B0400000000000000" pitchFamily="34" charset="-128"/>
                <a:ea typeface="Yu Gothic" panose="020B0400000000000000" pitchFamily="34" charset="-128"/>
              </a:rPr>
              <a:t>5000</a:t>
            </a:r>
            <a:r>
              <a:rPr lang="ja-JP" altLang="en-US">
                <a:latin typeface="Yu Gothic" panose="020B0400000000000000" pitchFamily="34" charset="-128"/>
                <a:ea typeface="Yu Gothic" panose="020B0400000000000000" pitchFamily="34" charset="-128"/>
              </a:rPr>
              <a:t>万トークン使用</a:t>
            </a:r>
            <a:r>
              <a:rPr lang="en-US" altLang="ja-JP" dirty="0">
                <a:latin typeface="Yu Gothic" panose="020B0400000000000000" pitchFamily="34" charset="-128"/>
                <a:ea typeface="Yu Gothic" panose="020B0400000000000000" pitchFamily="34" charset="-128"/>
              </a:rPr>
              <a:t> → </a:t>
            </a:r>
            <a:r>
              <a:rPr lang="ja-JP" altLang="en-US">
                <a:latin typeface="Yu Gothic" panose="020B0400000000000000" pitchFamily="34" charset="-128"/>
                <a:ea typeface="Yu Gothic" panose="020B0400000000000000" pitchFamily="34" charset="-128"/>
              </a:rPr>
              <a:t>提案手法では</a:t>
            </a:r>
            <a:r>
              <a:rPr lang="en-US" altLang="ja-JP" dirty="0">
                <a:latin typeface="Yu Gothic" panose="020B0400000000000000" pitchFamily="34" charset="-128"/>
                <a:ea typeface="Yu Gothic" panose="020B0400000000000000" pitchFamily="34" charset="-128"/>
              </a:rPr>
              <a:t>0</a:t>
            </a:r>
            <a:r>
              <a:rPr lang="ja-JP" altLang="en-US">
                <a:latin typeface="Yu Gothic" panose="020B0400000000000000" pitchFamily="34" charset="-128"/>
                <a:ea typeface="Yu Gothic" panose="020B0400000000000000" pitchFamily="34" charset="-128"/>
              </a:rPr>
              <a:t>トークンに</a:t>
            </a:r>
            <a:endParaRPr lang="en-US" altLang="ja-JP" dirty="0">
              <a:latin typeface="Yu Gothic" panose="020B0400000000000000" pitchFamily="34" charset="-128"/>
              <a:ea typeface="Yu Gothic" panose="020B0400000000000000" pitchFamily="34" charset="-128"/>
            </a:endParaRPr>
          </a:p>
          <a:p>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のように包括的かつ多様な視点からの回答が可能</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グローバルな質問に対し</a:t>
            </a:r>
            <a:r>
              <a:rPr lang="en-US" altLang="ja-JP" dirty="0">
                <a:latin typeface="Yu Gothic" panose="020B0400000000000000" pitchFamily="34" charset="-128"/>
                <a:ea typeface="Yu Gothic" panose="020B0400000000000000" pitchFamily="34" charset="-128"/>
              </a:rPr>
              <a:t>, RAG</a:t>
            </a:r>
            <a:r>
              <a:rPr lang="ja-JP" altLang="en-US">
                <a:latin typeface="Yu Gothic" panose="020B0400000000000000" pitchFamily="34" charset="-128"/>
                <a:ea typeface="Yu Gothic" panose="020B0400000000000000" pitchFamily="34" charset="-128"/>
              </a:rPr>
              <a:t>以上の精度を達成</a:t>
            </a:r>
            <a:endParaRPr lang="en-US" altLang="ja-JP" dirty="0">
              <a:latin typeface="Yu Gothic" panose="020B0400000000000000" pitchFamily="34" charset="-128"/>
              <a:ea typeface="Yu Gothic" panose="020B0400000000000000" pitchFamily="34" charset="-128"/>
            </a:endParaRPr>
          </a:p>
          <a:p>
            <a:pPr lvl="1"/>
            <a:endParaRPr lang="en-US" altLang="ja-JP" dirty="0">
              <a:latin typeface="Yu Gothic" panose="020B0400000000000000" pitchFamily="34" charset="-128"/>
              <a:ea typeface="Yu Gothic" panose="020B0400000000000000" pitchFamily="34" charset="-128"/>
            </a:endParaRPr>
          </a:p>
          <a:p>
            <a:endParaRPr lang="ja-JP" altLang="en-US">
              <a:latin typeface="Yu Gothic" panose="020B0400000000000000" pitchFamily="34" charset="-128"/>
              <a:ea typeface="Yu Gothic" panose="020B0400000000000000" pitchFamily="34" charset="-128"/>
            </a:endParaRPr>
          </a:p>
          <a:p>
            <a:endParaRPr lang="en-US" altLang="ja-JP"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8F61F215-2EE0-DB8E-F794-B75075F90836}"/>
              </a:ext>
            </a:extLst>
          </p:cNvPr>
          <p:cNvSpPr>
            <a:spLocks noGrp="1"/>
          </p:cNvSpPr>
          <p:nvPr>
            <p:ph type="body" sz="quarter" idx="11"/>
          </p:nvPr>
        </p:nvSpPr>
        <p:spPr/>
        <p:txBody>
          <a:bodyPr>
            <a:normAutofit fontScale="92500" lnSpcReduction="20000"/>
          </a:bodyPr>
          <a:lstStyle/>
          <a:p>
            <a:r>
              <a:rPr lang="ja-JP" altLang="en-US"/>
              <a:t>まとめ</a:t>
            </a:r>
            <a:endParaRPr kumimoji="1" lang="ja-JP" altLang="en-US"/>
          </a:p>
        </p:txBody>
      </p:sp>
    </p:spTree>
    <p:extLst>
      <p:ext uri="{BB962C8B-B14F-4D97-AF65-F5344CB8AC3E}">
        <p14:creationId xmlns:p14="http://schemas.microsoft.com/office/powerpoint/2010/main" val="3544872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A3332-98F1-DF8D-AFAD-501A731B2068}"/>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6D2871F6-F8DC-E5CE-11C4-C4B1EF600790}"/>
              </a:ext>
            </a:extLst>
          </p:cNvPr>
          <p:cNvSpPr>
            <a:spLocks noGrp="1"/>
          </p:cNvSpPr>
          <p:nvPr>
            <p:ph type="body" sz="quarter" idx="11"/>
          </p:nvPr>
        </p:nvSpPr>
        <p:spPr/>
        <p:txBody>
          <a:bodyPr>
            <a:normAutofit fontScale="92500" lnSpcReduction="20000"/>
          </a:bodyPr>
          <a:lstStyle/>
          <a:p>
            <a:r>
              <a:rPr kumimoji="1" lang="ja-JP" altLang="en-US"/>
              <a:t>参考文献</a:t>
            </a:r>
          </a:p>
        </p:txBody>
      </p:sp>
      <p:sp>
        <p:nvSpPr>
          <p:cNvPr id="6" name="テキスト ボックス 5">
            <a:extLst>
              <a:ext uri="{FF2B5EF4-FFF2-40B4-BE49-F238E27FC236}">
                <a16:creationId xmlns:a16="http://schemas.microsoft.com/office/drawing/2014/main" id="{FC8E5832-62C2-9B2A-E2A7-BEFCB21797AC}"/>
              </a:ext>
            </a:extLst>
          </p:cNvPr>
          <p:cNvSpPr txBox="1"/>
          <p:nvPr/>
        </p:nvSpPr>
        <p:spPr>
          <a:xfrm>
            <a:off x="368300" y="1083351"/>
            <a:ext cx="11455400" cy="2585323"/>
          </a:xfrm>
          <a:prstGeom prst="rect">
            <a:avLst/>
          </a:prstGeom>
          <a:noFill/>
        </p:spPr>
        <p:txBody>
          <a:bodyPr wrap="square" rtlCol="0">
            <a:spAutoFit/>
          </a:bodyPr>
          <a:lstStyle/>
          <a:p>
            <a:r>
              <a:rPr lang="en" altLang="ja-JP" i="0" dirty="0">
                <a:effectLst/>
                <a:latin typeface="Yu Gothic" panose="020B0400000000000000" pitchFamily="34" charset="-128"/>
                <a:ea typeface="Yu Gothic" panose="020B0400000000000000" pitchFamily="34" charset="-128"/>
              </a:rPr>
              <a:t>[1] Darren Edge, Ha Trinh, Newman Cheng, Joshua Bradley, Alex Chao, Apurva Mody, Steven Truitt, Dasha </a:t>
            </a:r>
            <a:r>
              <a:rPr lang="en" altLang="ja-JP" i="0" dirty="0" err="1">
                <a:effectLst/>
                <a:latin typeface="Yu Gothic" panose="020B0400000000000000" pitchFamily="34" charset="-128"/>
                <a:ea typeface="Yu Gothic" panose="020B0400000000000000" pitchFamily="34" charset="-128"/>
              </a:rPr>
              <a:t>Metropolitansky</a:t>
            </a:r>
            <a:r>
              <a:rPr lang="en" altLang="ja-JP" i="0" dirty="0">
                <a:effectLst/>
                <a:latin typeface="Yu Gothic" panose="020B0400000000000000" pitchFamily="34" charset="-128"/>
                <a:ea typeface="Yu Gothic" panose="020B0400000000000000" pitchFamily="34" charset="-128"/>
              </a:rPr>
              <a:t>, Robert </a:t>
            </a:r>
            <a:r>
              <a:rPr lang="en" altLang="ja-JP" i="0" dirty="0" err="1">
                <a:effectLst/>
                <a:latin typeface="Yu Gothic" panose="020B0400000000000000" pitchFamily="34" charset="-128"/>
                <a:ea typeface="Yu Gothic" panose="020B0400000000000000" pitchFamily="34" charset="-128"/>
              </a:rPr>
              <a:t>Osazuwa</a:t>
            </a:r>
            <a:r>
              <a:rPr lang="en" altLang="ja-JP" i="0" dirty="0">
                <a:effectLst/>
                <a:latin typeface="Yu Gothic" panose="020B0400000000000000" pitchFamily="34" charset="-128"/>
                <a:ea typeface="Yu Gothic" panose="020B0400000000000000" pitchFamily="34" charset="-128"/>
              </a:rPr>
              <a:t> Ness, Jonathan Larson. 2024. From Local to Global: A Graph RAG Approach to Query-Focused Summarization. arXiv:2404.16130 [</a:t>
            </a:r>
            <a:r>
              <a:rPr lang="en" altLang="ja-JP" i="0" dirty="0" err="1">
                <a:effectLst/>
                <a:latin typeface="Yu Gothic" panose="020B0400000000000000" pitchFamily="34" charset="-128"/>
                <a:ea typeface="Yu Gothic" panose="020B0400000000000000" pitchFamily="34" charset="-128"/>
              </a:rPr>
              <a:t>cs.CL</a:t>
            </a:r>
            <a:r>
              <a:rPr lang="en" altLang="ja-JP" i="0" dirty="0">
                <a:effectLst/>
                <a:latin typeface="Yu Gothic" panose="020B0400000000000000" pitchFamily="34" charset="-128"/>
                <a:ea typeface="Yu Gothic" panose="020B0400000000000000" pitchFamily="34" charset="-128"/>
              </a:rPr>
              <a:t>] https://</a:t>
            </a:r>
            <a:r>
              <a:rPr lang="en" altLang="ja-JP" i="0" dirty="0" err="1">
                <a:effectLst/>
                <a:latin typeface="Yu Gothic" panose="020B0400000000000000" pitchFamily="34" charset="-128"/>
                <a:ea typeface="Yu Gothic" panose="020B0400000000000000" pitchFamily="34" charset="-128"/>
              </a:rPr>
              <a:t>arxiv.org</a:t>
            </a:r>
            <a:r>
              <a:rPr lang="en" altLang="ja-JP" i="0" dirty="0">
                <a:effectLst/>
                <a:latin typeface="Yu Gothic" panose="020B0400000000000000" pitchFamily="34" charset="-128"/>
                <a:ea typeface="Yu Gothic" panose="020B0400000000000000" pitchFamily="34" charset="-128"/>
              </a:rPr>
              <a:t>/abs/2404.16130</a:t>
            </a:r>
            <a:r>
              <a:rPr lang="ja-JP" altLang="en-US" i="0">
                <a:effectLst/>
                <a:latin typeface="Yu Gothic" panose="020B0400000000000000" pitchFamily="34" charset="-128"/>
                <a:ea typeface="Yu Gothic" panose="020B0400000000000000" pitchFamily="34" charset="-128"/>
              </a:rPr>
              <a:t>　</a:t>
            </a:r>
            <a:endParaRPr lang="en" altLang="ja-JP" i="0" dirty="0">
              <a:effectLst/>
              <a:latin typeface="Yu Gothic" panose="020B0400000000000000" pitchFamily="34" charset="-128"/>
              <a:ea typeface="Yu Gothic" panose="020B0400000000000000" pitchFamily="34" charset="-128"/>
            </a:endParaRPr>
          </a:p>
          <a:p>
            <a:r>
              <a:rPr lang="en" altLang="ja-JP" i="0" dirty="0">
                <a:effectLst/>
                <a:latin typeface="Yu Gothic" panose="020B0400000000000000" pitchFamily="34" charset="-128"/>
                <a:ea typeface="Yu Gothic" panose="020B0400000000000000" pitchFamily="34" charset="-128"/>
              </a:rPr>
              <a:t>[2] Lewis, P., Perez, E., </a:t>
            </a:r>
            <a:r>
              <a:rPr lang="en" altLang="ja-JP" i="0" dirty="0" err="1">
                <a:effectLst/>
                <a:latin typeface="Yu Gothic" panose="020B0400000000000000" pitchFamily="34" charset="-128"/>
                <a:ea typeface="Yu Gothic" panose="020B0400000000000000" pitchFamily="34" charset="-128"/>
              </a:rPr>
              <a:t>Piktus</a:t>
            </a:r>
            <a:r>
              <a:rPr lang="en" altLang="ja-JP" i="0" dirty="0">
                <a:effectLst/>
                <a:latin typeface="Yu Gothic" panose="020B0400000000000000" pitchFamily="34" charset="-128"/>
                <a:ea typeface="Yu Gothic" panose="020B0400000000000000" pitchFamily="34" charset="-128"/>
              </a:rPr>
              <a:t>, A., Petroni, F., </a:t>
            </a:r>
            <a:r>
              <a:rPr lang="en" altLang="ja-JP" i="0" dirty="0" err="1">
                <a:effectLst/>
                <a:latin typeface="Yu Gothic" panose="020B0400000000000000" pitchFamily="34" charset="-128"/>
                <a:ea typeface="Yu Gothic" panose="020B0400000000000000" pitchFamily="34" charset="-128"/>
              </a:rPr>
              <a:t>Karpukhin</a:t>
            </a:r>
            <a:r>
              <a:rPr lang="en" altLang="ja-JP" i="0" dirty="0">
                <a:effectLst/>
                <a:latin typeface="Yu Gothic" panose="020B0400000000000000" pitchFamily="34" charset="-128"/>
                <a:ea typeface="Yu Gothic" panose="020B0400000000000000" pitchFamily="34" charset="-128"/>
              </a:rPr>
              <a:t>, V., Goyal, N., </a:t>
            </a:r>
            <a:r>
              <a:rPr lang="en" altLang="ja-JP" i="0" dirty="0" err="1">
                <a:effectLst/>
                <a:latin typeface="Yu Gothic" panose="020B0400000000000000" pitchFamily="34" charset="-128"/>
                <a:ea typeface="Yu Gothic" panose="020B0400000000000000" pitchFamily="34" charset="-128"/>
              </a:rPr>
              <a:t>KÅNuttler</a:t>
            </a:r>
            <a:r>
              <a:rPr lang="en" altLang="ja-JP" i="0" dirty="0">
                <a:effectLst/>
                <a:latin typeface="Yu Gothic" panose="020B0400000000000000" pitchFamily="34" charset="-128"/>
                <a:ea typeface="Yu Gothic" panose="020B0400000000000000" pitchFamily="34" charset="-128"/>
              </a:rPr>
              <a:t>, H., Lewis, M., Yih, W.-t., </a:t>
            </a:r>
            <a:r>
              <a:rPr lang="en" altLang="ja-JP" i="0" dirty="0" err="1">
                <a:effectLst/>
                <a:latin typeface="Yu Gothic" panose="020B0400000000000000" pitchFamily="34" charset="-128"/>
                <a:ea typeface="Yu Gothic" panose="020B0400000000000000" pitchFamily="34" charset="-128"/>
              </a:rPr>
              <a:t>RocktÅNaschel</a:t>
            </a:r>
            <a:r>
              <a:rPr lang="en" altLang="ja-JP" i="0" dirty="0">
                <a:effectLst/>
                <a:latin typeface="Yu Gothic" panose="020B0400000000000000" pitchFamily="34" charset="-128"/>
                <a:ea typeface="Yu Gothic" panose="020B0400000000000000" pitchFamily="34" charset="-128"/>
              </a:rPr>
              <a:t>, T., et al. 2020. Retrieval-augmented generation for knowledge-intensive </a:t>
            </a:r>
            <a:r>
              <a:rPr lang="en" altLang="ja-JP" i="0" dirty="0" err="1">
                <a:effectLst/>
                <a:latin typeface="Yu Gothic" panose="020B0400000000000000" pitchFamily="34" charset="-128"/>
                <a:ea typeface="Yu Gothic" panose="020B0400000000000000" pitchFamily="34" charset="-128"/>
              </a:rPr>
              <a:t>nlp</a:t>
            </a:r>
            <a:r>
              <a:rPr lang="en" altLang="ja-JP" dirty="0">
                <a:latin typeface="Yu Gothic" panose="020B0400000000000000" pitchFamily="34" charset="-128"/>
                <a:ea typeface="Yu Gothic" panose="020B0400000000000000" pitchFamily="34" charset="-128"/>
              </a:rPr>
              <a:t> </a:t>
            </a:r>
            <a:r>
              <a:rPr lang="en" altLang="ja-JP" i="0" dirty="0">
                <a:effectLst/>
                <a:latin typeface="Yu Gothic" panose="020B0400000000000000" pitchFamily="34" charset="-128"/>
                <a:ea typeface="Yu Gothic" panose="020B0400000000000000" pitchFamily="34" charset="-128"/>
              </a:rPr>
              <a:t>tasks. Advances in Neural Information Processing Systems, 33:9459–9474.</a:t>
            </a:r>
          </a:p>
          <a:p>
            <a:r>
              <a:rPr lang="en" altLang="ja-JP" dirty="0">
                <a:latin typeface="Yu Gothic" panose="020B0400000000000000" pitchFamily="34" charset="-128"/>
                <a:ea typeface="Yu Gothic" panose="020B0400000000000000" pitchFamily="34" charset="-128"/>
              </a:rPr>
              <a:t>[3] Dasha </a:t>
            </a:r>
            <a:r>
              <a:rPr lang="en" altLang="ja-JP" dirty="0" err="1">
                <a:latin typeface="Yu Gothic" panose="020B0400000000000000" pitchFamily="34" charset="-128"/>
                <a:ea typeface="Yu Gothic" panose="020B0400000000000000" pitchFamily="34" charset="-128"/>
              </a:rPr>
              <a:t>Metropolitansky</a:t>
            </a:r>
            <a:r>
              <a:rPr lang="en" altLang="ja-JP" dirty="0">
                <a:latin typeface="Yu Gothic" panose="020B0400000000000000" pitchFamily="34" charset="-128"/>
                <a:ea typeface="Yu Gothic" panose="020B0400000000000000" pitchFamily="34" charset="-128"/>
              </a:rPr>
              <a:t>, Jonathan Larson. 2025. Towards Effective Extraction and Evaluation of Factual Claims</a:t>
            </a:r>
          </a:p>
          <a:p>
            <a:endParaRPr lang="en" altLang="ja-JP" i="0" dirty="0">
              <a:effectLst/>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310414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7D4DB37-4F86-3FC5-AFBB-452BDB79D60B}"/>
              </a:ext>
            </a:extLst>
          </p:cNvPr>
          <p:cNvSpPr>
            <a:spLocks noGrp="1"/>
          </p:cNvSpPr>
          <p:nvPr>
            <p:ph type="body" sz="quarter" idx="11"/>
          </p:nvPr>
        </p:nvSpPr>
        <p:spPr/>
        <p:txBody>
          <a:bodyPr>
            <a:normAutofit fontScale="92500" lnSpcReduction="20000"/>
          </a:bodyPr>
          <a:lstStyle/>
          <a:p>
            <a:r>
              <a:rPr kumimoji="1" lang="ja-JP" altLang="en-US"/>
              <a:t>実際の出力例</a:t>
            </a:r>
            <a:r>
              <a:rPr kumimoji="1" lang="en-US" altLang="ja-JP" dirty="0"/>
              <a:t> (</a:t>
            </a:r>
            <a:r>
              <a:rPr kumimoji="1" lang="ja-JP" altLang="en-US"/>
              <a:t>和訳</a:t>
            </a:r>
            <a:r>
              <a:rPr kumimoji="1" lang="en-US" altLang="ja-JP" dirty="0"/>
              <a:t>) −RAG</a:t>
            </a:r>
            <a:r>
              <a:rPr kumimoji="1" lang="ja-JP" altLang="en-US"/>
              <a:t>　</a:t>
            </a:r>
            <a:r>
              <a:rPr kumimoji="1" lang="en-US" altLang="ja-JP" sz="1900" dirty="0"/>
              <a:t>※</a:t>
            </a:r>
            <a:r>
              <a:rPr kumimoji="1" lang="ja-JP" altLang="en-US" sz="1900"/>
              <a:t>同様の主張を色付け</a:t>
            </a:r>
            <a:r>
              <a:rPr kumimoji="1" lang="en-US" altLang="ja-JP" sz="1900" dirty="0"/>
              <a:t>→6</a:t>
            </a:r>
            <a:r>
              <a:rPr kumimoji="1" lang="ja-JP" altLang="en-US" sz="1900"/>
              <a:t>色</a:t>
            </a:r>
            <a:endParaRPr kumimoji="1" lang="ja-JP" altLang="en-US"/>
          </a:p>
        </p:txBody>
      </p:sp>
      <p:sp>
        <p:nvSpPr>
          <p:cNvPr id="5" name="コンテンツ プレースホルダー 2">
            <a:extLst>
              <a:ext uri="{FF2B5EF4-FFF2-40B4-BE49-F238E27FC236}">
                <a16:creationId xmlns:a16="http://schemas.microsoft.com/office/drawing/2014/main" id="{3B109F2A-817E-3AA1-7644-77E07E1DA5B1}"/>
              </a:ext>
            </a:extLst>
          </p:cNvPr>
          <p:cNvSpPr txBox="1">
            <a:spLocks/>
          </p:cNvSpPr>
          <p:nvPr/>
        </p:nvSpPr>
        <p:spPr>
          <a:xfrm>
            <a:off x="261984" y="2054269"/>
            <a:ext cx="11668032" cy="524214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2400" kern="1200">
                <a:solidFill>
                  <a:schemeClr val="tx2"/>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0"/>
              </a:spcBef>
              <a:buFont typeface="Wingdings" panose="05000000000000000000" pitchFamily="2" charset="2"/>
              <a:buNone/>
            </a:pPr>
            <a:r>
              <a:rPr lang="en-US" altLang="ja-JP" sz="1200" b="0" dirty="0"/>
              <a:t>## </a:t>
            </a:r>
            <a:r>
              <a:rPr lang="ja-JP" altLang="en-US" sz="1200" b="0"/>
              <a:t>気候変動政策をめぐる異なる視点</a:t>
            </a:r>
          </a:p>
          <a:p>
            <a:pPr marL="0" indent="0">
              <a:spcBef>
                <a:spcPts val="0"/>
              </a:spcBef>
              <a:buFont typeface="Wingdings" panose="05000000000000000000" pitchFamily="2" charset="2"/>
              <a:buNone/>
            </a:pPr>
            <a:r>
              <a:rPr lang="ja-JP" altLang="en-US" sz="1200" b="0"/>
              <a:t>気候変動政策に関する議論では、先進国と途上国との間で顕著な対照がしばしば見られる。先進国では、</a:t>
            </a:r>
            <a:r>
              <a:rPr lang="ja-JP" altLang="en-US" sz="1200" b="0">
                <a:highlight>
                  <a:srgbClr val="FFFF00"/>
                </a:highlight>
              </a:rPr>
              <a:t>温室効果ガス排出削減を目的とした技術革新</a:t>
            </a:r>
            <a:r>
              <a:rPr lang="ja-JP" altLang="en-US" sz="1200" b="0"/>
              <a:t>や</a:t>
            </a:r>
            <a:r>
              <a:rPr lang="ja-JP" altLang="en-US" sz="1200" b="0">
                <a:solidFill>
                  <a:schemeClr val="bg1"/>
                </a:solidFill>
                <a:highlight>
                  <a:srgbClr val="3B6FBB"/>
                </a:highlight>
              </a:rPr>
              <a:t>規制枠組み</a:t>
            </a:r>
            <a:r>
              <a:rPr lang="ja-JP" altLang="en-US" sz="1200" b="0"/>
              <a:t>に焦点が当てられる傾向がある。例えば、化石燃料に代わる経済的に実現可能な選択肢として注目される太陽光や風力などの</a:t>
            </a:r>
            <a:r>
              <a:rPr lang="ja-JP" altLang="en-US" sz="1200" b="0">
                <a:highlight>
                  <a:srgbClr val="FFFF00"/>
                </a:highlight>
              </a:rPr>
              <a:t>再生可能エネルギー導入</a:t>
            </a:r>
            <a:r>
              <a:rPr lang="ja-JP" altLang="en-US" sz="1200" b="0"/>
              <a:t>が議論の中心となることが多い。国際エネルギー機関（</a:t>
            </a:r>
            <a:r>
              <a:rPr lang="en" altLang="ja-JP" sz="1200" b="0" dirty="0"/>
              <a:t>IEA</a:t>
            </a:r>
            <a:r>
              <a:rPr lang="ja-JP" altLang="en" sz="1200" b="0"/>
              <a:t>）</a:t>
            </a:r>
            <a:r>
              <a:rPr lang="ja-JP" altLang="en-US" sz="1200" b="0"/>
              <a:t>は、太陽光・風力発電が従来型エネルギー源よりも安価になりつつあると指摘しており、これらの地域における</a:t>
            </a:r>
            <a:r>
              <a:rPr lang="ja-JP" altLang="en-US" sz="1200" b="0">
                <a:highlight>
                  <a:srgbClr val="FFFF00"/>
                </a:highlight>
              </a:rPr>
              <a:t>クリーンエネルギーへの移行</a:t>
            </a:r>
            <a:r>
              <a:rPr lang="ja-JP" altLang="en-US" sz="1200" b="0"/>
              <a:t>を示唆している</a:t>
            </a:r>
            <a:r>
              <a:rPr lang="ja-JP" altLang="en" sz="1200" b="0"/>
              <a:t>。</a:t>
            </a:r>
          </a:p>
          <a:p>
            <a:pPr marL="0" indent="0">
              <a:spcBef>
                <a:spcPts val="0"/>
              </a:spcBef>
              <a:buFont typeface="Wingdings" panose="05000000000000000000" pitchFamily="2" charset="2"/>
              <a:buNone/>
            </a:pPr>
            <a:r>
              <a:rPr lang="ja-JP" altLang="en-US" sz="1200" b="0"/>
              <a:t>一方、</a:t>
            </a:r>
            <a:r>
              <a:rPr lang="ja-JP" altLang="en-US" sz="1200" b="0">
                <a:solidFill>
                  <a:schemeClr val="bg1"/>
                </a:solidFill>
                <a:highlight>
                  <a:srgbClr val="808080"/>
                </a:highlight>
              </a:rPr>
              <a:t>途上国は厳しい気候政策の経済的影響について懸念</a:t>
            </a:r>
            <a:r>
              <a:rPr lang="ja-JP" altLang="en-US" sz="1200" b="0"/>
              <a:t>を表明することが多い。これらの国々は</a:t>
            </a:r>
            <a:r>
              <a:rPr lang="ja-JP" altLang="en-US" sz="1200" b="0">
                <a:solidFill>
                  <a:schemeClr val="bg1"/>
                </a:solidFill>
                <a:highlight>
                  <a:srgbClr val="808080"/>
                </a:highlight>
              </a:rPr>
              <a:t>経済成長と貧困削減を優先</a:t>
            </a:r>
            <a:r>
              <a:rPr lang="ja-JP" altLang="en-US" sz="1200" b="0"/>
              <a:t>し、</a:t>
            </a:r>
            <a:r>
              <a:rPr lang="ja-JP" altLang="en-US" sz="1200" b="0">
                <a:solidFill>
                  <a:schemeClr val="bg1"/>
                </a:solidFill>
                <a:highlight>
                  <a:srgbClr val="808080"/>
                </a:highlight>
              </a:rPr>
              <a:t>気候変動対策が開発目標の妨げとなる可能性がある</a:t>
            </a:r>
            <a:r>
              <a:rPr lang="ja-JP" altLang="en-US" sz="1200" b="0"/>
              <a:t>と見なしている。</a:t>
            </a:r>
            <a:r>
              <a:rPr lang="ja-JP" altLang="en-US" sz="1200" b="0">
                <a:solidFill>
                  <a:schemeClr val="bg1"/>
                </a:solidFill>
                <a:highlight>
                  <a:srgbClr val="808080"/>
                </a:highlight>
              </a:rPr>
              <a:t>経済的進歩を損なうことなく持続可能な実践へ移行するため、先進国からの財政支援と技術移転の必要性</a:t>
            </a:r>
            <a:r>
              <a:rPr lang="ja-JP" altLang="en-US" sz="1200" b="0"/>
              <a:t>が強調されている。この視点は、多くの途上国が既に極端な気象現象などの気候変動の影響を直撃しており、気候変動への耐性強化への投資能力を複雑化させているという認識によって裏付けられている</a:t>
            </a:r>
            <a:r>
              <a:rPr lang="ja-JP" altLang="en" sz="1200" b="0"/>
              <a:t>。</a:t>
            </a:r>
          </a:p>
          <a:p>
            <a:pPr marL="0" indent="0">
              <a:spcBef>
                <a:spcPts val="0"/>
              </a:spcBef>
              <a:buFont typeface="Wingdings" panose="05000000000000000000" pitchFamily="2" charset="2"/>
              <a:buNone/>
            </a:pPr>
            <a:r>
              <a:rPr lang="en" altLang="ja-JP" sz="1200" b="0" dirty="0"/>
              <a:t>## </a:t>
            </a:r>
            <a:r>
              <a:rPr lang="ja-JP" altLang="en-US" sz="1200" b="0"/>
              <a:t>世界の世論への影響</a:t>
            </a:r>
          </a:p>
          <a:p>
            <a:pPr marL="0" indent="0">
              <a:spcBef>
                <a:spcPts val="0"/>
              </a:spcBef>
              <a:buFont typeface="Wingdings" panose="05000000000000000000" pitchFamily="2" charset="2"/>
              <a:buNone/>
            </a:pPr>
            <a:r>
              <a:rPr lang="ja-JP" altLang="en-US" sz="1200" b="0"/>
              <a:t>先進国と途上国における気候変動政策への相違した見解は、世界の世論に重大な影響を及ぼす。先進国では、気候変動に関する科学的合意とその潜在的影響への認識の高まりから、気候行動を主導する</a:t>
            </a:r>
            <a:r>
              <a:rPr lang="ja-JP" altLang="en-US" sz="1200" b="0">
                <a:solidFill>
                  <a:schemeClr val="bg1"/>
                </a:solidFill>
                <a:highlight>
                  <a:srgbClr val="FF00FF"/>
                </a:highlight>
              </a:rPr>
              <a:t>緊急性</a:t>
            </a:r>
            <a:r>
              <a:rPr lang="ja-JP" altLang="en-US" sz="1200" b="0"/>
              <a:t>と</a:t>
            </a:r>
            <a:r>
              <a:rPr lang="ja-JP" altLang="en-US" sz="1200" b="0">
                <a:solidFill>
                  <a:schemeClr val="bg1"/>
                </a:solidFill>
                <a:highlight>
                  <a:srgbClr val="008000"/>
                </a:highlight>
              </a:rPr>
              <a:t>責任感</a:t>
            </a:r>
            <a:r>
              <a:rPr lang="ja-JP" altLang="en-US" sz="1200" b="0"/>
              <a:t>がしばしば存在する。</a:t>
            </a:r>
            <a:r>
              <a:rPr lang="ja-JP" altLang="en-US" sz="1200" b="0">
                <a:solidFill>
                  <a:schemeClr val="bg1"/>
                </a:solidFill>
                <a:highlight>
                  <a:srgbClr val="FF00FF"/>
                </a:highlight>
              </a:rPr>
              <a:t>この緊急性は、気候イニシアチブや政策を支援するより積極的な世論を育む可能性がある。</a:t>
            </a:r>
          </a:p>
          <a:p>
            <a:pPr marL="0" indent="0">
              <a:spcBef>
                <a:spcPts val="0"/>
              </a:spcBef>
              <a:buFont typeface="Wingdings" panose="05000000000000000000" pitchFamily="2" charset="2"/>
              <a:buNone/>
            </a:pPr>
            <a:r>
              <a:rPr lang="ja-JP" altLang="en-US" sz="1200" b="0"/>
              <a:t>一方、途上国では、特に自国の開発ニーズに対する十分な支援なしに富裕国から押し付けられていると認識される場合、</a:t>
            </a:r>
            <a:r>
              <a:rPr lang="ja-JP" altLang="en-US" sz="1200" b="0">
                <a:solidFill>
                  <a:schemeClr val="bg1"/>
                </a:solidFill>
                <a:highlight>
                  <a:srgbClr val="000080"/>
                </a:highlight>
              </a:rPr>
              <a:t>積極的な気候政策に対して懐疑的な世論</a:t>
            </a:r>
            <a:r>
              <a:rPr lang="ja-JP" altLang="en-US" sz="1200" b="0"/>
              <a:t>が形成されやすい。こうした懐疑論は、貧困や不平等といった根本的な課題に依然として直面しているにもかかわらず、気候行動の負担を強いられていると感じる地域住民の多くに、</a:t>
            </a:r>
            <a:r>
              <a:rPr lang="ja-JP" altLang="en-US" sz="1200" b="0">
                <a:solidFill>
                  <a:schemeClr val="bg1"/>
                </a:solidFill>
                <a:highlight>
                  <a:srgbClr val="000000"/>
                </a:highlight>
              </a:rPr>
              <a:t>不公平感や不満</a:t>
            </a:r>
            <a:r>
              <a:rPr lang="ja-JP" altLang="en-US" sz="1200" b="0"/>
              <a:t>を生む可能性がある。</a:t>
            </a:r>
          </a:p>
          <a:p>
            <a:pPr marL="0" indent="0">
              <a:spcBef>
                <a:spcPts val="0"/>
              </a:spcBef>
              <a:buFont typeface="Wingdings" panose="05000000000000000000" pitchFamily="2" charset="2"/>
              <a:buNone/>
            </a:pPr>
            <a:r>
              <a:rPr lang="en-US" altLang="ja-JP" sz="1200" b="0" dirty="0"/>
              <a:t>## </a:t>
            </a:r>
            <a:r>
              <a:rPr lang="ja-JP" altLang="en-US" sz="1200" b="0"/>
              <a:t>結論</a:t>
            </a:r>
          </a:p>
          <a:p>
            <a:pPr marL="0" indent="0">
              <a:spcBef>
                <a:spcPts val="0"/>
              </a:spcBef>
              <a:buFont typeface="Wingdings" panose="05000000000000000000" pitchFamily="2" charset="2"/>
              <a:buNone/>
            </a:pPr>
            <a:r>
              <a:rPr lang="ja-JP" altLang="en-US" sz="1200" b="0"/>
              <a:t>要約すると、先進国と途上国における気候変動政策への見解の相違は、国際気候交渉の複雑さを浮き彫りにしている。先進国が即時かつ強力な気候行動を主張する一方、途上国は自国の固有の課題を考慮した公平な解決策の必要性を強調する。こうした差異は各国の政策形成に影響を与えるだけでなく、国際的な気候議論における緊張の要因となり得る世界的な世論にも波及する。気候危機への統一的な世界的対応を促進するには、こうした格差への対処が不可欠である。</a:t>
            </a:r>
          </a:p>
          <a:p>
            <a:pPr marL="0" indent="0">
              <a:spcBef>
                <a:spcPts val="0"/>
              </a:spcBef>
              <a:buFont typeface="Wingdings" panose="05000000000000000000" pitchFamily="2" charset="2"/>
              <a:buNone/>
            </a:pPr>
            <a:endParaRPr lang="ja-JP" altLang="en-US" sz="1200" b="0"/>
          </a:p>
        </p:txBody>
      </p:sp>
      <p:sp>
        <p:nvSpPr>
          <p:cNvPr id="11" name="タイトル 1">
            <a:extLst>
              <a:ext uri="{FF2B5EF4-FFF2-40B4-BE49-F238E27FC236}">
                <a16:creationId xmlns:a16="http://schemas.microsoft.com/office/drawing/2014/main" id="{3BD63595-B9BD-83EE-6795-9E0D2020E444}"/>
              </a:ext>
            </a:extLst>
          </p:cNvPr>
          <p:cNvSpPr>
            <a:spLocks noGrp="1"/>
          </p:cNvSpPr>
          <p:nvPr>
            <p:ph type="title"/>
          </p:nvPr>
        </p:nvSpPr>
        <p:spPr>
          <a:xfrm>
            <a:off x="388374" y="987216"/>
            <a:ext cx="11099800" cy="691273"/>
          </a:xfrm>
        </p:spPr>
        <p:txBody>
          <a:bodyPr/>
          <a:lstStyle/>
          <a:p>
            <a:r>
              <a:rPr lang="en-US" altLang="ja-JP" sz="1800" dirty="0"/>
              <a:t>Q</a:t>
            </a:r>
            <a:r>
              <a:rPr lang="ja-JP" altLang="en-US" sz="1800"/>
              <a:t>：気候変動政策に関するニュース記事で表明される見解は、先進国と発展途上国でどのように異なり、これらの差異は世界の世論にどのような影響を与えるのか？</a:t>
            </a:r>
            <a:endParaRPr kumimoji="1" lang="ja-JP" altLang="en-US" sz="1800"/>
          </a:p>
        </p:txBody>
      </p:sp>
    </p:spTree>
    <p:extLst>
      <p:ext uri="{BB962C8B-B14F-4D97-AF65-F5344CB8AC3E}">
        <p14:creationId xmlns:p14="http://schemas.microsoft.com/office/powerpoint/2010/main" val="708335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8696B8-129D-6819-154F-0B3771C525B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441CA80A-6B7E-B657-632A-674C2795101C}"/>
              </a:ext>
            </a:extLst>
          </p:cNvPr>
          <p:cNvSpPr>
            <a:spLocks noGrp="1"/>
          </p:cNvSpPr>
          <p:nvPr>
            <p:ph type="body" sz="quarter" idx="11"/>
          </p:nvPr>
        </p:nvSpPr>
        <p:spPr/>
        <p:txBody>
          <a:bodyPr>
            <a:normAutofit fontScale="92500" lnSpcReduction="20000"/>
          </a:bodyPr>
          <a:lstStyle/>
          <a:p>
            <a:r>
              <a:rPr kumimoji="1" lang="ja-JP" altLang="en-US"/>
              <a:t>実際の出力例</a:t>
            </a:r>
            <a:r>
              <a:rPr kumimoji="1" lang="en-US" altLang="ja-JP" dirty="0"/>
              <a:t> (</a:t>
            </a:r>
            <a:r>
              <a:rPr kumimoji="1" lang="ja-JP" altLang="en-US"/>
              <a:t>和訳</a:t>
            </a:r>
            <a:r>
              <a:rPr kumimoji="1" lang="en-US" altLang="ja-JP" dirty="0"/>
              <a:t>) −GraphRAG</a:t>
            </a:r>
            <a:r>
              <a:rPr kumimoji="1" lang="ja-JP" altLang="en-US"/>
              <a:t>　</a:t>
            </a:r>
            <a:r>
              <a:rPr kumimoji="1" lang="en-US" altLang="ja-JP" sz="1900" b="0" i="0" u="none" strike="noStrike" kern="1200" cap="none" spc="0" normalizeH="0" baseline="0" noProof="0" dirty="0">
                <a:ln>
                  <a:noFill/>
                </a:ln>
                <a:solidFill>
                  <a:srgbClr val="4D4D4D"/>
                </a:solidFill>
                <a:effectLst/>
                <a:uLnTx/>
                <a:uFillTx/>
                <a:latin typeface="游ゴシック Medium" panose="020B0500000000000000" pitchFamily="50" charset="-128"/>
                <a:ea typeface="游ゴシック Medium" panose="020B0500000000000000" pitchFamily="50" charset="-128"/>
                <a:cs typeface="+mn-cs"/>
              </a:rPr>
              <a:t> ※</a:t>
            </a:r>
            <a:r>
              <a:rPr kumimoji="1" lang="ja-JP" altLang="en-US" sz="1900" b="0" i="0" u="none" strike="noStrike" kern="1200" cap="none" spc="0" normalizeH="0" baseline="0" noProof="0">
                <a:ln>
                  <a:noFill/>
                </a:ln>
                <a:solidFill>
                  <a:srgbClr val="4D4D4D"/>
                </a:solidFill>
                <a:effectLst/>
                <a:uLnTx/>
                <a:uFillTx/>
                <a:latin typeface="游ゴシック Medium" panose="020B0500000000000000" pitchFamily="50" charset="-128"/>
                <a:ea typeface="游ゴシック Medium" panose="020B0500000000000000" pitchFamily="50" charset="-128"/>
                <a:cs typeface="+mn-cs"/>
              </a:rPr>
              <a:t>同様の主張を色付け</a:t>
            </a:r>
            <a:r>
              <a:rPr kumimoji="1" lang="en-US" altLang="ja-JP" sz="1900" b="0" i="0" u="none" strike="noStrike" kern="1200" cap="none" spc="0" normalizeH="0" baseline="0" noProof="0" dirty="0">
                <a:ln>
                  <a:noFill/>
                </a:ln>
                <a:solidFill>
                  <a:srgbClr val="4D4D4D"/>
                </a:solidFill>
                <a:effectLst/>
                <a:uLnTx/>
                <a:uFillTx/>
                <a:latin typeface="游ゴシック Medium" panose="020B0500000000000000" pitchFamily="50" charset="-128"/>
                <a:ea typeface="游ゴシック Medium" panose="020B0500000000000000" pitchFamily="50" charset="-128"/>
                <a:cs typeface="+mn-cs"/>
              </a:rPr>
              <a:t>→</a:t>
            </a:r>
            <a:r>
              <a:rPr kumimoji="1" lang="en-US" altLang="ja-JP" sz="1900" b="1" i="0" u="none" strike="noStrike" kern="1200" cap="none" spc="0" normalizeH="0" baseline="0" noProof="0" dirty="0">
                <a:ln>
                  <a:noFill/>
                </a:ln>
                <a:solidFill>
                  <a:srgbClr val="C00000"/>
                </a:solidFill>
                <a:effectLst/>
                <a:uLnTx/>
                <a:uFillTx/>
                <a:latin typeface="游ゴシック Medium" panose="020B0500000000000000" pitchFamily="50" charset="-128"/>
                <a:ea typeface="游ゴシック Medium" panose="020B0500000000000000" pitchFamily="50" charset="-128"/>
                <a:cs typeface="+mn-cs"/>
              </a:rPr>
              <a:t>9</a:t>
            </a:r>
            <a:r>
              <a:rPr kumimoji="1" lang="ja-JP" altLang="en-US" sz="1900" b="1" i="0" u="none" strike="noStrike" kern="1200" cap="none" spc="0" normalizeH="0" baseline="0" noProof="0">
                <a:ln>
                  <a:noFill/>
                </a:ln>
                <a:solidFill>
                  <a:srgbClr val="C00000"/>
                </a:solidFill>
                <a:effectLst/>
                <a:uLnTx/>
                <a:uFillTx/>
                <a:latin typeface="游ゴシック Medium" panose="020B0500000000000000" pitchFamily="50" charset="-128"/>
                <a:ea typeface="游ゴシック Medium" panose="020B0500000000000000" pitchFamily="50" charset="-128"/>
                <a:cs typeface="+mn-cs"/>
              </a:rPr>
              <a:t>色</a:t>
            </a:r>
            <a:endParaRPr kumimoji="1" lang="ja-JP" altLang="en-US" b="1">
              <a:solidFill>
                <a:srgbClr val="C00000"/>
              </a:solidFill>
            </a:endParaRPr>
          </a:p>
        </p:txBody>
      </p:sp>
      <p:sp>
        <p:nvSpPr>
          <p:cNvPr id="6" name="コンテンツ プレースホルダー 2">
            <a:extLst>
              <a:ext uri="{FF2B5EF4-FFF2-40B4-BE49-F238E27FC236}">
                <a16:creationId xmlns:a16="http://schemas.microsoft.com/office/drawing/2014/main" id="{446FA7FB-7C4E-7690-2A2E-8E63DAAA9436}"/>
              </a:ext>
            </a:extLst>
          </p:cNvPr>
          <p:cNvSpPr txBox="1">
            <a:spLocks/>
          </p:cNvSpPr>
          <p:nvPr/>
        </p:nvSpPr>
        <p:spPr>
          <a:xfrm>
            <a:off x="286774" y="1678489"/>
            <a:ext cx="11618452" cy="5242142"/>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2400" kern="1200">
                <a:solidFill>
                  <a:schemeClr val="tx2"/>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0"/>
              </a:spcBef>
              <a:buFont typeface="Wingdings" panose="05000000000000000000" pitchFamily="2" charset="2"/>
              <a:buNone/>
            </a:pPr>
            <a:r>
              <a:rPr lang="en-US" altLang="ja-JP" sz="1200" b="0" dirty="0"/>
              <a:t># </a:t>
            </a:r>
            <a:r>
              <a:rPr lang="ja-JP" altLang="en-US" sz="1200" b="0"/>
              <a:t>気候変動政策をめぐる異なる視点：先進国と途上国</a:t>
            </a:r>
          </a:p>
          <a:p>
            <a:pPr marL="0" indent="0">
              <a:spcBef>
                <a:spcPts val="0"/>
              </a:spcBef>
              <a:buFont typeface="Wingdings" panose="05000000000000000000" pitchFamily="2" charset="2"/>
              <a:buNone/>
            </a:pPr>
            <a:r>
              <a:rPr lang="ja-JP" altLang="en-US" sz="1200" b="0"/>
              <a:t>気候変動政策をめぐる議論は、先進国と途上国との間に、特に環境対策と経済成長の優先順位において顕著な差異があることを浮き彫りにしている。こうした差異は各国の政策形成に影響を与えるだけでなく、世界の世論や国際交渉にも波及している。</a:t>
            </a:r>
          </a:p>
          <a:p>
            <a:pPr marL="0" indent="0">
              <a:spcBef>
                <a:spcPts val="0"/>
              </a:spcBef>
              <a:buFont typeface="Wingdings" panose="05000000000000000000" pitchFamily="2" charset="2"/>
              <a:buNone/>
            </a:pPr>
            <a:r>
              <a:rPr lang="en-US" altLang="ja-JP" sz="1200" b="0" dirty="0"/>
              <a:t>## </a:t>
            </a:r>
            <a:r>
              <a:rPr lang="ja-JP" altLang="en-US" sz="1200" b="0"/>
              <a:t>先進国の視点</a:t>
            </a:r>
          </a:p>
          <a:p>
            <a:pPr marL="0" indent="0">
              <a:spcBef>
                <a:spcPts val="0"/>
              </a:spcBef>
              <a:buFont typeface="Wingdings" panose="05000000000000000000" pitchFamily="2" charset="2"/>
              <a:buNone/>
            </a:pPr>
            <a:r>
              <a:rPr lang="ja-JP" altLang="en-US" sz="1200" b="0"/>
              <a:t>先進国はしばしば</a:t>
            </a:r>
            <a:r>
              <a:rPr lang="ja-JP" altLang="en-US" sz="1200" b="0">
                <a:highlight>
                  <a:srgbClr val="FFFF00"/>
                </a:highlight>
              </a:rPr>
              <a:t>厳格な気候変動政策を提唱し、温室効果ガス排出削減のための</a:t>
            </a:r>
            <a:r>
              <a:rPr lang="ja-JP" altLang="en-US" sz="1200" b="0">
                <a:solidFill>
                  <a:schemeClr val="bg1"/>
                </a:solidFill>
                <a:highlight>
                  <a:srgbClr val="FF00FF"/>
                </a:highlight>
              </a:rPr>
              <a:t>即時行動の必要性</a:t>
            </a:r>
            <a:r>
              <a:rPr lang="ja-JP" altLang="en-US" sz="1200" b="0"/>
              <a:t>を強調する。この視点は、主に</a:t>
            </a:r>
            <a:r>
              <a:rPr lang="ja-JP" altLang="en-US" sz="1200" b="0">
                <a:highlight>
                  <a:srgbClr val="00FFFF"/>
                </a:highlight>
              </a:rPr>
              <a:t>排出量に対する歴史的責任と、グリーン技術や持続可能な実践への投資能力</a:t>
            </a:r>
            <a:r>
              <a:rPr lang="ja-JP" altLang="en-US" sz="1200" b="0"/>
              <a:t>に起因する。報告書によれば、これらの国の市民は</a:t>
            </a:r>
            <a:r>
              <a:rPr lang="ja-JP" altLang="en-US" sz="1200" b="0">
                <a:solidFill>
                  <a:schemeClr val="bg1"/>
                </a:solidFill>
                <a:highlight>
                  <a:srgbClr val="008000"/>
                </a:highlight>
              </a:rPr>
              <a:t>気候変動対策における世界的リーダーシップを取る道義的義務</a:t>
            </a:r>
            <a:r>
              <a:rPr lang="ja-JP" altLang="en-US" sz="1200" b="0"/>
              <a:t>を感じており、これが環境問題への</a:t>
            </a:r>
            <a:r>
              <a:rPr lang="ja-JP" altLang="en-US" sz="1200" b="0">
                <a:solidFill>
                  <a:schemeClr val="bg1"/>
                </a:solidFill>
                <a:highlight>
                  <a:srgbClr val="FF00FF"/>
                </a:highlight>
              </a:rPr>
              <a:t>緊急性</a:t>
            </a:r>
            <a:r>
              <a:rPr lang="ja-JP" altLang="en-US" sz="1200" b="0"/>
              <a:t>と</a:t>
            </a:r>
            <a:r>
              <a:rPr lang="ja-JP" altLang="en-US" sz="1200" b="0">
                <a:solidFill>
                  <a:schemeClr val="bg1"/>
                </a:solidFill>
                <a:highlight>
                  <a:srgbClr val="008000"/>
                </a:highlight>
              </a:rPr>
              <a:t>責任感</a:t>
            </a:r>
            <a:r>
              <a:rPr lang="ja-JP" altLang="en-US" sz="1200" b="0"/>
              <a:t>を育んでいる。</a:t>
            </a:r>
          </a:p>
          <a:p>
            <a:pPr marL="0" indent="0">
              <a:spcBef>
                <a:spcPts val="0"/>
              </a:spcBef>
              <a:buFont typeface="Wingdings" panose="05000000000000000000" pitchFamily="2" charset="2"/>
              <a:buNone/>
            </a:pPr>
            <a:r>
              <a:rPr lang="ja-JP" altLang="en-US" sz="1200" b="0"/>
              <a:t>先進国では通常、</a:t>
            </a:r>
            <a:r>
              <a:rPr lang="ja-JP" altLang="en-US" sz="1200" b="0">
                <a:highlight>
                  <a:srgbClr val="FFFF00"/>
                </a:highlight>
              </a:rPr>
              <a:t>再生可能エネルギー源への移行</a:t>
            </a:r>
            <a:r>
              <a:rPr lang="ja-JP" altLang="en-US" sz="1200" b="0"/>
              <a:t>と、</a:t>
            </a:r>
            <a:r>
              <a:rPr lang="ja-JP" altLang="en-US" sz="1200" b="0">
                <a:solidFill>
                  <a:schemeClr val="bg1"/>
                </a:solidFill>
                <a:highlight>
                  <a:srgbClr val="3B6FBB"/>
                </a:highlight>
              </a:rPr>
              <a:t>積極的な気候行動を支援する規制枠組み</a:t>
            </a:r>
            <a:r>
              <a:rPr lang="ja-JP" altLang="en-US" sz="1200" b="0"/>
              <a:t>の実施に焦点が当てられる。</a:t>
            </a:r>
            <a:r>
              <a:rPr lang="ja-JP" altLang="en-US" sz="1200" b="0">
                <a:solidFill>
                  <a:schemeClr val="bg1"/>
                </a:solidFill>
                <a:highlight>
                  <a:srgbClr val="800000"/>
                </a:highlight>
              </a:rPr>
              <a:t>この積極的な姿勢は様々な国際協定や公約に反映されており、</a:t>
            </a:r>
            <a:r>
              <a:rPr lang="ja-JP" altLang="en-US" sz="1200" b="0">
                <a:solidFill>
                  <a:schemeClr val="bg1"/>
                </a:solidFill>
                <a:highlight>
                  <a:srgbClr val="FF00FF"/>
                </a:highlight>
              </a:rPr>
              <a:t>先進国は気候影響緩和のための野心的な目標を推進している。</a:t>
            </a:r>
          </a:p>
          <a:p>
            <a:pPr marL="0" indent="0">
              <a:spcBef>
                <a:spcPts val="0"/>
              </a:spcBef>
              <a:buFont typeface="Wingdings" panose="05000000000000000000" pitchFamily="2" charset="2"/>
              <a:buNone/>
            </a:pPr>
            <a:r>
              <a:rPr lang="en-US" altLang="ja-JP" sz="1200" b="0" dirty="0"/>
              <a:t>## </a:t>
            </a:r>
            <a:r>
              <a:rPr lang="ja-JP" altLang="en-US" sz="1200" b="0"/>
              <a:t>途上国の視点</a:t>
            </a:r>
          </a:p>
          <a:p>
            <a:pPr marL="0" indent="0">
              <a:spcBef>
                <a:spcPts val="0"/>
              </a:spcBef>
              <a:buFont typeface="Wingdings" panose="05000000000000000000" pitchFamily="2" charset="2"/>
              <a:buNone/>
            </a:pPr>
            <a:r>
              <a:rPr lang="ja-JP" altLang="en-US" sz="1200" b="0"/>
              <a:t>対照的に、</a:t>
            </a:r>
            <a:r>
              <a:rPr lang="ja-JP" altLang="en-US" sz="1200" b="0">
                <a:solidFill>
                  <a:schemeClr val="bg1"/>
                </a:solidFill>
                <a:highlight>
                  <a:srgbClr val="808080"/>
                </a:highlight>
              </a:rPr>
              <a:t>途上国は即時の気候行動よりも経済成長と貧困削減を優先</a:t>
            </a:r>
            <a:r>
              <a:rPr lang="ja-JP" altLang="en-US" sz="1200" b="0"/>
              <a:t>することが多い。彼らの視点は、差し迫った開発課題への対応の必要性によって形作られており、</a:t>
            </a:r>
            <a:r>
              <a:rPr lang="ja-JP" altLang="en-US" sz="1200" b="0">
                <a:solidFill>
                  <a:schemeClr val="bg1"/>
                </a:solidFill>
                <a:highlight>
                  <a:srgbClr val="808080"/>
                </a:highlight>
              </a:rPr>
              <a:t>厳しい気候政策は成長の潜在的な妨げ</a:t>
            </a:r>
            <a:r>
              <a:rPr lang="ja-JP" altLang="en-US" sz="1200" b="0"/>
              <a:t>として映ることがある。多くの途上国は、より柔軟なタイムラインを主張し、</a:t>
            </a:r>
            <a:r>
              <a:rPr lang="ja-JP" altLang="en-US" sz="1200" b="0">
                <a:solidFill>
                  <a:schemeClr val="bg1"/>
                </a:solidFill>
                <a:highlight>
                  <a:srgbClr val="808080"/>
                </a:highlight>
              </a:rPr>
              <a:t>経済発展を損なうことなく持続可能な実践を実施するために、先進国からの財政的・技術的支援</a:t>
            </a:r>
            <a:r>
              <a:rPr lang="ja-JP" altLang="en-US" sz="1200" b="0"/>
              <a:t>を求めている。</a:t>
            </a:r>
          </a:p>
          <a:p>
            <a:pPr marL="0" indent="0">
              <a:spcBef>
                <a:spcPts val="0"/>
              </a:spcBef>
              <a:buFont typeface="Wingdings" panose="05000000000000000000" pitchFamily="2" charset="2"/>
              <a:buNone/>
            </a:pPr>
            <a:r>
              <a:rPr lang="ja-JP" altLang="en-US" sz="1200" b="0"/>
              <a:t>この優先順位の相違は気候協定への慎重な姿勢につながり、途上国は</a:t>
            </a:r>
            <a:r>
              <a:rPr lang="ja-JP" altLang="en-US" sz="1200" b="0">
                <a:solidFill>
                  <a:schemeClr val="bg1"/>
                </a:solidFill>
                <a:highlight>
                  <a:srgbClr val="000000"/>
                </a:highlight>
              </a:rPr>
              <a:t>気候責任における不公平感への不満</a:t>
            </a:r>
            <a:r>
              <a:rPr lang="ja-JP" altLang="en-US" sz="1200" b="0"/>
              <a:t>を表明することがある。彼らはしばしば</a:t>
            </a:r>
            <a:r>
              <a:rPr lang="ja-JP" altLang="en-US" sz="1200" b="0">
                <a:solidFill>
                  <a:schemeClr val="bg1"/>
                </a:solidFill>
                <a:highlight>
                  <a:srgbClr val="000000"/>
                </a:highlight>
              </a:rPr>
              <a:t>気候交渉における公平性</a:t>
            </a:r>
            <a:r>
              <a:rPr lang="ja-JP" altLang="en-US" sz="1200" b="0"/>
              <a:t>を求め、独自の課題に対処するための</a:t>
            </a:r>
            <a:r>
              <a:rPr lang="ja-JP" altLang="en-US" sz="1200" b="0">
                <a:solidFill>
                  <a:schemeClr val="bg1"/>
                </a:solidFill>
                <a:highlight>
                  <a:srgbClr val="808080"/>
                </a:highlight>
              </a:rPr>
              <a:t>富裕国からの支援の必要性</a:t>
            </a:r>
            <a:r>
              <a:rPr lang="ja-JP" altLang="en-US" sz="1200" b="0"/>
              <a:t>を強調している。</a:t>
            </a:r>
          </a:p>
          <a:p>
            <a:pPr marL="0" indent="0">
              <a:spcBef>
                <a:spcPts val="0"/>
              </a:spcBef>
              <a:buFont typeface="Wingdings" panose="05000000000000000000" pitchFamily="2" charset="2"/>
              <a:buNone/>
            </a:pPr>
            <a:r>
              <a:rPr lang="en-US" altLang="ja-JP" sz="1200" b="0" dirty="0"/>
              <a:t>## </a:t>
            </a:r>
            <a:r>
              <a:rPr lang="ja-JP" altLang="en-US" sz="1200" b="0"/>
              <a:t>世界の世論への影響</a:t>
            </a:r>
          </a:p>
          <a:p>
            <a:pPr marL="0" indent="0">
              <a:spcBef>
                <a:spcPts val="0"/>
              </a:spcBef>
              <a:buFont typeface="Wingdings" panose="05000000000000000000" pitchFamily="2" charset="2"/>
              <a:buNone/>
            </a:pPr>
            <a:r>
              <a:rPr lang="ja-JP" altLang="en-US" sz="1200" b="0"/>
              <a:t>先進国と途上国の対照的な視点は、気候変動に関する世界的な世論の複雑な構図を生み出している。</a:t>
            </a:r>
            <a:r>
              <a:rPr lang="ja-JP" altLang="en-US" sz="1200" b="0">
                <a:solidFill>
                  <a:schemeClr val="bg1"/>
                </a:solidFill>
                <a:highlight>
                  <a:srgbClr val="FF00FF"/>
                </a:highlight>
              </a:rPr>
              <a:t>先進国では気候行動への強い推進力が存在</a:t>
            </a:r>
            <a:r>
              <a:rPr lang="ja-JP" altLang="en-US" sz="1200" b="0"/>
              <a:t>し、これが世界規模での世論の認識や期待に影響を与える。市民は</a:t>
            </a:r>
            <a:r>
              <a:rPr lang="ja-JP" altLang="en-US" sz="1200" b="0">
                <a:solidFill>
                  <a:schemeClr val="bg1"/>
                </a:solidFill>
                <a:highlight>
                  <a:srgbClr val="008000"/>
                </a:highlight>
              </a:rPr>
              <a:t>気候イニシアチブを主導する道義的義務</a:t>
            </a:r>
            <a:r>
              <a:rPr lang="ja-JP" altLang="en-US" sz="1200" b="0"/>
              <a:t>を感じ、</a:t>
            </a:r>
            <a:r>
              <a:rPr lang="ja-JP" altLang="en-US" sz="1200" b="0">
                <a:solidFill>
                  <a:schemeClr val="bg1"/>
                </a:solidFill>
                <a:highlight>
                  <a:srgbClr val="FF00FF"/>
                </a:highlight>
              </a:rPr>
              <a:t>緊急性</a:t>
            </a:r>
            <a:r>
              <a:rPr lang="ja-JP" altLang="en-US" sz="1200" b="0"/>
              <a:t>と</a:t>
            </a:r>
            <a:r>
              <a:rPr lang="ja-JP" altLang="en-US" sz="1200" b="0">
                <a:solidFill>
                  <a:schemeClr val="bg1"/>
                </a:solidFill>
                <a:highlight>
                  <a:srgbClr val="008000"/>
                </a:highlight>
              </a:rPr>
              <a:t>責任感</a:t>
            </a:r>
            <a:r>
              <a:rPr lang="ja-JP" altLang="en-US" sz="1200" b="0"/>
              <a:t>を育む可能性がある。</a:t>
            </a:r>
          </a:p>
          <a:p>
            <a:pPr marL="0" indent="0">
              <a:spcBef>
                <a:spcPts val="0"/>
              </a:spcBef>
              <a:buFont typeface="Wingdings" panose="05000000000000000000" pitchFamily="2" charset="2"/>
              <a:buNone/>
            </a:pPr>
            <a:r>
              <a:rPr lang="ja-JP" altLang="en-US" sz="1200" b="0"/>
              <a:t>一方、途上国が</a:t>
            </a:r>
            <a:r>
              <a:rPr lang="ja-JP" altLang="en-US" sz="1200" b="0">
                <a:solidFill>
                  <a:schemeClr val="bg1"/>
                </a:solidFill>
                <a:highlight>
                  <a:srgbClr val="808080"/>
                </a:highlight>
              </a:rPr>
              <a:t>経済的影響を懸念する姿勢</a:t>
            </a:r>
            <a:r>
              <a:rPr lang="ja-JP" altLang="en-US" sz="1200" b="0"/>
              <a:t>は、</a:t>
            </a:r>
            <a:r>
              <a:rPr lang="ja-JP" altLang="en-US" sz="1200" b="0">
                <a:solidFill>
                  <a:schemeClr val="bg1"/>
                </a:solidFill>
                <a:highlight>
                  <a:srgbClr val="000080"/>
                </a:highlight>
              </a:rPr>
              <a:t>気候協定に対する慎重な世論</a:t>
            </a:r>
            <a:r>
              <a:rPr lang="ja-JP" altLang="en-US" sz="1200" b="0"/>
              <a:t>につながりかねない。この力学は気候変動への分断された世界的対応を招き、統一された行動達成の努力を複雑化する。地球規模の気候協定における合意形成の欠如は、環境問題対策において途上国が疎外感や支援不足を感じることから、集団的進歩を阻害する恐れがある。</a:t>
            </a:r>
          </a:p>
          <a:p>
            <a:pPr marL="0" indent="0">
              <a:spcBef>
                <a:spcPts val="0"/>
              </a:spcBef>
              <a:buFont typeface="Wingdings" panose="05000000000000000000" pitchFamily="2" charset="2"/>
              <a:buNone/>
            </a:pPr>
            <a:r>
              <a:rPr lang="en-US" altLang="ja-JP" sz="1200" b="0" dirty="0"/>
              <a:t>## </a:t>
            </a:r>
            <a:r>
              <a:rPr lang="ja-JP" altLang="en-US" sz="1200" b="0"/>
              <a:t>結論</a:t>
            </a:r>
          </a:p>
          <a:p>
            <a:pPr marL="0" indent="0">
              <a:spcBef>
                <a:spcPts val="0"/>
              </a:spcBef>
              <a:buFont typeface="Wingdings" panose="05000000000000000000" pitchFamily="2" charset="2"/>
              <a:buNone/>
            </a:pPr>
            <a:r>
              <a:rPr lang="ja-JP" altLang="en-US" sz="1200" b="0"/>
              <a:t>先進国と途上国における気候変動政策への見解の相違は、地球規模の気候課題に対処する上で包括的な対話と協力の必要性を浮き彫りにしている。環境目標と社会経済的現実のバランスを取る気候変動への統一的な世界的対応を促進するには、こうした相違を認識し尊重することが不可欠である。効果的な気候行動と、気候変動対策における協力努力への世界的世論の高揚のためには、これらの視点の隔たりを埋めることが重要となる。</a:t>
            </a:r>
          </a:p>
          <a:p>
            <a:pPr marL="0" indent="0">
              <a:spcBef>
                <a:spcPts val="0"/>
              </a:spcBef>
              <a:buFont typeface="Wingdings" panose="05000000000000000000" pitchFamily="2" charset="2"/>
              <a:buNone/>
            </a:pPr>
            <a:endParaRPr lang="ja-JP" altLang="en-US" sz="1200" b="0"/>
          </a:p>
        </p:txBody>
      </p:sp>
      <p:sp>
        <p:nvSpPr>
          <p:cNvPr id="8" name="タイトル 1">
            <a:extLst>
              <a:ext uri="{FF2B5EF4-FFF2-40B4-BE49-F238E27FC236}">
                <a16:creationId xmlns:a16="http://schemas.microsoft.com/office/drawing/2014/main" id="{940104D8-F8C8-7D91-9AC4-844942C4E956}"/>
              </a:ext>
            </a:extLst>
          </p:cNvPr>
          <p:cNvSpPr txBox="1">
            <a:spLocks/>
          </p:cNvSpPr>
          <p:nvPr/>
        </p:nvSpPr>
        <p:spPr>
          <a:xfrm>
            <a:off x="388374" y="987216"/>
            <a:ext cx="11099800" cy="69127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3600" b="1" kern="1200">
                <a:solidFill>
                  <a:schemeClr val="tx1"/>
                </a:solidFill>
                <a:latin typeface="游ゴシック" panose="020B0400000000000000" pitchFamily="50" charset="-128"/>
                <a:ea typeface="游ゴシック" panose="020B0400000000000000" pitchFamily="50" charset="-128"/>
                <a:cs typeface="+mj-cs"/>
              </a:defRPr>
            </a:lvl1pPr>
          </a:lstStyle>
          <a:p>
            <a:r>
              <a:rPr lang="en-US" altLang="ja-JP" sz="1800"/>
              <a:t>Q</a:t>
            </a:r>
            <a:r>
              <a:rPr lang="ja-JP" altLang="en-US" sz="1800"/>
              <a:t>：気候変動政策に関するニュース記事で表明される見解は、先進国と発展途上国でどのように異なり、これらの差異は世界の世論にどのような影響を与えるのか？</a:t>
            </a:r>
          </a:p>
        </p:txBody>
      </p:sp>
    </p:spTree>
    <p:extLst>
      <p:ext uri="{BB962C8B-B14F-4D97-AF65-F5344CB8AC3E}">
        <p14:creationId xmlns:p14="http://schemas.microsoft.com/office/powerpoint/2010/main" val="1658987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B0793D4-EC10-75E0-0EFD-56A49F107DFE}"/>
              </a:ext>
            </a:extLst>
          </p:cNvPr>
          <p:cNvSpPr>
            <a:spLocks noGrp="1"/>
          </p:cNvSpPr>
          <p:nvPr>
            <p:ph type="body" sz="quarter" idx="11"/>
          </p:nvPr>
        </p:nvSpPr>
        <p:spPr/>
        <p:txBody>
          <a:bodyPr>
            <a:normAutofit fontScale="92500" lnSpcReduction="20000"/>
          </a:bodyPr>
          <a:lstStyle/>
          <a:p>
            <a:r>
              <a:rPr kumimoji="1" lang="ja-JP" altLang="en-US"/>
              <a:t>実際の出力例</a:t>
            </a:r>
            <a:r>
              <a:rPr kumimoji="1" lang="en-US" altLang="ja-JP" dirty="0"/>
              <a:t> (</a:t>
            </a:r>
            <a:r>
              <a:rPr kumimoji="1" lang="ja-JP" altLang="en-US"/>
              <a:t>和訳</a:t>
            </a:r>
            <a:r>
              <a:rPr kumimoji="1" lang="en-US" altLang="ja-JP" dirty="0"/>
              <a:t>) −</a:t>
            </a:r>
            <a:r>
              <a:rPr lang="ja-JP" altLang="en-US"/>
              <a:t>提案手法　</a:t>
            </a:r>
            <a:r>
              <a:rPr kumimoji="1" lang="en-US" altLang="ja-JP" sz="1900" b="0" i="0" u="none" strike="noStrike" kern="1200" cap="none" spc="0" normalizeH="0" baseline="0" noProof="0" dirty="0">
                <a:ln>
                  <a:noFill/>
                </a:ln>
                <a:solidFill>
                  <a:srgbClr val="4D4D4D"/>
                </a:solidFill>
                <a:effectLst/>
                <a:uLnTx/>
                <a:uFillTx/>
                <a:latin typeface="游ゴシック Medium" panose="020B0500000000000000" pitchFamily="50" charset="-128"/>
                <a:ea typeface="游ゴシック Medium" panose="020B0500000000000000" pitchFamily="50" charset="-128"/>
                <a:cs typeface="+mn-cs"/>
              </a:rPr>
              <a:t> ※</a:t>
            </a:r>
            <a:r>
              <a:rPr kumimoji="1" lang="ja-JP" altLang="en-US" sz="1900" b="0" i="0" u="none" strike="noStrike" kern="1200" cap="none" spc="0" normalizeH="0" baseline="0" noProof="0">
                <a:ln>
                  <a:noFill/>
                </a:ln>
                <a:solidFill>
                  <a:srgbClr val="4D4D4D"/>
                </a:solidFill>
                <a:effectLst/>
                <a:uLnTx/>
                <a:uFillTx/>
                <a:latin typeface="游ゴシック Medium" panose="020B0500000000000000" pitchFamily="50" charset="-128"/>
                <a:ea typeface="游ゴシック Medium" panose="020B0500000000000000" pitchFamily="50" charset="-128"/>
                <a:cs typeface="+mn-cs"/>
              </a:rPr>
              <a:t>同様の主張を色付け</a:t>
            </a:r>
            <a:r>
              <a:rPr kumimoji="1" lang="en-US" altLang="ja-JP" sz="1900" b="0" i="0" u="none" strike="noStrike" kern="1200" cap="none" spc="0" normalizeH="0" baseline="0" noProof="0" dirty="0">
                <a:ln>
                  <a:noFill/>
                </a:ln>
                <a:solidFill>
                  <a:srgbClr val="4D4D4D"/>
                </a:solidFill>
                <a:effectLst/>
                <a:uLnTx/>
                <a:uFillTx/>
                <a:latin typeface="游ゴシック Medium" panose="020B0500000000000000" pitchFamily="50" charset="-128"/>
                <a:ea typeface="游ゴシック Medium" panose="020B0500000000000000" pitchFamily="50" charset="-128"/>
                <a:cs typeface="+mn-cs"/>
              </a:rPr>
              <a:t>→</a:t>
            </a:r>
            <a:r>
              <a:rPr kumimoji="1" lang="en-US" altLang="ja-JP" sz="1900" b="1" i="0" u="none" strike="noStrike" kern="1200" cap="none" spc="0" normalizeH="0" baseline="0" noProof="0" dirty="0">
                <a:ln>
                  <a:noFill/>
                </a:ln>
                <a:solidFill>
                  <a:srgbClr val="C00000"/>
                </a:solidFill>
                <a:effectLst/>
                <a:uLnTx/>
                <a:uFillTx/>
                <a:latin typeface="游ゴシック Medium" panose="020B0500000000000000" pitchFamily="50" charset="-128"/>
                <a:ea typeface="游ゴシック Medium" panose="020B0500000000000000" pitchFamily="50" charset="-128"/>
                <a:cs typeface="+mn-cs"/>
              </a:rPr>
              <a:t>9</a:t>
            </a:r>
            <a:r>
              <a:rPr kumimoji="1" lang="ja-JP" altLang="en-US" sz="1900" b="1" i="0" u="none" strike="noStrike" kern="1200" cap="none" spc="0" normalizeH="0" baseline="0" noProof="0">
                <a:ln>
                  <a:noFill/>
                </a:ln>
                <a:solidFill>
                  <a:srgbClr val="C00000"/>
                </a:solidFill>
                <a:effectLst/>
                <a:uLnTx/>
                <a:uFillTx/>
                <a:latin typeface="游ゴシック Medium" panose="020B0500000000000000" pitchFamily="50" charset="-128"/>
                <a:ea typeface="游ゴシック Medium" panose="020B0500000000000000" pitchFamily="50" charset="-128"/>
                <a:cs typeface="+mn-cs"/>
              </a:rPr>
              <a:t>色</a:t>
            </a:r>
            <a:endParaRPr kumimoji="1" lang="ja-JP" altLang="en-US" b="1">
              <a:solidFill>
                <a:srgbClr val="C00000"/>
              </a:solidFill>
            </a:endParaRPr>
          </a:p>
        </p:txBody>
      </p:sp>
      <p:sp>
        <p:nvSpPr>
          <p:cNvPr id="5" name="コンテンツ プレースホルダー 2">
            <a:extLst>
              <a:ext uri="{FF2B5EF4-FFF2-40B4-BE49-F238E27FC236}">
                <a16:creationId xmlns:a16="http://schemas.microsoft.com/office/drawing/2014/main" id="{33415540-2706-8C30-69BE-812C8AAA2067}"/>
              </a:ext>
            </a:extLst>
          </p:cNvPr>
          <p:cNvSpPr txBox="1">
            <a:spLocks/>
          </p:cNvSpPr>
          <p:nvPr/>
        </p:nvSpPr>
        <p:spPr>
          <a:xfrm>
            <a:off x="298223" y="1678489"/>
            <a:ext cx="11714237" cy="5091829"/>
          </a:xfrm>
          <a:prstGeom prst="rect">
            <a:avLst/>
          </a:prstGeom>
        </p:spPr>
        <p:txBody>
          <a:bodyPr vert="horz" lIns="91440" tIns="45720" rIns="91440" bIns="45720" rtlCol="0">
            <a:normAutofit/>
          </a:bodyPr>
          <a:lstStyle>
            <a:lvl1pPr marL="457200" indent="-457200" algn="l" defTabSz="914400" rtl="0" eaLnBrk="1" latinLnBrk="0" hangingPunct="1">
              <a:lnSpc>
                <a:spcPct val="110000"/>
              </a:lnSpc>
              <a:spcBef>
                <a:spcPts val="1800"/>
              </a:spcBef>
              <a:buClr>
                <a:schemeClr val="accent4"/>
              </a:buClr>
              <a:buFont typeface="Wingdings" panose="05000000000000000000" pitchFamily="2" charset="2"/>
              <a:buChar char="l"/>
              <a:defRPr kumimoji="1" sz="2800" b="1" kern="1200">
                <a:solidFill>
                  <a:schemeClr val="tx1"/>
                </a:solidFill>
                <a:latin typeface="游ゴシック" panose="020B0400000000000000" pitchFamily="50" charset="-128"/>
                <a:ea typeface="游ゴシック" panose="020B0400000000000000" pitchFamily="50" charset="-128"/>
                <a:cs typeface="+mn-cs"/>
              </a:defRPr>
            </a:lvl1pPr>
            <a:lvl2pPr marL="800100" marR="0"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l"/>
              <a:tabLst/>
              <a:defRPr kumimoji="1" sz="2400" kern="1200">
                <a:solidFill>
                  <a:schemeClr val="tx2"/>
                </a:solidFill>
                <a:latin typeface="游ゴシック Medium" panose="020B0500000000000000" pitchFamily="50" charset="-128"/>
                <a:ea typeface="游ゴシック Medium" panose="020B0500000000000000" pitchFamily="50" charset="-128"/>
                <a:cs typeface="+mn-cs"/>
              </a:defRPr>
            </a:lvl2pPr>
            <a:lvl3pPr marL="1252538" indent="-338138" algn="l" defTabSz="914400" rtl="0" eaLnBrk="1" latinLnBrk="0" hangingPunct="1">
              <a:lnSpc>
                <a:spcPct val="110000"/>
              </a:lnSpc>
              <a:spcBef>
                <a:spcPts val="0"/>
              </a:spcBef>
              <a:buFont typeface="Wingdings" panose="05000000000000000000" pitchFamily="2" charset="2"/>
              <a:buChar char="l"/>
              <a:defRPr kumimoji="1" sz="2000" kern="1200">
                <a:solidFill>
                  <a:schemeClr val="tx2"/>
                </a:solidFill>
                <a:latin typeface="+mn-lt"/>
                <a:ea typeface="+mn-ea"/>
                <a:cs typeface="+mn-cs"/>
              </a:defRPr>
            </a:lvl3pPr>
            <a:lvl4pPr marL="1706563" indent="-3349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4pPr>
            <a:lvl5pPr marL="2151063" indent="-322263" algn="l" defTabSz="914400" rtl="0" eaLnBrk="1" latinLnBrk="0" hangingPunct="1">
              <a:lnSpc>
                <a:spcPct val="110000"/>
              </a:lnSpc>
              <a:spcBef>
                <a:spcPts val="0"/>
              </a:spcBef>
              <a:buFont typeface="Wingdings" panose="05000000000000000000" pitchFamily="2" charset="2"/>
              <a:buChar char="l"/>
              <a:defRPr kumimoji="1"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0"/>
              </a:spcBef>
              <a:buFont typeface="Wingdings" panose="05000000000000000000" pitchFamily="2" charset="2"/>
              <a:buNone/>
            </a:pPr>
            <a:r>
              <a:rPr lang="en-US" altLang="ja-JP" sz="1100" b="0" dirty="0"/>
              <a:t>## </a:t>
            </a:r>
            <a:r>
              <a:rPr lang="ja-JP" altLang="en-US" sz="1100" b="0"/>
              <a:t>気候変動政策をめぐる異なる視点</a:t>
            </a:r>
          </a:p>
          <a:p>
            <a:pPr marL="0" indent="0">
              <a:spcBef>
                <a:spcPts val="0"/>
              </a:spcBef>
              <a:buFont typeface="Wingdings" panose="05000000000000000000" pitchFamily="2" charset="2"/>
              <a:buNone/>
            </a:pPr>
            <a:r>
              <a:rPr lang="ja-JP" altLang="en-US" sz="1100" b="0"/>
              <a:t>気候変動政策に関する議論は、特に責任の所在、対応能力、行動の緊急性に対する認識において、先進国と途上国との間に顕著な差異を浮き彫りにしている。</a:t>
            </a:r>
          </a:p>
          <a:p>
            <a:pPr marL="0" indent="0">
              <a:spcBef>
                <a:spcPts val="0"/>
              </a:spcBef>
              <a:buFont typeface="Wingdings" panose="05000000000000000000" pitchFamily="2" charset="2"/>
              <a:buNone/>
            </a:pPr>
            <a:r>
              <a:rPr lang="en-US" altLang="ja-JP" sz="1100" b="0" dirty="0"/>
              <a:t>### </a:t>
            </a:r>
            <a:r>
              <a:rPr lang="ja-JP" altLang="en-US" sz="1100" b="0"/>
              <a:t>先進国の視点</a:t>
            </a:r>
          </a:p>
          <a:p>
            <a:pPr marL="0" indent="0">
              <a:spcBef>
                <a:spcPts val="0"/>
              </a:spcBef>
              <a:buFont typeface="Wingdings" panose="05000000000000000000" pitchFamily="2" charset="2"/>
              <a:buNone/>
            </a:pPr>
            <a:r>
              <a:rPr lang="ja-JP" altLang="en-US" sz="1100" b="0"/>
              <a:t>先進国では、気候変動対策の必須要素として</a:t>
            </a:r>
            <a:r>
              <a:rPr lang="ja-JP" altLang="en-US" sz="1100" b="0">
                <a:highlight>
                  <a:srgbClr val="FFFF00"/>
                </a:highlight>
              </a:rPr>
              <a:t>技術革新</a:t>
            </a:r>
            <a:r>
              <a:rPr lang="ja-JP" altLang="en-US" sz="1100" b="0"/>
              <a:t>と</a:t>
            </a:r>
            <a:r>
              <a:rPr lang="ja-JP" altLang="en-US" sz="1100" b="0">
                <a:solidFill>
                  <a:schemeClr val="bg1"/>
                </a:solidFill>
                <a:highlight>
                  <a:srgbClr val="FF0000"/>
                </a:highlight>
              </a:rPr>
              <a:t>政策の一貫性が重視される傾向</a:t>
            </a:r>
            <a:r>
              <a:rPr lang="ja-JP" altLang="en-US" sz="1100" b="0"/>
              <a:t>がある。例えば、最近の論考では</a:t>
            </a:r>
            <a:r>
              <a:rPr lang="ja-JP" altLang="en-US" sz="1100" b="0">
                <a:solidFill>
                  <a:schemeClr val="bg1"/>
                </a:solidFill>
                <a:highlight>
                  <a:srgbClr val="FF0000"/>
                </a:highlight>
              </a:rPr>
              <a:t>英国の気候政策における一貫性の欠如</a:t>
            </a:r>
            <a:r>
              <a:rPr lang="ja-JP" altLang="en-US" sz="1100" b="0"/>
              <a:t>が指摘され、これが気候技術分野における技術進歩の可能性を損なっているとされた。同論考は、政府の安定した支援がなければ、手頃な価格の太陽光パネルや電気自動車といった革新技術が発展し得ないと強調している。この見解は、</a:t>
            </a:r>
            <a:r>
              <a:rPr lang="ja-JP" altLang="en-US" sz="1100" b="0">
                <a:highlight>
                  <a:srgbClr val="00FFFF"/>
                </a:highlight>
              </a:rPr>
              <a:t>歴史的な排出量と技術的能力を有する先進国</a:t>
            </a:r>
            <a:r>
              <a:rPr lang="ja-JP" altLang="en-US" sz="1100" b="0"/>
              <a:t>が、</a:t>
            </a:r>
            <a:r>
              <a:rPr lang="ja-JP" altLang="en-US" sz="1100" b="0">
                <a:solidFill>
                  <a:schemeClr val="bg1"/>
                </a:solidFill>
                <a:highlight>
                  <a:srgbClr val="008000"/>
                </a:highlight>
              </a:rPr>
              <a:t>気候変動対策において主導的役割を果たす道義的義務を負っている</a:t>
            </a:r>
            <a:r>
              <a:rPr lang="ja-JP" altLang="en-US" sz="1100" b="0"/>
              <a:t>という信念を強調している。</a:t>
            </a:r>
          </a:p>
          <a:p>
            <a:pPr marL="0" indent="0">
              <a:spcBef>
                <a:spcPts val="0"/>
              </a:spcBef>
              <a:buFont typeface="Wingdings" panose="05000000000000000000" pitchFamily="2" charset="2"/>
              <a:buNone/>
            </a:pPr>
            <a:r>
              <a:rPr lang="ja-JP" altLang="en-US" sz="1100" b="0"/>
              <a:t>さらに、先進国の気候科学者たちの間では、</a:t>
            </a:r>
            <a:r>
              <a:rPr lang="ja-JP" altLang="en-US" sz="1100" b="0">
                <a:highlight>
                  <a:srgbClr val="00FF00"/>
                </a:highlight>
              </a:rPr>
              <a:t>気候変動の現状に対する切迫感と絶望感</a:t>
            </a:r>
            <a:r>
              <a:rPr lang="ja-JP" altLang="en-US" sz="1100" b="0"/>
              <a:t>がしばしば見られる。例えば、気候科学者のピーター・カルマスは、同僚たちの活動ペースの遅さに苛立ちを表明し、</a:t>
            </a:r>
            <a:r>
              <a:rPr lang="ja-JP" altLang="en-US" sz="1100" b="0">
                <a:highlight>
                  <a:srgbClr val="00FF00"/>
                </a:highlight>
              </a:rPr>
              <a:t>悪化する気候危機への不安の高まり</a:t>
            </a:r>
            <a:r>
              <a:rPr lang="ja-JP" altLang="en-US" sz="1100" b="0"/>
              <a:t>を示唆している。</a:t>
            </a:r>
            <a:endParaRPr lang="en" altLang="ja-JP" sz="1100" b="0" dirty="0"/>
          </a:p>
          <a:p>
            <a:pPr marL="0" indent="0">
              <a:spcBef>
                <a:spcPts val="0"/>
              </a:spcBef>
              <a:buFont typeface="Wingdings" panose="05000000000000000000" pitchFamily="2" charset="2"/>
              <a:buNone/>
            </a:pPr>
            <a:r>
              <a:rPr lang="en" altLang="ja-JP" sz="1100" b="0" dirty="0"/>
              <a:t>### </a:t>
            </a:r>
            <a:r>
              <a:rPr lang="ja-JP" altLang="en-US" sz="1100" b="0"/>
              <a:t>途上国の視点</a:t>
            </a:r>
          </a:p>
          <a:p>
            <a:pPr marL="0" indent="0">
              <a:spcBef>
                <a:spcPts val="0"/>
              </a:spcBef>
              <a:buFont typeface="Wingdings" panose="05000000000000000000" pitchFamily="2" charset="2"/>
              <a:buNone/>
            </a:pPr>
            <a:r>
              <a:rPr lang="ja-JP" altLang="en-US" sz="1100" b="0"/>
              <a:t>一方、</a:t>
            </a:r>
            <a:r>
              <a:rPr lang="ja-JP" altLang="en-US" sz="1100" b="0">
                <a:solidFill>
                  <a:schemeClr val="bg1"/>
                </a:solidFill>
                <a:highlight>
                  <a:srgbClr val="808080"/>
                </a:highlight>
              </a:rPr>
              <a:t>途上国は気候変動に効果的に対処するためには、より豊かな国々からの財政的・技術的支援が必要</a:t>
            </a:r>
            <a:r>
              <a:rPr lang="ja-JP" altLang="en-US" sz="1100" b="0"/>
              <a:t>であると強調することが多い。国際通貨基金（</a:t>
            </a:r>
            <a:r>
              <a:rPr lang="en" altLang="ja-JP" sz="1100" b="0" dirty="0"/>
              <a:t>IMF</a:t>
            </a:r>
            <a:r>
              <a:rPr lang="ja-JP" altLang="en" sz="1100" b="0"/>
              <a:t>）</a:t>
            </a:r>
            <a:r>
              <a:rPr lang="ja-JP" altLang="en-US" sz="1100" b="0"/>
              <a:t>は、インドのような国々が世界経済において重要な役割を担う存在として台頭しているにもかかわらず、</a:t>
            </a:r>
            <a:r>
              <a:rPr lang="ja-JP" altLang="en-US" sz="1100" b="0">
                <a:solidFill>
                  <a:schemeClr val="bg1"/>
                </a:solidFill>
                <a:highlight>
                  <a:srgbClr val="000000"/>
                </a:highlight>
              </a:rPr>
              <a:t>排出量や資源配分における歴史的な不平等</a:t>
            </a:r>
            <a:r>
              <a:rPr lang="ja-JP" altLang="en-US" sz="1100" b="0"/>
              <a:t>により依然として課題に直面していると指摘している</a:t>
            </a:r>
            <a:r>
              <a:rPr lang="ja-JP" altLang="en" sz="1100" b="0"/>
              <a:t>。</a:t>
            </a:r>
            <a:r>
              <a:rPr lang="ja-JP" altLang="en-US" sz="1100" b="0"/>
              <a:t>この視点は、途上国が自国の固有の課題と地球規模の排出量への貢献を認識させることを求める、</a:t>
            </a:r>
            <a:r>
              <a:rPr lang="ja-JP" altLang="en-US" sz="1100" b="0">
                <a:solidFill>
                  <a:schemeClr val="bg1"/>
                </a:solidFill>
                <a:highlight>
                  <a:srgbClr val="000000"/>
                </a:highlight>
              </a:rPr>
              <a:t>気候交渉における公平性の要請</a:t>
            </a:r>
            <a:r>
              <a:rPr lang="ja-JP" altLang="en-US" sz="1100" b="0"/>
              <a:t>を浮き彫りにしている。</a:t>
            </a:r>
          </a:p>
          <a:p>
            <a:pPr marL="0" indent="0">
              <a:spcBef>
                <a:spcPts val="0"/>
              </a:spcBef>
              <a:buFont typeface="Wingdings" panose="05000000000000000000" pitchFamily="2" charset="2"/>
              <a:buNone/>
            </a:pPr>
            <a:r>
              <a:rPr lang="ja-JP" altLang="en-US" sz="1100" b="0"/>
              <a:t>さらに、アラブ首長国連邦で開催された最近の気候交渉では、化石燃料利権の影響力が露呈し、これが</a:t>
            </a:r>
            <a:r>
              <a:rPr lang="ja-JP" altLang="en-US" sz="1100" b="0">
                <a:solidFill>
                  <a:schemeClr val="bg1"/>
                </a:solidFill>
                <a:highlight>
                  <a:srgbClr val="000000"/>
                </a:highlight>
              </a:rPr>
              <a:t>途上国に不均衡な影響</a:t>
            </a:r>
            <a:r>
              <a:rPr lang="ja-JP" altLang="en-US" sz="1100" b="0"/>
              <a:t>を与えた。</a:t>
            </a:r>
            <a:r>
              <a:rPr lang="en" altLang="ja-JP" sz="1100" b="0" dirty="0"/>
              <a:t>COP28</a:t>
            </a:r>
            <a:r>
              <a:rPr lang="ja-JP" altLang="en-US" sz="1100" b="0"/>
              <a:t>会議に多数の化石燃料ロビイストが参加したことは、気候公約の信頼性と脆弱な国々が自らのニーズを主張する能力に対する懸念を引き起こした。</a:t>
            </a:r>
            <a:endParaRPr lang="en" altLang="ja-JP" sz="1100" b="0" dirty="0"/>
          </a:p>
          <a:p>
            <a:pPr marL="0" indent="0">
              <a:spcBef>
                <a:spcPts val="0"/>
              </a:spcBef>
              <a:buFont typeface="Wingdings" panose="05000000000000000000" pitchFamily="2" charset="2"/>
              <a:buNone/>
            </a:pPr>
            <a:r>
              <a:rPr lang="en" altLang="ja-JP" sz="1100" b="0" dirty="0"/>
              <a:t>### </a:t>
            </a:r>
            <a:r>
              <a:rPr lang="ja-JP" altLang="en-US" sz="1100" b="0"/>
              <a:t>世界の世論への影響</a:t>
            </a:r>
          </a:p>
          <a:p>
            <a:pPr marL="0" indent="0">
              <a:spcBef>
                <a:spcPts val="0"/>
              </a:spcBef>
              <a:buFont typeface="Wingdings" panose="05000000000000000000" pitchFamily="2" charset="2"/>
              <a:buNone/>
            </a:pPr>
            <a:r>
              <a:rPr lang="ja-JP" altLang="en-US" sz="1100" b="0"/>
              <a:t>先進国と途上国における気候変動政策への異なる見解は、世界の世論に深い影響を与えている。先進国では、</a:t>
            </a:r>
            <a:r>
              <a:rPr lang="ja-JP" altLang="en-US" sz="1100" b="0">
                <a:solidFill>
                  <a:schemeClr val="bg1"/>
                </a:solidFill>
                <a:highlight>
                  <a:srgbClr val="FF00FF"/>
                </a:highlight>
              </a:rPr>
              <a:t>緊急性が高まり、即時行動を求める動き</a:t>
            </a:r>
            <a:r>
              <a:rPr lang="ja-JP" altLang="en-US" sz="1100" b="0"/>
              <a:t>が強まっており、政府に対しより</a:t>
            </a:r>
            <a:r>
              <a:rPr lang="ja-JP" altLang="en-US" sz="1100" b="0">
                <a:solidFill>
                  <a:schemeClr val="bg1"/>
                </a:solidFill>
                <a:highlight>
                  <a:srgbClr val="FF00FF"/>
                </a:highlight>
              </a:rPr>
              <a:t>積極的な気候政策</a:t>
            </a:r>
            <a:r>
              <a:rPr lang="ja-JP" altLang="en-US" sz="1100" b="0"/>
              <a:t>を採用するよう国民からの圧力につながる可能性がある。しかし、政治的な不一致が続く限り、この緊急性が必ずしも効果的な行動につながるわけではない。</a:t>
            </a:r>
          </a:p>
          <a:p>
            <a:pPr marL="0" indent="0">
              <a:spcBef>
                <a:spcPts val="0"/>
              </a:spcBef>
              <a:buFont typeface="Wingdings" panose="05000000000000000000" pitchFamily="2" charset="2"/>
              <a:buNone/>
            </a:pPr>
            <a:r>
              <a:rPr lang="ja-JP" altLang="en-US" sz="1100" b="0"/>
              <a:t>一方、</a:t>
            </a:r>
            <a:r>
              <a:rPr lang="ja-JP" altLang="en-US" sz="1100" b="0">
                <a:solidFill>
                  <a:schemeClr val="bg1"/>
                </a:solidFill>
                <a:highlight>
                  <a:srgbClr val="808080"/>
                </a:highlight>
              </a:rPr>
              <a:t>途上国側の主張は協力と支援の必要性</a:t>
            </a:r>
            <a:r>
              <a:rPr lang="ja-JP" altLang="en-US" sz="1100" b="0"/>
              <a:t>を強調しており、</a:t>
            </a:r>
            <a:r>
              <a:rPr lang="ja-JP" altLang="en-US" sz="1100" b="0">
                <a:solidFill>
                  <a:schemeClr val="bg1"/>
                </a:solidFill>
                <a:highlight>
                  <a:srgbClr val="800080"/>
                </a:highlight>
              </a:rPr>
              <a:t>同様の課題に直面する国々間の連帯感を育む可能性</a:t>
            </a:r>
            <a:r>
              <a:rPr lang="ja-JP" altLang="en-US" sz="1100" b="0"/>
              <a:t>がある。この視点は、気候問題の相互関連性と</a:t>
            </a:r>
            <a:r>
              <a:rPr lang="ja-JP" altLang="en-US" sz="1100" b="0">
                <a:solidFill>
                  <a:schemeClr val="bg1"/>
                </a:solidFill>
                <a:highlight>
                  <a:srgbClr val="000000"/>
                </a:highlight>
              </a:rPr>
              <a:t>公平な解決策の必要性</a:t>
            </a:r>
            <a:r>
              <a:rPr lang="ja-JP" altLang="en-US" sz="1100" b="0"/>
              <a:t>をますます認識する</a:t>
            </a:r>
            <a:r>
              <a:rPr lang="ja-JP" altLang="en-US" sz="1100" b="0">
                <a:solidFill>
                  <a:schemeClr val="bg1"/>
                </a:solidFill>
                <a:highlight>
                  <a:srgbClr val="800080"/>
                </a:highlight>
              </a:rPr>
              <a:t>世界的な聴衆の共感</a:t>
            </a:r>
            <a:r>
              <a:rPr lang="ja-JP" altLang="en-US" sz="1100" b="0"/>
              <a:t>を呼ぶだろう。</a:t>
            </a:r>
          </a:p>
          <a:p>
            <a:pPr marL="0" indent="0">
              <a:spcBef>
                <a:spcPts val="0"/>
              </a:spcBef>
              <a:buFont typeface="Wingdings" panose="05000000000000000000" pitchFamily="2" charset="2"/>
              <a:buNone/>
            </a:pPr>
            <a:r>
              <a:rPr lang="ja-JP" altLang="en-US" sz="1100" b="0"/>
              <a:t>結局のところ、こうした異なる視点は気候行動の複雑さを浮き彫りにすることで世論を形成しうる。認識が高まるにつれ、</a:t>
            </a:r>
            <a:r>
              <a:rPr lang="ja-JP" altLang="en-US" sz="1100" b="0">
                <a:solidFill>
                  <a:schemeClr val="bg1"/>
                </a:solidFill>
                <a:highlight>
                  <a:srgbClr val="FF00FF"/>
                </a:highlight>
              </a:rPr>
              <a:t>気候危機の緊急性</a:t>
            </a:r>
            <a:r>
              <a:rPr lang="ja-JP" altLang="en-US" sz="1100" b="0"/>
              <a:t>と途上国への</a:t>
            </a:r>
            <a:r>
              <a:rPr lang="ja-JP" altLang="en-US" sz="1100" b="0">
                <a:solidFill>
                  <a:schemeClr val="bg1"/>
                </a:solidFill>
                <a:highlight>
                  <a:srgbClr val="000000"/>
                </a:highlight>
              </a:rPr>
              <a:t>公平な</a:t>
            </a:r>
            <a:r>
              <a:rPr lang="ja-JP" altLang="en-US" sz="1100" b="0"/>
              <a:t>支援の必要性の両方を認識した、より統一されたグローバルな対応の可能性が生まれます。この二重のアプローチは、関係するすべての国のニーズに対応する、より包括的で効果的な気候政策につながる可能性があります。</a:t>
            </a:r>
          </a:p>
          <a:p>
            <a:pPr marL="0" indent="0">
              <a:spcBef>
                <a:spcPts val="0"/>
              </a:spcBef>
              <a:buFont typeface="Wingdings" panose="05000000000000000000" pitchFamily="2" charset="2"/>
              <a:buNone/>
            </a:pPr>
            <a:r>
              <a:rPr lang="ja-JP" altLang="en-US" sz="1100" b="0"/>
              <a:t>結論として、気候変動と戦うための協調的なグローバルな取り組みを促進し、すべての声が聞かれ、解決策が公平かつ効果的であることを保証するためには、これらの違いを理解することが極めて重要です。</a:t>
            </a:r>
          </a:p>
          <a:p>
            <a:pPr marL="0" indent="0">
              <a:spcBef>
                <a:spcPts val="0"/>
              </a:spcBef>
              <a:buFont typeface="Wingdings" panose="05000000000000000000" pitchFamily="2" charset="2"/>
              <a:buNone/>
            </a:pPr>
            <a:endParaRPr lang="ja-JP" altLang="en-US" sz="1100" b="0"/>
          </a:p>
        </p:txBody>
      </p:sp>
      <p:sp>
        <p:nvSpPr>
          <p:cNvPr id="6" name="タイトル 1">
            <a:extLst>
              <a:ext uri="{FF2B5EF4-FFF2-40B4-BE49-F238E27FC236}">
                <a16:creationId xmlns:a16="http://schemas.microsoft.com/office/drawing/2014/main" id="{E1193F8E-6464-50F1-1F51-0FF621D995C9}"/>
              </a:ext>
            </a:extLst>
          </p:cNvPr>
          <p:cNvSpPr>
            <a:spLocks noGrp="1"/>
          </p:cNvSpPr>
          <p:nvPr>
            <p:ph type="title"/>
          </p:nvPr>
        </p:nvSpPr>
        <p:spPr>
          <a:xfrm>
            <a:off x="388374" y="987216"/>
            <a:ext cx="11099800" cy="691273"/>
          </a:xfrm>
        </p:spPr>
        <p:txBody>
          <a:bodyPr/>
          <a:lstStyle/>
          <a:p>
            <a:r>
              <a:rPr lang="en-US" altLang="ja-JP" sz="1800" dirty="0"/>
              <a:t>Q</a:t>
            </a:r>
            <a:r>
              <a:rPr lang="ja-JP" altLang="en-US" sz="1800"/>
              <a:t>：気候変動政策に関するニュース記事で表明される見解は、先進国と発展途上国でどのように異なり、これらの差異は世界の世論にどのような影響を与えるのか？</a:t>
            </a:r>
            <a:endParaRPr kumimoji="1" lang="ja-JP" altLang="en-US" sz="1800"/>
          </a:p>
        </p:txBody>
      </p:sp>
    </p:spTree>
    <p:extLst>
      <p:ext uri="{BB962C8B-B14F-4D97-AF65-F5344CB8AC3E}">
        <p14:creationId xmlns:p14="http://schemas.microsoft.com/office/powerpoint/2010/main" val="1655260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1FA00A-BFAB-4AE1-D43C-9995B17F0F25}"/>
            </a:ext>
          </a:extLst>
        </p:cNvPr>
        <p:cNvGrpSpPr/>
        <p:nvPr/>
      </p:nvGrpSpPr>
      <p:grpSpPr>
        <a:xfrm>
          <a:off x="0" y="0"/>
          <a:ext cx="0" cy="0"/>
          <a:chOff x="0" y="0"/>
          <a:chExt cx="0" cy="0"/>
        </a:xfrm>
      </p:grpSpPr>
      <p:sp>
        <p:nvSpPr>
          <p:cNvPr id="89" name="正方形/長方形 88">
            <a:extLst>
              <a:ext uri="{FF2B5EF4-FFF2-40B4-BE49-F238E27FC236}">
                <a16:creationId xmlns:a16="http://schemas.microsoft.com/office/drawing/2014/main" id="{4032D1C8-2600-33BE-A911-EF24F11F3239}"/>
              </a:ext>
            </a:extLst>
          </p:cNvPr>
          <p:cNvSpPr/>
          <p:nvPr/>
        </p:nvSpPr>
        <p:spPr>
          <a:xfrm>
            <a:off x="860042" y="1283138"/>
            <a:ext cx="3445800" cy="2403632"/>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73488294-31DD-97EF-E4B5-E58A504621DE}"/>
              </a:ext>
            </a:extLst>
          </p:cNvPr>
          <p:cNvSpPr/>
          <p:nvPr/>
        </p:nvSpPr>
        <p:spPr>
          <a:xfrm>
            <a:off x="4886354" y="4801457"/>
            <a:ext cx="3228163" cy="5927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9CBA8AE8-D511-7978-A424-03DC05BAF97A}"/>
              </a:ext>
            </a:extLst>
          </p:cNvPr>
          <p:cNvSpPr/>
          <p:nvPr/>
        </p:nvSpPr>
        <p:spPr>
          <a:xfrm>
            <a:off x="962458" y="5561419"/>
            <a:ext cx="3231091" cy="830997"/>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A14ED414-6882-9BB1-C6C5-E9B9C58391E3}"/>
              </a:ext>
            </a:extLst>
          </p:cNvPr>
          <p:cNvSpPr/>
          <p:nvPr/>
        </p:nvSpPr>
        <p:spPr>
          <a:xfrm>
            <a:off x="964555" y="3835353"/>
            <a:ext cx="3240265" cy="375771"/>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C2B8BBD8-735B-0077-BA39-77C8BADA7F60}"/>
              </a:ext>
            </a:extLst>
          </p:cNvPr>
          <p:cNvSpPr txBox="1"/>
          <p:nvPr/>
        </p:nvSpPr>
        <p:spPr>
          <a:xfrm>
            <a:off x="971701" y="3857495"/>
            <a:ext cx="3240261" cy="338554"/>
          </a:xfrm>
          <a:prstGeom prst="rect">
            <a:avLst/>
          </a:prstGeom>
          <a:noFill/>
          <a:ln>
            <a:noFill/>
          </a:ln>
        </p:spPr>
        <p:txBody>
          <a:bodyPr wrap="square" rtlCol="0">
            <a:spAutoFit/>
          </a:bodyPr>
          <a:lstStyle/>
          <a:p>
            <a:pPr algn="ctr"/>
            <a:r>
              <a:rPr kumimoji="1" lang="ja-JP" altLang="en-US" sz="1600"/>
              <a:t>コミュニティ検出</a:t>
            </a:r>
            <a:r>
              <a:rPr lang="ja-JP" altLang="en-US" sz="1600"/>
              <a:t>・要約</a:t>
            </a:r>
            <a:endParaRPr kumimoji="1" lang="ja-JP" altLang="en-US" sz="1600"/>
          </a:p>
        </p:txBody>
      </p:sp>
      <p:sp>
        <p:nvSpPr>
          <p:cNvPr id="42" name="正方形/長方形 41">
            <a:extLst>
              <a:ext uri="{FF2B5EF4-FFF2-40B4-BE49-F238E27FC236}">
                <a16:creationId xmlns:a16="http://schemas.microsoft.com/office/drawing/2014/main" id="{4CCE9D6A-EFCB-3047-EA14-EAEF9EB0BD34}"/>
              </a:ext>
            </a:extLst>
          </p:cNvPr>
          <p:cNvSpPr/>
          <p:nvPr/>
        </p:nvSpPr>
        <p:spPr>
          <a:xfrm>
            <a:off x="964555" y="4801310"/>
            <a:ext cx="3240268" cy="60305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DA0E0662-9F63-058B-1947-1B6F736F3B0B}"/>
              </a:ext>
            </a:extLst>
          </p:cNvPr>
          <p:cNvSpPr txBox="1"/>
          <p:nvPr/>
        </p:nvSpPr>
        <p:spPr>
          <a:xfrm>
            <a:off x="917997" y="4809292"/>
            <a:ext cx="3354743" cy="584775"/>
          </a:xfrm>
          <a:prstGeom prst="rect">
            <a:avLst/>
          </a:prstGeom>
          <a:noFill/>
          <a:ln>
            <a:noFill/>
          </a:ln>
        </p:spPr>
        <p:txBody>
          <a:bodyPr wrap="square" rtlCol="0">
            <a:spAutoFit/>
          </a:bodyPr>
          <a:lstStyle/>
          <a:p>
            <a:pPr algn="ctr"/>
            <a:r>
              <a:rPr kumimoji="1" lang="ja-JP" altLang="en-US" sz="1600"/>
              <a:t>コミュニティとクエリの類似度</a:t>
            </a:r>
            <a:endParaRPr kumimoji="1" lang="en-US" altLang="ja-JP" sz="1600" dirty="0"/>
          </a:p>
          <a:p>
            <a:pPr algn="ctr"/>
            <a:r>
              <a:rPr kumimoji="1" lang="ja-JP" altLang="en-US" sz="1600"/>
              <a:t>からコミュニティを抽出</a:t>
            </a:r>
          </a:p>
        </p:txBody>
      </p:sp>
      <p:sp>
        <p:nvSpPr>
          <p:cNvPr id="45" name="テキスト ボックス 44">
            <a:extLst>
              <a:ext uri="{FF2B5EF4-FFF2-40B4-BE49-F238E27FC236}">
                <a16:creationId xmlns:a16="http://schemas.microsoft.com/office/drawing/2014/main" id="{70818E46-4EB1-20AE-1C97-1E38B8179E21}"/>
              </a:ext>
            </a:extLst>
          </p:cNvPr>
          <p:cNvSpPr txBox="1"/>
          <p:nvPr/>
        </p:nvSpPr>
        <p:spPr>
          <a:xfrm>
            <a:off x="4781634" y="4811431"/>
            <a:ext cx="3437597" cy="584775"/>
          </a:xfrm>
          <a:prstGeom prst="rect">
            <a:avLst/>
          </a:prstGeom>
          <a:noFill/>
          <a:ln>
            <a:noFill/>
          </a:ln>
        </p:spPr>
        <p:txBody>
          <a:bodyPr wrap="square" rtlCol="0">
            <a:spAutoFit/>
          </a:bodyPr>
          <a:lstStyle/>
          <a:p>
            <a:pPr algn="ctr"/>
            <a:r>
              <a:rPr kumimoji="1" lang="ja-JP" altLang="en-US" sz="1600"/>
              <a:t>重み付きマルチソース</a:t>
            </a:r>
            <a:r>
              <a:rPr kumimoji="1" lang="en-US" altLang="ja-JP" sz="1600" dirty="0"/>
              <a:t>PPR</a:t>
            </a:r>
            <a:r>
              <a:rPr kumimoji="1" lang="ja-JP" altLang="en-US" sz="1600"/>
              <a:t>で</a:t>
            </a:r>
            <a:endParaRPr kumimoji="1" lang="en-US" altLang="ja-JP" sz="1600" dirty="0"/>
          </a:p>
          <a:p>
            <a:pPr algn="ctr"/>
            <a:r>
              <a:rPr lang="ja-JP" altLang="en-US" sz="1600"/>
              <a:t>関連するノード</a:t>
            </a:r>
            <a:r>
              <a:rPr lang="en-US" altLang="ja-JP" sz="1600" dirty="0"/>
              <a:t> (</a:t>
            </a:r>
            <a:r>
              <a:rPr lang="ja-JP" altLang="en-US" sz="1600"/>
              <a:t>文書</a:t>
            </a:r>
            <a:r>
              <a:rPr lang="en-US" altLang="ja-JP" sz="1600" dirty="0"/>
              <a:t>) </a:t>
            </a:r>
            <a:r>
              <a:rPr lang="ja-JP" altLang="en-US" sz="1600"/>
              <a:t>を抽出</a:t>
            </a:r>
            <a:endParaRPr kumimoji="1" lang="ja-JP" altLang="en-US" sz="1600"/>
          </a:p>
        </p:txBody>
      </p:sp>
      <p:sp>
        <p:nvSpPr>
          <p:cNvPr id="46" name="正方形/長方形 45">
            <a:extLst>
              <a:ext uri="{FF2B5EF4-FFF2-40B4-BE49-F238E27FC236}">
                <a16:creationId xmlns:a16="http://schemas.microsoft.com/office/drawing/2014/main" id="{378C1CD2-BA24-D132-83DE-FD750328D157}"/>
              </a:ext>
            </a:extLst>
          </p:cNvPr>
          <p:cNvSpPr/>
          <p:nvPr/>
        </p:nvSpPr>
        <p:spPr>
          <a:xfrm>
            <a:off x="4881311" y="5545238"/>
            <a:ext cx="3233200" cy="838142"/>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BB7C5287-CCF4-5C9B-094E-59310048BFA4}"/>
              </a:ext>
            </a:extLst>
          </p:cNvPr>
          <p:cNvSpPr txBox="1"/>
          <p:nvPr/>
        </p:nvSpPr>
        <p:spPr>
          <a:xfrm>
            <a:off x="4881311" y="5574194"/>
            <a:ext cx="3233200" cy="830997"/>
          </a:xfrm>
          <a:prstGeom prst="rect">
            <a:avLst/>
          </a:prstGeom>
          <a:noFill/>
          <a:ln>
            <a:noFill/>
          </a:ln>
        </p:spPr>
        <p:txBody>
          <a:bodyPr wrap="square" rtlCol="0">
            <a:spAutoFit/>
          </a:bodyPr>
          <a:lstStyle/>
          <a:p>
            <a:pPr algn="ctr"/>
            <a:r>
              <a:rPr kumimoji="1" lang="ja-JP" altLang="en-US" sz="1600"/>
              <a:t>文書を</a:t>
            </a:r>
            <a:r>
              <a:rPr kumimoji="1" lang="en-US" altLang="ja-JP" sz="1600" dirty="0"/>
              <a:t>LLM</a:t>
            </a:r>
            <a:r>
              <a:rPr kumimoji="1" lang="ja-JP" altLang="en-US" sz="1600"/>
              <a:t>を用いずに</a:t>
            </a:r>
            <a:endParaRPr kumimoji="1" lang="en-US" altLang="ja-JP" sz="1600" dirty="0"/>
          </a:p>
          <a:p>
            <a:pPr algn="ctr"/>
            <a:r>
              <a:rPr kumimoji="1" lang="ja-JP" altLang="en-US" sz="1600"/>
              <a:t>分割して</a:t>
            </a:r>
            <a:r>
              <a:rPr kumimoji="1" lang="en-US" altLang="ja-JP" sz="1600" dirty="0"/>
              <a:t>LLM</a:t>
            </a:r>
            <a:r>
              <a:rPr kumimoji="1" lang="ja-JP" altLang="en-US" sz="1600"/>
              <a:t>に渡し</a:t>
            </a:r>
            <a:r>
              <a:rPr kumimoji="1" lang="en-US" altLang="ja-JP" sz="1600" dirty="0"/>
              <a:t>, </a:t>
            </a:r>
          </a:p>
          <a:p>
            <a:pPr algn="ctr"/>
            <a:r>
              <a:rPr kumimoji="1" lang="ja-JP" altLang="en-US" sz="1600"/>
              <a:t>回答生成</a:t>
            </a:r>
            <a:r>
              <a:rPr kumimoji="1" lang="en-US" altLang="ja-JP" sz="1600" dirty="0"/>
              <a:t> </a:t>
            </a:r>
            <a:endParaRPr kumimoji="1" lang="ja-JP" altLang="en-US" sz="1600"/>
          </a:p>
        </p:txBody>
      </p:sp>
      <p:sp>
        <p:nvSpPr>
          <p:cNvPr id="49" name="テキスト ボックス 48">
            <a:extLst>
              <a:ext uri="{FF2B5EF4-FFF2-40B4-BE49-F238E27FC236}">
                <a16:creationId xmlns:a16="http://schemas.microsoft.com/office/drawing/2014/main" id="{6D908CD9-C518-CEA8-2EDD-55080BC97130}"/>
              </a:ext>
            </a:extLst>
          </p:cNvPr>
          <p:cNvSpPr txBox="1"/>
          <p:nvPr/>
        </p:nvSpPr>
        <p:spPr>
          <a:xfrm>
            <a:off x="1094367" y="5586801"/>
            <a:ext cx="2984566" cy="830997"/>
          </a:xfrm>
          <a:prstGeom prst="rect">
            <a:avLst/>
          </a:prstGeom>
          <a:noFill/>
          <a:ln>
            <a:noFill/>
          </a:ln>
        </p:spPr>
        <p:txBody>
          <a:bodyPr wrap="square" rtlCol="0">
            <a:spAutoFit/>
          </a:bodyPr>
          <a:lstStyle/>
          <a:p>
            <a:pPr algn="ctr"/>
            <a:r>
              <a:rPr kumimoji="1" lang="ja-JP" altLang="en-US" sz="1600"/>
              <a:t>コミュニティ要約から</a:t>
            </a:r>
            <a:endParaRPr kumimoji="1" lang="en-US" altLang="ja-JP" sz="1600" dirty="0"/>
          </a:p>
          <a:p>
            <a:pPr algn="ctr"/>
            <a:r>
              <a:rPr kumimoji="1" lang="ja-JP" altLang="en-US" sz="1600"/>
              <a:t>部分的な回答を複数生成</a:t>
            </a:r>
            <a:endParaRPr kumimoji="1" lang="en-US" altLang="ja-JP" sz="1600" dirty="0"/>
          </a:p>
          <a:p>
            <a:pPr algn="ctr"/>
            <a:r>
              <a:rPr kumimoji="1" lang="en-US" altLang="ja-JP" sz="1600" dirty="0"/>
              <a:t>→</a:t>
            </a:r>
            <a:r>
              <a:rPr lang="en-US" altLang="ja-JP" sz="1600" dirty="0"/>
              <a:t> </a:t>
            </a:r>
            <a:r>
              <a:rPr kumimoji="1" lang="ja-JP" altLang="en-US" sz="1600"/>
              <a:t>統合して最終回答を生成</a:t>
            </a:r>
          </a:p>
        </p:txBody>
      </p:sp>
      <p:sp>
        <p:nvSpPr>
          <p:cNvPr id="58" name="正方形/長方形 57">
            <a:extLst>
              <a:ext uri="{FF2B5EF4-FFF2-40B4-BE49-F238E27FC236}">
                <a16:creationId xmlns:a16="http://schemas.microsoft.com/office/drawing/2014/main" id="{679166D9-3551-06E1-58E3-7A4C205E08DD}"/>
              </a:ext>
            </a:extLst>
          </p:cNvPr>
          <p:cNvSpPr/>
          <p:nvPr/>
        </p:nvSpPr>
        <p:spPr>
          <a:xfrm>
            <a:off x="971702" y="4280149"/>
            <a:ext cx="1043107" cy="440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5686DBB7-B351-980F-316D-88AF838DC19A}"/>
              </a:ext>
            </a:extLst>
          </p:cNvPr>
          <p:cNvSpPr txBox="1"/>
          <p:nvPr/>
        </p:nvSpPr>
        <p:spPr>
          <a:xfrm>
            <a:off x="962459" y="4330154"/>
            <a:ext cx="1059568" cy="338554"/>
          </a:xfrm>
          <a:prstGeom prst="rect">
            <a:avLst/>
          </a:prstGeom>
          <a:noFill/>
          <a:ln>
            <a:noFill/>
          </a:ln>
        </p:spPr>
        <p:txBody>
          <a:bodyPr wrap="square" rtlCol="0">
            <a:spAutoFit/>
          </a:bodyPr>
          <a:lstStyle/>
          <a:p>
            <a:pPr algn="ctr"/>
            <a:r>
              <a:rPr kumimoji="1" lang="ja-JP" altLang="en-US" sz="1600"/>
              <a:t>クエリ</a:t>
            </a:r>
            <a:endParaRPr kumimoji="1" lang="en-US" altLang="ja-JP" sz="1600" dirty="0"/>
          </a:p>
        </p:txBody>
      </p:sp>
      <p:cxnSp>
        <p:nvCxnSpPr>
          <p:cNvPr id="60" name="直線矢印コネクタ 59">
            <a:extLst>
              <a:ext uri="{FF2B5EF4-FFF2-40B4-BE49-F238E27FC236}">
                <a16:creationId xmlns:a16="http://schemas.microsoft.com/office/drawing/2014/main" id="{34C2C133-621B-332E-8EE8-6FCE6962CB29}"/>
              </a:ext>
            </a:extLst>
          </p:cNvPr>
          <p:cNvCxnSpPr>
            <a:cxnSpLocks/>
            <a:stCxn id="40" idx="2"/>
            <a:endCxn id="42" idx="0"/>
          </p:cNvCxnSpPr>
          <p:nvPr/>
        </p:nvCxnSpPr>
        <p:spPr>
          <a:xfrm>
            <a:off x="2584688" y="4211124"/>
            <a:ext cx="1" cy="5901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44DB3293-D631-627E-7C2A-41A306BB106D}"/>
              </a:ext>
            </a:extLst>
          </p:cNvPr>
          <p:cNvCxnSpPr>
            <a:cxnSpLocks/>
            <a:stCxn id="42" idx="2"/>
          </p:cNvCxnSpPr>
          <p:nvPr/>
        </p:nvCxnSpPr>
        <p:spPr>
          <a:xfrm>
            <a:off x="2584689" y="5404361"/>
            <a:ext cx="4594" cy="144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669F6379-E3CF-D137-ADD7-BF881248DD99}"/>
              </a:ext>
            </a:extLst>
          </p:cNvPr>
          <p:cNvCxnSpPr>
            <a:cxnSpLocks/>
            <a:stCxn id="58" idx="3"/>
          </p:cNvCxnSpPr>
          <p:nvPr/>
        </p:nvCxnSpPr>
        <p:spPr>
          <a:xfrm flipV="1">
            <a:off x="2014809" y="4493364"/>
            <a:ext cx="547002" cy="6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F5A81321-FDF6-C0D9-310E-E29D16A529D1}"/>
              </a:ext>
            </a:extLst>
          </p:cNvPr>
          <p:cNvCxnSpPr>
            <a:cxnSpLocks/>
            <a:stCxn id="54" idx="2"/>
            <a:endCxn id="46" idx="0"/>
          </p:cNvCxnSpPr>
          <p:nvPr/>
        </p:nvCxnSpPr>
        <p:spPr>
          <a:xfrm flipH="1">
            <a:off x="6497911" y="5394214"/>
            <a:ext cx="2525" cy="151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正方形/長方形 110">
            <a:extLst>
              <a:ext uri="{FF2B5EF4-FFF2-40B4-BE49-F238E27FC236}">
                <a16:creationId xmlns:a16="http://schemas.microsoft.com/office/drawing/2014/main" id="{4839A4C3-B124-7F48-25DA-2F9DE5356A7C}"/>
              </a:ext>
            </a:extLst>
          </p:cNvPr>
          <p:cNvSpPr/>
          <p:nvPr/>
        </p:nvSpPr>
        <p:spPr>
          <a:xfrm>
            <a:off x="4891854" y="4280296"/>
            <a:ext cx="1050311" cy="440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テキスト ボックス 111">
            <a:extLst>
              <a:ext uri="{FF2B5EF4-FFF2-40B4-BE49-F238E27FC236}">
                <a16:creationId xmlns:a16="http://schemas.microsoft.com/office/drawing/2014/main" id="{0A2FBAC1-F75D-5F55-E1C1-483E7948BDB5}"/>
              </a:ext>
            </a:extLst>
          </p:cNvPr>
          <p:cNvSpPr txBox="1"/>
          <p:nvPr/>
        </p:nvSpPr>
        <p:spPr>
          <a:xfrm>
            <a:off x="4128216" y="4337071"/>
            <a:ext cx="2577585" cy="338554"/>
          </a:xfrm>
          <a:prstGeom prst="rect">
            <a:avLst/>
          </a:prstGeom>
          <a:noFill/>
          <a:ln>
            <a:noFill/>
          </a:ln>
        </p:spPr>
        <p:txBody>
          <a:bodyPr wrap="square" rtlCol="0">
            <a:spAutoFit/>
          </a:bodyPr>
          <a:lstStyle/>
          <a:p>
            <a:pPr algn="ctr"/>
            <a:r>
              <a:rPr kumimoji="1" lang="ja-JP" altLang="en-US" sz="1600"/>
              <a:t>クエリ</a:t>
            </a:r>
            <a:endParaRPr kumimoji="1" lang="en-US" altLang="ja-JP" sz="1600" dirty="0"/>
          </a:p>
        </p:txBody>
      </p:sp>
      <p:cxnSp>
        <p:nvCxnSpPr>
          <p:cNvPr id="113" name="直線矢印コネクタ 112">
            <a:extLst>
              <a:ext uri="{FF2B5EF4-FFF2-40B4-BE49-F238E27FC236}">
                <a16:creationId xmlns:a16="http://schemas.microsoft.com/office/drawing/2014/main" id="{F3A4B46F-D40B-39D2-CF0A-1CB22524ACF6}"/>
              </a:ext>
            </a:extLst>
          </p:cNvPr>
          <p:cNvCxnSpPr>
            <a:cxnSpLocks/>
            <a:stCxn id="111" idx="3"/>
          </p:cNvCxnSpPr>
          <p:nvPr/>
        </p:nvCxnSpPr>
        <p:spPr>
          <a:xfrm flipV="1">
            <a:off x="5942165" y="4495445"/>
            <a:ext cx="561794" cy="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直線矢印コネクタ 113">
            <a:extLst>
              <a:ext uri="{FF2B5EF4-FFF2-40B4-BE49-F238E27FC236}">
                <a16:creationId xmlns:a16="http://schemas.microsoft.com/office/drawing/2014/main" id="{B41D3E01-ECE5-882B-4AC3-4A05905177BE}"/>
              </a:ext>
            </a:extLst>
          </p:cNvPr>
          <p:cNvCxnSpPr>
            <a:cxnSpLocks/>
            <a:stCxn id="115" idx="2"/>
            <a:endCxn id="54" idx="0"/>
          </p:cNvCxnSpPr>
          <p:nvPr/>
        </p:nvCxnSpPr>
        <p:spPr>
          <a:xfrm flipH="1">
            <a:off x="6500436" y="3686916"/>
            <a:ext cx="3206" cy="1114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92D1A028-C6FD-6E4F-0C4A-F5CB60B7DC93}"/>
              </a:ext>
            </a:extLst>
          </p:cNvPr>
          <p:cNvSpPr/>
          <p:nvPr/>
        </p:nvSpPr>
        <p:spPr>
          <a:xfrm>
            <a:off x="8749089" y="1287542"/>
            <a:ext cx="3225972" cy="6861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テキスト ボックス 119">
            <a:extLst>
              <a:ext uri="{FF2B5EF4-FFF2-40B4-BE49-F238E27FC236}">
                <a16:creationId xmlns:a16="http://schemas.microsoft.com/office/drawing/2014/main" id="{352BB95B-D90E-71A4-8A08-98BE3C6D8D3A}"/>
              </a:ext>
            </a:extLst>
          </p:cNvPr>
          <p:cNvSpPr txBox="1"/>
          <p:nvPr/>
        </p:nvSpPr>
        <p:spPr>
          <a:xfrm>
            <a:off x="9071666" y="1473444"/>
            <a:ext cx="2577585" cy="338554"/>
          </a:xfrm>
          <a:prstGeom prst="rect">
            <a:avLst/>
          </a:prstGeom>
          <a:noFill/>
          <a:ln>
            <a:noFill/>
          </a:ln>
        </p:spPr>
        <p:txBody>
          <a:bodyPr wrap="square" rtlCol="0">
            <a:spAutoFit/>
          </a:bodyPr>
          <a:lstStyle/>
          <a:p>
            <a:pPr algn="ctr"/>
            <a:r>
              <a:rPr kumimoji="1" lang="ja-JP" altLang="en-US" sz="1600"/>
              <a:t>埋め込み作成</a:t>
            </a:r>
          </a:p>
        </p:txBody>
      </p:sp>
      <p:sp>
        <p:nvSpPr>
          <p:cNvPr id="122" name="正方形/長方形 121">
            <a:extLst>
              <a:ext uri="{FF2B5EF4-FFF2-40B4-BE49-F238E27FC236}">
                <a16:creationId xmlns:a16="http://schemas.microsoft.com/office/drawing/2014/main" id="{54C65D1D-836F-A2D7-1E4B-35AB50B438D1}"/>
              </a:ext>
            </a:extLst>
          </p:cNvPr>
          <p:cNvSpPr/>
          <p:nvPr/>
        </p:nvSpPr>
        <p:spPr>
          <a:xfrm>
            <a:off x="8749091" y="4801457"/>
            <a:ext cx="3225970" cy="5921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テキスト ボックス 120">
            <a:extLst>
              <a:ext uri="{FF2B5EF4-FFF2-40B4-BE49-F238E27FC236}">
                <a16:creationId xmlns:a16="http://schemas.microsoft.com/office/drawing/2014/main" id="{28694826-C14E-2FE8-A979-F6E011D1C114}"/>
              </a:ext>
            </a:extLst>
          </p:cNvPr>
          <p:cNvSpPr txBox="1"/>
          <p:nvPr/>
        </p:nvSpPr>
        <p:spPr>
          <a:xfrm>
            <a:off x="8752203" y="4817588"/>
            <a:ext cx="3219550" cy="584775"/>
          </a:xfrm>
          <a:prstGeom prst="rect">
            <a:avLst/>
          </a:prstGeom>
          <a:noFill/>
          <a:ln>
            <a:noFill/>
          </a:ln>
        </p:spPr>
        <p:txBody>
          <a:bodyPr wrap="square" rtlCol="0">
            <a:spAutoFit/>
          </a:bodyPr>
          <a:lstStyle/>
          <a:p>
            <a:pPr algn="ctr"/>
            <a:r>
              <a:rPr kumimoji="1" lang="ja-JP" altLang="en-US" sz="1600"/>
              <a:t>ベクトル検索で</a:t>
            </a:r>
            <a:endParaRPr lang="en-US" altLang="ja-JP" sz="1600" dirty="0"/>
          </a:p>
          <a:p>
            <a:pPr algn="ctr"/>
            <a:r>
              <a:rPr kumimoji="1" lang="ja-JP" altLang="en-US" sz="1600"/>
              <a:t>関連する文書を抽出</a:t>
            </a:r>
          </a:p>
        </p:txBody>
      </p:sp>
      <p:cxnSp>
        <p:nvCxnSpPr>
          <p:cNvPr id="123" name="直線矢印コネクタ 122">
            <a:extLst>
              <a:ext uri="{FF2B5EF4-FFF2-40B4-BE49-F238E27FC236}">
                <a16:creationId xmlns:a16="http://schemas.microsoft.com/office/drawing/2014/main" id="{6220308F-CDFC-0DF1-005A-E0F43F8EAD95}"/>
              </a:ext>
            </a:extLst>
          </p:cNvPr>
          <p:cNvCxnSpPr>
            <a:cxnSpLocks/>
            <a:stCxn id="119" idx="2"/>
            <a:endCxn id="122" idx="0"/>
          </p:cNvCxnSpPr>
          <p:nvPr/>
        </p:nvCxnSpPr>
        <p:spPr>
          <a:xfrm>
            <a:off x="10362075" y="1973680"/>
            <a:ext cx="1" cy="28277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7" name="正方形/長方形 126">
            <a:extLst>
              <a:ext uri="{FF2B5EF4-FFF2-40B4-BE49-F238E27FC236}">
                <a16:creationId xmlns:a16="http://schemas.microsoft.com/office/drawing/2014/main" id="{7C3A59DA-6314-0E94-973D-F9EA50325AD8}"/>
              </a:ext>
            </a:extLst>
          </p:cNvPr>
          <p:cNvSpPr/>
          <p:nvPr/>
        </p:nvSpPr>
        <p:spPr>
          <a:xfrm>
            <a:off x="8749089" y="5567862"/>
            <a:ext cx="3225971" cy="830997"/>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テキスト ボックス 127">
            <a:extLst>
              <a:ext uri="{FF2B5EF4-FFF2-40B4-BE49-F238E27FC236}">
                <a16:creationId xmlns:a16="http://schemas.microsoft.com/office/drawing/2014/main" id="{8F373FDC-6E16-6530-7B92-57AFECD27BBD}"/>
              </a:ext>
            </a:extLst>
          </p:cNvPr>
          <p:cNvSpPr txBox="1"/>
          <p:nvPr/>
        </p:nvSpPr>
        <p:spPr>
          <a:xfrm>
            <a:off x="8630664" y="5813676"/>
            <a:ext cx="3462820" cy="338554"/>
          </a:xfrm>
          <a:prstGeom prst="rect">
            <a:avLst/>
          </a:prstGeom>
          <a:noFill/>
          <a:ln>
            <a:noFill/>
          </a:ln>
        </p:spPr>
        <p:txBody>
          <a:bodyPr wrap="square" rtlCol="0">
            <a:spAutoFit/>
          </a:bodyPr>
          <a:lstStyle/>
          <a:p>
            <a:pPr algn="ctr"/>
            <a:r>
              <a:rPr kumimoji="1" lang="ja-JP" altLang="en-US" sz="1600"/>
              <a:t>検索結果から回答生成</a:t>
            </a:r>
          </a:p>
        </p:txBody>
      </p:sp>
      <p:cxnSp>
        <p:nvCxnSpPr>
          <p:cNvPr id="129" name="直線矢印コネクタ 128">
            <a:extLst>
              <a:ext uri="{FF2B5EF4-FFF2-40B4-BE49-F238E27FC236}">
                <a16:creationId xmlns:a16="http://schemas.microsoft.com/office/drawing/2014/main" id="{A47806C3-1DF0-D7C4-3712-6BD9E0D367A9}"/>
              </a:ext>
            </a:extLst>
          </p:cNvPr>
          <p:cNvCxnSpPr>
            <a:cxnSpLocks/>
            <a:stCxn id="122" idx="2"/>
            <a:endCxn id="127" idx="0"/>
          </p:cNvCxnSpPr>
          <p:nvPr/>
        </p:nvCxnSpPr>
        <p:spPr>
          <a:xfrm flipH="1">
            <a:off x="10362075" y="5393605"/>
            <a:ext cx="1" cy="174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2" name="正方形/長方形 131">
            <a:extLst>
              <a:ext uri="{FF2B5EF4-FFF2-40B4-BE49-F238E27FC236}">
                <a16:creationId xmlns:a16="http://schemas.microsoft.com/office/drawing/2014/main" id="{6FC52E37-D080-6331-5130-8E7FF1BC4E05}"/>
              </a:ext>
            </a:extLst>
          </p:cNvPr>
          <p:cNvSpPr/>
          <p:nvPr/>
        </p:nvSpPr>
        <p:spPr>
          <a:xfrm>
            <a:off x="8749089" y="4278918"/>
            <a:ext cx="1050324" cy="4401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テキスト ボックス 132">
            <a:extLst>
              <a:ext uri="{FF2B5EF4-FFF2-40B4-BE49-F238E27FC236}">
                <a16:creationId xmlns:a16="http://schemas.microsoft.com/office/drawing/2014/main" id="{BB9F1277-524C-231D-C667-AEDA968F38AE}"/>
              </a:ext>
            </a:extLst>
          </p:cNvPr>
          <p:cNvSpPr txBox="1"/>
          <p:nvPr/>
        </p:nvSpPr>
        <p:spPr>
          <a:xfrm>
            <a:off x="8579007" y="4339709"/>
            <a:ext cx="1409445" cy="338554"/>
          </a:xfrm>
          <a:prstGeom prst="rect">
            <a:avLst/>
          </a:prstGeom>
          <a:noFill/>
          <a:ln>
            <a:noFill/>
          </a:ln>
        </p:spPr>
        <p:txBody>
          <a:bodyPr wrap="square" rtlCol="0">
            <a:spAutoFit/>
          </a:bodyPr>
          <a:lstStyle/>
          <a:p>
            <a:pPr algn="ctr"/>
            <a:r>
              <a:rPr kumimoji="1" lang="ja-JP" altLang="en-US" sz="1600"/>
              <a:t>クエリ</a:t>
            </a:r>
            <a:endParaRPr kumimoji="1" lang="en-US" altLang="ja-JP" sz="1600" dirty="0"/>
          </a:p>
        </p:txBody>
      </p:sp>
      <p:cxnSp>
        <p:nvCxnSpPr>
          <p:cNvPr id="134" name="直線矢印コネクタ 133">
            <a:extLst>
              <a:ext uri="{FF2B5EF4-FFF2-40B4-BE49-F238E27FC236}">
                <a16:creationId xmlns:a16="http://schemas.microsoft.com/office/drawing/2014/main" id="{93156EBE-454D-5B0A-5CEE-154EC5304AE5}"/>
              </a:ext>
            </a:extLst>
          </p:cNvPr>
          <p:cNvCxnSpPr>
            <a:cxnSpLocks/>
            <a:stCxn id="132" idx="3"/>
          </p:cNvCxnSpPr>
          <p:nvPr/>
        </p:nvCxnSpPr>
        <p:spPr>
          <a:xfrm flipV="1">
            <a:off x="9799413" y="4498806"/>
            <a:ext cx="562662" cy="2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7" name="テキスト ボックス 136">
            <a:extLst>
              <a:ext uri="{FF2B5EF4-FFF2-40B4-BE49-F238E27FC236}">
                <a16:creationId xmlns:a16="http://schemas.microsoft.com/office/drawing/2014/main" id="{6D6AAD36-443E-B7AA-4FF7-A24F06BFFF52}"/>
              </a:ext>
            </a:extLst>
          </p:cNvPr>
          <p:cNvSpPr txBox="1"/>
          <p:nvPr/>
        </p:nvSpPr>
        <p:spPr>
          <a:xfrm>
            <a:off x="1053467" y="888661"/>
            <a:ext cx="3214456" cy="400110"/>
          </a:xfrm>
          <a:prstGeom prst="rect">
            <a:avLst/>
          </a:prstGeom>
          <a:noFill/>
          <a:ln>
            <a:noFill/>
          </a:ln>
        </p:spPr>
        <p:txBody>
          <a:bodyPr wrap="square" rtlCol="0">
            <a:spAutoFit/>
          </a:bodyPr>
          <a:lstStyle/>
          <a:p>
            <a:pPr algn="ctr"/>
            <a:r>
              <a:rPr kumimoji="1" lang="en-US" altLang="ja-JP" sz="2000" dirty="0"/>
              <a:t>GraphRAG</a:t>
            </a:r>
            <a:endParaRPr kumimoji="1" lang="ja-JP" altLang="en-US" sz="2000"/>
          </a:p>
        </p:txBody>
      </p:sp>
      <p:sp>
        <p:nvSpPr>
          <p:cNvPr id="138" name="テキスト ボックス 137">
            <a:extLst>
              <a:ext uri="{FF2B5EF4-FFF2-40B4-BE49-F238E27FC236}">
                <a16:creationId xmlns:a16="http://schemas.microsoft.com/office/drawing/2014/main" id="{C87AC7F8-07E2-2845-F2BC-E1DCE0C649E1}"/>
              </a:ext>
            </a:extLst>
          </p:cNvPr>
          <p:cNvSpPr txBox="1"/>
          <p:nvPr/>
        </p:nvSpPr>
        <p:spPr>
          <a:xfrm>
            <a:off x="5209118" y="883174"/>
            <a:ext cx="2577585" cy="400110"/>
          </a:xfrm>
          <a:prstGeom prst="rect">
            <a:avLst/>
          </a:prstGeom>
          <a:noFill/>
          <a:ln>
            <a:noFill/>
          </a:ln>
        </p:spPr>
        <p:txBody>
          <a:bodyPr wrap="square" rtlCol="0">
            <a:spAutoFit/>
          </a:bodyPr>
          <a:lstStyle/>
          <a:p>
            <a:pPr algn="ctr"/>
            <a:r>
              <a:rPr lang="ja-JP" altLang="en-US" sz="2000" b="1">
                <a:solidFill>
                  <a:srgbClr val="C00000"/>
                </a:solidFill>
              </a:rPr>
              <a:t>提案手法</a:t>
            </a:r>
            <a:endParaRPr kumimoji="1" lang="ja-JP" altLang="en-US" sz="2000" b="1">
              <a:solidFill>
                <a:srgbClr val="C00000"/>
              </a:solidFill>
            </a:endParaRPr>
          </a:p>
        </p:txBody>
      </p:sp>
      <p:sp>
        <p:nvSpPr>
          <p:cNvPr id="139" name="テキスト ボックス 138">
            <a:extLst>
              <a:ext uri="{FF2B5EF4-FFF2-40B4-BE49-F238E27FC236}">
                <a16:creationId xmlns:a16="http://schemas.microsoft.com/office/drawing/2014/main" id="{7E25BD7A-EFE6-BB03-B3F2-FF4F23FEF4A3}"/>
              </a:ext>
            </a:extLst>
          </p:cNvPr>
          <p:cNvSpPr txBox="1"/>
          <p:nvPr/>
        </p:nvSpPr>
        <p:spPr>
          <a:xfrm>
            <a:off x="8749089" y="855636"/>
            <a:ext cx="3222741" cy="400110"/>
          </a:xfrm>
          <a:prstGeom prst="rect">
            <a:avLst/>
          </a:prstGeom>
          <a:noFill/>
          <a:ln>
            <a:noFill/>
          </a:ln>
        </p:spPr>
        <p:txBody>
          <a:bodyPr wrap="square" rtlCol="0">
            <a:spAutoFit/>
          </a:bodyPr>
          <a:lstStyle/>
          <a:p>
            <a:pPr algn="ctr"/>
            <a:r>
              <a:rPr lang="en-US" altLang="ja-JP" sz="2000" dirty="0"/>
              <a:t>RAG</a:t>
            </a:r>
            <a:endParaRPr kumimoji="1" lang="ja-JP" altLang="en-US" sz="2000"/>
          </a:p>
        </p:txBody>
      </p:sp>
      <p:sp>
        <p:nvSpPr>
          <p:cNvPr id="144" name="テキスト ボックス 143">
            <a:extLst>
              <a:ext uri="{FF2B5EF4-FFF2-40B4-BE49-F238E27FC236}">
                <a16:creationId xmlns:a16="http://schemas.microsoft.com/office/drawing/2014/main" id="{6836FC1F-4D33-2DC5-5A89-FCEE9B917A16}"/>
              </a:ext>
            </a:extLst>
          </p:cNvPr>
          <p:cNvSpPr txBox="1"/>
          <p:nvPr/>
        </p:nvSpPr>
        <p:spPr>
          <a:xfrm>
            <a:off x="4885892" y="3677889"/>
            <a:ext cx="3228163" cy="523220"/>
          </a:xfrm>
          <a:prstGeom prst="rect">
            <a:avLst/>
          </a:prstGeom>
          <a:noFill/>
        </p:spPr>
        <p:txBody>
          <a:bodyPr wrap="square" rtlCol="0">
            <a:spAutoFit/>
          </a:bodyPr>
          <a:lstStyle/>
          <a:p>
            <a:pPr algn="ctr"/>
            <a:r>
              <a:rPr kumimoji="1" lang="ja-JP" altLang="en-US" sz="1400" b="1">
                <a:solidFill>
                  <a:srgbClr val="C00000"/>
                </a:solidFill>
                <a:latin typeface="Yu Gothic" panose="020B0400000000000000" pitchFamily="34" charset="-128"/>
                <a:ea typeface="Yu Gothic" panose="020B0400000000000000" pitchFamily="34" charset="-128"/>
              </a:rPr>
              <a:t>事前構築は</a:t>
            </a:r>
            <a:endParaRPr kumimoji="1" lang="en-US" altLang="ja-JP" sz="1400" b="1" dirty="0">
              <a:solidFill>
                <a:srgbClr val="C00000"/>
              </a:solidFill>
              <a:latin typeface="Yu Gothic" panose="020B0400000000000000" pitchFamily="34" charset="-128"/>
              <a:ea typeface="Yu Gothic" panose="020B0400000000000000" pitchFamily="34" charset="-128"/>
            </a:endParaRPr>
          </a:p>
          <a:p>
            <a:pPr algn="ctr"/>
            <a:r>
              <a:rPr kumimoji="1" lang="ja-JP" altLang="en-US" sz="1400" b="1">
                <a:solidFill>
                  <a:srgbClr val="C00000"/>
                </a:solidFill>
                <a:latin typeface="Yu Gothic" panose="020B0400000000000000" pitchFamily="34" charset="-128"/>
                <a:ea typeface="Yu Gothic" panose="020B0400000000000000" pitchFamily="34" charset="-128"/>
              </a:rPr>
              <a:t>単純化したグラフ構築のみ</a:t>
            </a:r>
            <a:endParaRPr kumimoji="1" lang="en-US" altLang="ja-JP" sz="1400" b="1" dirty="0">
              <a:solidFill>
                <a:srgbClr val="C00000"/>
              </a:solidFill>
              <a:latin typeface="Yu Gothic" panose="020B0400000000000000" pitchFamily="34" charset="-128"/>
              <a:ea typeface="Yu Gothic" panose="020B0400000000000000" pitchFamily="34" charset="-128"/>
            </a:endParaRPr>
          </a:p>
        </p:txBody>
      </p:sp>
      <p:sp>
        <p:nvSpPr>
          <p:cNvPr id="193" name="左大かっこ 192">
            <a:extLst>
              <a:ext uri="{FF2B5EF4-FFF2-40B4-BE49-F238E27FC236}">
                <a16:creationId xmlns:a16="http://schemas.microsoft.com/office/drawing/2014/main" id="{8E8C1688-2F6F-8FAC-2EAF-F50180E9F3F9}"/>
              </a:ext>
            </a:extLst>
          </p:cNvPr>
          <p:cNvSpPr/>
          <p:nvPr/>
        </p:nvSpPr>
        <p:spPr>
          <a:xfrm>
            <a:off x="633484" y="1264187"/>
            <a:ext cx="150988" cy="2959333"/>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94" name="テキスト ボックス 193">
            <a:extLst>
              <a:ext uri="{FF2B5EF4-FFF2-40B4-BE49-F238E27FC236}">
                <a16:creationId xmlns:a16="http://schemas.microsoft.com/office/drawing/2014/main" id="{A05C4887-83E9-BEE3-7A80-E54B181E1A16}"/>
              </a:ext>
            </a:extLst>
          </p:cNvPr>
          <p:cNvSpPr txBox="1"/>
          <p:nvPr/>
        </p:nvSpPr>
        <p:spPr>
          <a:xfrm>
            <a:off x="-365521" y="2568275"/>
            <a:ext cx="1432421" cy="584775"/>
          </a:xfrm>
          <a:prstGeom prst="rect">
            <a:avLst/>
          </a:prstGeom>
          <a:noFill/>
          <a:ln>
            <a:noFill/>
          </a:ln>
        </p:spPr>
        <p:txBody>
          <a:bodyPr wrap="square" rtlCol="0">
            <a:spAutoFit/>
          </a:bodyPr>
          <a:lstStyle/>
          <a:p>
            <a:pPr algn="ctr"/>
            <a:r>
              <a:rPr lang="ja-JP" altLang="en-US" sz="1600"/>
              <a:t>事前</a:t>
            </a:r>
            <a:endParaRPr lang="en-US" altLang="ja-JP" sz="1600" dirty="0"/>
          </a:p>
          <a:p>
            <a:pPr algn="ctr"/>
            <a:r>
              <a:rPr kumimoji="1" lang="ja-JP" altLang="en-US" sz="1600"/>
              <a:t>構築</a:t>
            </a:r>
          </a:p>
        </p:txBody>
      </p:sp>
      <p:sp>
        <p:nvSpPr>
          <p:cNvPr id="195" name="左大かっこ 194">
            <a:extLst>
              <a:ext uri="{FF2B5EF4-FFF2-40B4-BE49-F238E27FC236}">
                <a16:creationId xmlns:a16="http://schemas.microsoft.com/office/drawing/2014/main" id="{C8EA2D63-4169-7D3C-15AB-058DA3058759}"/>
              </a:ext>
            </a:extLst>
          </p:cNvPr>
          <p:cNvSpPr/>
          <p:nvPr/>
        </p:nvSpPr>
        <p:spPr>
          <a:xfrm>
            <a:off x="633412" y="5511564"/>
            <a:ext cx="143295" cy="916138"/>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96" name="テキスト ボックス 195">
            <a:extLst>
              <a:ext uri="{FF2B5EF4-FFF2-40B4-BE49-F238E27FC236}">
                <a16:creationId xmlns:a16="http://schemas.microsoft.com/office/drawing/2014/main" id="{F9A537ED-A1D9-A99B-2EB9-6CA06A45949B}"/>
              </a:ext>
            </a:extLst>
          </p:cNvPr>
          <p:cNvSpPr txBox="1"/>
          <p:nvPr/>
        </p:nvSpPr>
        <p:spPr>
          <a:xfrm>
            <a:off x="-341540" y="5682909"/>
            <a:ext cx="1432421" cy="584775"/>
          </a:xfrm>
          <a:prstGeom prst="rect">
            <a:avLst/>
          </a:prstGeom>
          <a:noFill/>
          <a:ln>
            <a:noFill/>
          </a:ln>
        </p:spPr>
        <p:txBody>
          <a:bodyPr wrap="square" rtlCol="0">
            <a:spAutoFit/>
          </a:bodyPr>
          <a:lstStyle/>
          <a:p>
            <a:pPr algn="ctr"/>
            <a:r>
              <a:rPr lang="ja-JP" altLang="en-US" sz="1600"/>
              <a:t>回答</a:t>
            </a:r>
            <a:endParaRPr lang="en-US" altLang="ja-JP" sz="1600" dirty="0"/>
          </a:p>
          <a:p>
            <a:pPr algn="ctr"/>
            <a:r>
              <a:rPr lang="ja-JP" altLang="en-US" sz="1600"/>
              <a:t>生成</a:t>
            </a:r>
            <a:endParaRPr kumimoji="1" lang="ja-JP" altLang="en-US" sz="1600"/>
          </a:p>
        </p:txBody>
      </p:sp>
      <p:sp>
        <p:nvSpPr>
          <p:cNvPr id="197" name="左大かっこ 196">
            <a:extLst>
              <a:ext uri="{FF2B5EF4-FFF2-40B4-BE49-F238E27FC236}">
                <a16:creationId xmlns:a16="http://schemas.microsoft.com/office/drawing/2014/main" id="{FDDC20D1-C82C-B42F-349F-4E2BCB582EA1}"/>
              </a:ext>
            </a:extLst>
          </p:cNvPr>
          <p:cNvSpPr/>
          <p:nvPr/>
        </p:nvSpPr>
        <p:spPr>
          <a:xfrm>
            <a:off x="627525" y="4775054"/>
            <a:ext cx="152288" cy="656317"/>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98" name="テキスト ボックス 197">
            <a:extLst>
              <a:ext uri="{FF2B5EF4-FFF2-40B4-BE49-F238E27FC236}">
                <a16:creationId xmlns:a16="http://schemas.microsoft.com/office/drawing/2014/main" id="{2CA4EC6D-CD7C-3CC8-583D-A6764582001B}"/>
              </a:ext>
            </a:extLst>
          </p:cNvPr>
          <p:cNvSpPr txBox="1"/>
          <p:nvPr/>
        </p:nvSpPr>
        <p:spPr>
          <a:xfrm>
            <a:off x="-349730" y="4796758"/>
            <a:ext cx="1432421" cy="584775"/>
          </a:xfrm>
          <a:prstGeom prst="rect">
            <a:avLst/>
          </a:prstGeom>
          <a:noFill/>
          <a:ln>
            <a:noFill/>
          </a:ln>
        </p:spPr>
        <p:txBody>
          <a:bodyPr wrap="square" rtlCol="0">
            <a:spAutoFit/>
          </a:bodyPr>
          <a:lstStyle/>
          <a:p>
            <a:pPr algn="ctr"/>
            <a:r>
              <a:rPr kumimoji="1" lang="ja-JP" altLang="en-US" sz="1600"/>
              <a:t>情報</a:t>
            </a:r>
            <a:endParaRPr kumimoji="1" lang="en-US" altLang="ja-JP" sz="1600" dirty="0"/>
          </a:p>
          <a:p>
            <a:pPr algn="ctr"/>
            <a:r>
              <a:rPr kumimoji="1" lang="ja-JP" altLang="en-US" sz="1600"/>
              <a:t>抽出</a:t>
            </a:r>
          </a:p>
        </p:txBody>
      </p:sp>
      <p:sp>
        <p:nvSpPr>
          <p:cNvPr id="6" name="正方形/長方形 5">
            <a:extLst>
              <a:ext uri="{FF2B5EF4-FFF2-40B4-BE49-F238E27FC236}">
                <a16:creationId xmlns:a16="http://schemas.microsoft.com/office/drawing/2014/main" id="{7DA71295-A2DC-533F-ABC8-00C32CF8483F}"/>
              </a:ext>
            </a:extLst>
          </p:cNvPr>
          <p:cNvSpPr/>
          <p:nvPr/>
        </p:nvSpPr>
        <p:spPr>
          <a:xfrm>
            <a:off x="1085483" y="1446631"/>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7" name="正方形/長方形 6">
            <a:extLst>
              <a:ext uri="{FF2B5EF4-FFF2-40B4-BE49-F238E27FC236}">
                <a16:creationId xmlns:a16="http://schemas.microsoft.com/office/drawing/2014/main" id="{81AC4820-1A94-CD0A-D2F9-A7DE7BAB2598}"/>
              </a:ext>
            </a:extLst>
          </p:cNvPr>
          <p:cNvSpPr/>
          <p:nvPr/>
        </p:nvSpPr>
        <p:spPr>
          <a:xfrm>
            <a:off x="2590767" y="2122614"/>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企業</a:t>
            </a:r>
            <a:r>
              <a:rPr lang="en-US" altLang="ja-JP" sz="1200" dirty="0"/>
              <a:t>a</a:t>
            </a:r>
            <a:endParaRPr kumimoji="1" lang="ja-JP" altLang="en-US" sz="1200"/>
          </a:p>
        </p:txBody>
      </p:sp>
      <p:sp>
        <p:nvSpPr>
          <p:cNvPr id="9" name="正方形/長方形 8">
            <a:extLst>
              <a:ext uri="{FF2B5EF4-FFF2-40B4-BE49-F238E27FC236}">
                <a16:creationId xmlns:a16="http://schemas.microsoft.com/office/drawing/2014/main" id="{5064DD8F-D905-DC63-6E34-A7AF99CCC2CB}"/>
              </a:ext>
            </a:extLst>
          </p:cNvPr>
          <p:cNvSpPr/>
          <p:nvPr/>
        </p:nvSpPr>
        <p:spPr>
          <a:xfrm>
            <a:off x="3433513" y="2475160"/>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人物</a:t>
            </a:r>
            <a:r>
              <a:rPr lang="en-US" altLang="ja-JP" sz="1200" dirty="0"/>
              <a:t>b</a:t>
            </a:r>
            <a:endParaRPr kumimoji="1" lang="ja-JP" altLang="en-US" sz="1200"/>
          </a:p>
        </p:txBody>
      </p:sp>
      <p:sp>
        <p:nvSpPr>
          <p:cNvPr id="10" name="正方形/長方形 9">
            <a:extLst>
              <a:ext uri="{FF2B5EF4-FFF2-40B4-BE49-F238E27FC236}">
                <a16:creationId xmlns:a16="http://schemas.microsoft.com/office/drawing/2014/main" id="{91B0D2B5-F2F7-AB6D-986F-EDEEE57E573F}"/>
              </a:ext>
            </a:extLst>
          </p:cNvPr>
          <p:cNvSpPr/>
          <p:nvPr/>
        </p:nvSpPr>
        <p:spPr>
          <a:xfrm>
            <a:off x="2590767" y="2844359"/>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商品</a:t>
            </a:r>
            <a:r>
              <a:rPr lang="en-US" altLang="ja-JP" sz="1200" dirty="0"/>
              <a:t>c</a:t>
            </a:r>
            <a:endParaRPr kumimoji="1" lang="ja-JP" altLang="en-US" sz="1200"/>
          </a:p>
        </p:txBody>
      </p:sp>
      <p:sp>
        <p:nvSpPr>
          <p:cNvPr id="11" name="正方形/長方形 10">
            <a:extLst>
              <a:ext uri="{FF2B5EF4-FFF2-40B4-BE49-F238E27FC236}">
                <a16:creationId xmlns:a16="http://schemas.microsoft.com/office/drawing/2014/main" id="{E81125A9-6920-6BB0-67DD-C4A11C562106}"/>
              </a:ext>
            </a:extLst>
          </p:cNvPr>
          <p:cNvSpPr/>
          <p:nvPr/>
        </p:nvSpPr>
        <p:spPr>
          <a:xfrm>
            <a:off x="3418633" y="3177793"/>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場所</a:t>
            </a:r>
            <a:r>
              <a:rPr lang="en-US" altLang="ja-JP" sz="1200" dirty="0"/>
              <a:t>d</a:t>
            </a:r>
            <a:endParaRPr kumimoji="1" lang="ja-JP" altLang="en-US" sz="1200"/>
          </a:p>
        </p:txBody>
      </p:sp>
      <p:sp>
        <p:nvSpPr>
          <p:cNvPr id="12" name="正方形/長方形 11">
            <a:extLst>
              <a:ext uri="{FF2B5EF4-FFF2-40B4-BE49-F238E27FC236}">
                <a16:creationId xmlns:a16="http://schemas.microsoft.com/office/drawing/2014/main" id="{58A828AA-973E-04CB-9CDD-9AFF5A1E32D5}"/>
              </a:ext>
            </a:extLst>
          </p:cNvPr>
          <p:cNvSpPr/>
          <p:nvPr/>
        </p:nvSpPr>
        <p:spPr>
          <a:xfrm>
            <a:off x="1006236" y="1350349"/>
            <a:ext cx="3162562" cy="503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0968193-6732-600C-5A99-56C1266D9CF9}"/>
              </a:ext>
            </a:extLst>
          </p:cNvPr>
          <p:cNvSpPr/>
          <p:nvPr/>
        </p:nvSpPr>
        <p:spPr>
          <a:xfrm>
            <a:off x="1866569" y="1453344"/>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14" name="正方形/長方形 13">
            <a:extLst>
              <a:ext uri="{FF2B5EF4-FFF2-40B4-BE49-F238E27FC236}">
                <a16:creationId xmlns:a16="http://schemas.microsoft.com/office/drawing/2014/main" id="{C0FBC488-1BB9-29AD-C6B2-D31C4C5C8222}"/>
              </a:ext>
            </a:extLst>
          </p:cNvPr>
          <p:cNvSpPr/>
          <p:nvPr/>
        </p:nvSpPr>
        <p:spPr>
          <a:xfrm>
            <a:off x="2502448" y="2017246"/>
            <a:ext cx="1666350"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FA95EC8B-F5C6-9CE6-86F5-555C2487E2AB}"/>
              </a:ext>
            </a:extLst>
          </p:cNvPr>
          <p:cNvSpPr txBox="1"/>
          <p:nvPr/>
        </p:nvSpPr>
        <p:spPr>
          <a:xfrm>
            <a:off x="1006236" y="1991047"/>
            <a:ext cx="1312514" cy="1738938"/>
          </a:xfrm>
          <a:prstGeom prst="rect">
            <a:avLst/>
          </a:prstGeom>
          <a:noFill/>
        </p:spPr>
        <p:txBody>
          <a:bodyPr wrap="square" rtlCol="0">
            <a:spAutoFit/>
          </a:bodyPr>
          <a:lstStyle/>
          <a:p>
            <a:pPr algn="ctr"/>
            <a:r>
              <a:rPr kumimoji="1" lang="ja-JP" altLang="en-US" sz="1400" b="1"/>
              <a:t>エンティティ</a:t>
            </a:r>
            <a:endParaRPr kumimoji="1" lang="en-US" altLang="ja-JP" sz="1400" b="1" dirty="0"/>
          </a:p>
          <a:p>
            <a:pPr algn="ctr"/>
            <a:r>
              <a:rPr kumimoji="1" lang="ja-JP" altLang="en-US" sz="1400"/>
              <a:t>企業</a:t>
            </a:r>
            <a:r>
              <a:rPr lang="en-US" altLang="ja-JP" sz="1400" dirty="0"/>
              <a:t>a</a:t>
            </a:r>
            <a:r>
              <a:rPr lang="ja-JP" altLang="en-US" sz="1400"/>
              <a:t>　人物</a:t>
            </a:r>
            <a:r>
              <a:rPr lang="en-US" altLang="ja-JP" sz="1400" dirty="0"/>
              <a:t>b</a:t>
            </a:r>
          </a:p>
          <a:p>
            <a:pPr algn="ctr"/>
            <a:r>
              <a:rPr lang="ja-JP" altLang="en-US" sz="1400"/>
              <a:t>商品</a:t>
            </a:r>
            <a:r>
              <a:rPr lang="en-US" altLang="ja-JP" sz="1400" dirty="0"/>
              <a:t>c</a:t>
            </a:r>
            <a:r>
              <a:rPr lang="ja-JP" altLang="en-US" sz="1400"/>
              <a:t>　場所</a:t>
            </a:r>
            <a:r>
              <a:rPr lang="en-US" altLang="ja-JP" sz="1400" dirty="0"/>
              <a:t>d</a:t>
            </a:r>
          </a:p>
          <a:p>
            <a:pPr algn="ctr"/>
            <a:endParaRPr lang="en-US" altLang="ja-JP" sz="600" dirty="0"/>
          </a:p>
          <a:p>
            <a:pPr algn="ctr"/>
            <a:r>
              <a:rPr lang="ja-JP" altLang="en-US" sz="1400" b="1"/>
              <a:t>関係</a:t>
            </a:r>
            <a:endParaRPr lang="en-US" altLang="ja-JP" sz="1400" b="1" dirty="0"/>
          </a:p>
          <a:p>
            <a:pPr algn="ctr"/>
            <a:r>
              <a:rPr lang="en-US" altLang="ja-JP" sz="1400" dirty="0"/>
              <a:t>b</a:t>
            </a:r>
            <a:r>
              <a:rPr lang="ja-JP" altLang="en-US" sz="1400"/>
              <a:t>は</a:t>
            </a:r>
            <a:r>
              <a:rPr lang="en-US" altLang="ja-JP" sz="1400" dirty="0"/>
              <a:t>a</a:t>
            </a:r>
            <a:r>
              <a:rPr lang="ja-JP" altLang="en-US" sz="1400"/>
              <a:t>に所属</a:t>
            </a:r>
            <a:endParaRPr lang="en-US" altLang="ja-JP" sz="1400" dirty="0"/>
          </a:p>
          <a:p>
            <a:pPr algn="ctr"/>
            <a:r>
              <a:rPr lang="en-US" altLang="ja-JP" sz="1400" dirty="0"/>
              <a:t>c</a:t>
            </a:r>
            <a:r>
              <a:rPr lang="ja-JP" altLang="en-US" sz="1400"/>
              <a:t>は</a:t>
            </a:r>
            <a:r>
              <a:rPr lang="en-US" altLang="ja-JP" sz="1400" dirty="0"/>
              <a:t>a</a:t>
            </a:r>
            <a:r>
              <a:rPr lang="ja-JP" altLang="en-US" sz="1400"/>
              <a:t>が開発</a:t>
            </a:r>
            <a:endParaRPr lang="en-US" altLang="ja-JP" sz="1400" dirty="0"/>
          </a:p>
          <a:p>
            <a:pPr algn="ctr"/>
            <a:r>
              <a:rPr lang="en-US" altLang="ja-JP" sz="1400" dirty="0"/>
              <a:t>b</a:t>
            </a:r>
            <a:r>
              <a:rPr lang="ja-JP" altLang="en-US" sz="1400"/>
              <a:t>は</a:t>
            </a:r>
            <a:r>
              <a:rPr lang="en-US" altLang="ja-JP" sz="1400" dirty="0"/>
              <a:t>d</a:t>
            </a:r>
            <a:r>
              <a:rPr lang="ja-JP" altLang="en-US" sz="1400"/>
              <a:t>に居住</a:t>
            </a:r>
            <a:endParaRPr lang="en-US" altLang="ja-JP" sz="1400" dirty="0"/>
          </a:p>
        </p:txBody>
      </p:sp>
      <p:cxnSp>
        <p:nvCxnSpPr>
          <p:cNvPr id="16" name="直線矢印コネクタ 15">
            <a:extLst>
              <a:ext uri="{FF2B5EF4-FFF2-40B4-BE49-F238E27FC236}">
                <a16:creationId xmlns:a16="http://schemas.microsoft.com/office/drawing/2014/main" id="{C389CCB0-C16F-0282-A088-116F02548118}"/>
              </a:ext>
            </a:extLst>
          </p:cNvPr>
          <p:cNvCxnSpPr>
            <a:cxnSpLocks/>
            <a:stCxn id="12" idx="2"/>
            <a:endCxn id="15" idx="0"/>
          </p:cNvCxnSpPr>
          <p:nvPr/>
        </p:nvCxnSpPr>
        <p:spPr>
          <a:xfrm flipH="1">
            <a:off x="1662493" y="1854073"/>
            <a:ext cx="925024" cy="1369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8FF9BC31-693F-D052-41E8-0CC146B421EE}"/>
              </a:ext>
            </a:extLst>
          </p:cNvPr>
          <p:cNvCxnSpPr>
            <a:cxnSpLocks/>
            <a:endCxn id="14" idx="1"/>
          </p:cNvCxnSpPr>
          <p:nvPr/>
        </p:nvCxnSpPr>
        <p:spPr>
          <a:xfrm>
            <a:off x="2323627" y="2830991"/>
            <a:ext cx="1788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7033C587-CC66-4E3E-CC45-AE2CD02703D8}"/>
              </a:ext>
            </a:extLst>
          </p:cNvPr>
          <p:cNvCxnSpPr>
            <a:cxnSpLocks/>
            <a:stCxn id="7" idx="2"/>
            <a:endCxn id="10" idx="0"/>
          </p:cNvCxnSpPr>
          <p:nvPr/>
        </p:nvCxnSpPr>
        <p:spPr>
          <a:xfrm>
            <a:off x="2922730" y="2444158"/>
            <a:ext cx="0" cy="400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F9CB6B43-D6E6-C15C-2CEA-7DA6F329CED9}"/>
              </a:ext>
            </a:extLst>
          </p:cNvPr>
          <p:cNvCxnSpPr>
            <a:cxnSpLocks/>
            <a:stCxn id="9" idx="0"/>
            <a:endCxn id="7" idx="3"/>
          </p:cNvCxnSpPr>
          <p:nvPr/>
        </p:nvCxnSpPr>
        <p:spPr>
          <a:xfrm flipH="1" flipV="1">
            <a:off x="3254693" y="2283386"/>
            <a:ext cx="510783" cy="191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756EF5B2-6FB8-DC7D-4448-571F887E7F2C}"/>
              </a:ext>
            </a:extLst>
          </p:cNvPr>
          <p:cNvCxnSpPr>
            <a:cxnSpLocks/>
            <a:stCxn id="9" idx="2"/>
            <a:endCxn id="11" idx="0"/>
          </p:cNvCxnSpPr>
          <p:nvPr/>
        </p:nvCxnSpPr>
        <p:spPr>
          <a:xfrm flipH="1">
            <a:off x="3750596" y="2796704"/>
            <a:ext cx="14880" cy="381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6264C75C-7F9D-72FF-5C17-7FD144AB7E6E}"/>
              </a:ext>
            </a:extLst>
          </p:cNvPr>
          <p:cNvSpPr txBox="1"/>
          <p:nvPr/>
        </p:nvSpPr>
        <p:spPr>
          <a:xfrm>
            <a:off x="2573480" y="2506581"/>
            <a:ext cx="698500" cy="276999"/>
          </a:xfrm>
          <a:prstGeom prst="rect">
            <a:avLst/>
          </a:prstGeom>
          <a:noFill/>
        </p:spPr>
        <p:txBody>
          <a:bodyPr wrap="square" rtlCol="0">
            <a:spAutoFit/>
          </a:bodyPr>
          <a:lstStyle/>
          <a:p>
            <a:pPr algn="ctr"/>
            <a:r>
              <a:rPr kumimoji="1" lang="ja-JP" altLang="en-US" sz="1200"/>
              <a:t>開発</a:t>
            </a:r>
          </a:p>
        </p:txBody>
      </p:sp>
      <p:pic>
        <p:nvPicPr>
          <p:cNvPr id="164" name="図 163" descr="図形 が含まれている画像&#10;&#10;AI によって生成されたコンテンツは間違っている可能性があります。">
            <a:extLst>
              <a:ext uri="{FF2B5EF4-FFF2-40B4-BE49-F238E27FC236}">
                <a16:creationId xmlns:a16="http://schemas.microsoft.com/office/drawing/2014/main" id="{4FEC1B63-A312-2843-86C0-53A5FA1D33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918" y="5513826"/>
            <a:ext cx="756278" cy="504185"/>
          </a:xfrm>
          <a:prstGeom prst="rect">
            <a:avLst/>
          </a:prstGeom>
        </p:spPr>
      </p:pic>
      <p:sp>
        <p:nvSpPr>
          <p:cNvPr id="22" name="テキスト ボックス 21">
            <a:extLst>
              <a:ext uri="{FF2B5EF4-FFF2-40B4-BE49-F238E27FC236}">
                <a16:creationId xmlns:a16="http://schemas.microsoft.com/office/drawing/2014/main" id="{7D75DE62-0A99-451E-A462-1F6497F8C0EC}"/>
              </a:ext>
            </a:extLst>
          </p:cNvPr>
          <p:cNvSpPr txBox="1"/>
          <p:nvPr/>
        </p:nvSpPr>
        <p:spPr>
          <a:xfrm>
            <a:off x="3279426" y="2164092"/>
            <a:ext cx="698500" cy="276999"/>
          </a:xfrm>
          <a:prstGeom prst="rect">
            <a:avLst/>
          </a:prstGeom>
          <a:noFill/>
        </p:spPr>
        <p:txBody>
          <a:bodyPr wrap="square" rtlCol="0">
            <a:spAutoFit/>
          </a:bodyPr>
          <a:lstStyle/>
          <a:p>
            <a:pPr algn="ctr"/>
            <a:r>
              <a:rPr kumimoji="1" lang="ja-JP" altLang="en-US" sz="1200"/>
              <a:t>所属</a:t>
            </a:r>
          </a:p>
        </p:txBody>
      </p:sp>
      <p:sp>
        <p:nvSpPr>
          <p:cNvPr id="23" name="テキスト ボックス 22">
            <a:extLst>
              <a:ext uri="{FF2B5EF4-FFF2-40B4-BE49-F238E27FC236}">
                <a16:creationId xmlns:a16="http://schemas.microsoft.com/office/drawing/2014/main" id="{A3D9AC43-A952-DC00-D0B8-393E0D5E8EEC}"/>
              </a:ext>
            </a:extLst>
          </p:cNvPr>
          <p:cNvSpPr txBox="1"/>
          <p:nvPr/>
        </p:nvSpPr>
        <p:spPr>
          <a:xfrm>
            <a:off x="3416226" y="2841283"/>
            <a:ext cx="698500" cy="276999"/>
          </a:xfrm>
          <a:prstGeom prst="rect">
            <a:avLst/>
          </a:prstGeom>
          <a:noFill/>
        </p:spPr>
        <p:txBody>
          <a:bodyPr wrap="square" rtlCol="0">
            <a:spAutoFit/>
          </a:bodyPr>
          <a:lstStyle/>
          <a:p>
            <a:pPr algn="ctr"/>
            <a:r>
              <a:rPr kumimoji="1" lang="ja-JP" altLang="en-US" sz="1200"/>
              <a:t>居住</a:t>
            </a:r>
          </a:p>
        </p:txBody>
      </p:sp>
      <p:sp>
        <p:nvSpPr>
          <p:cNvPr id="24" name="正方形/長方形 23">
            <a:extLst>
              <a:ext uri="{FF2B5EF4-FFF2-40B4-BE49-F238E27FC236}">
                <a16:creationId xmlns:a16="http://schemas.microsoft.com/office/drawing/2014/main" id="{8B9F838A-09E1-9E61-DEFC-80C2407BC576}"/>
              </a:ext>
            </a:extLst>
          </p:cNvPr>
          <p:cNvSpPr/>
          <p:nvPr/>
        </p:nvSpPr>
        <p:spPr>
          <a:xfrm>
            <a:off x="2647655" y="1453344"/>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25" name="正方形/長方形 24">
            <a:extLst>
              <a:ext uri="{FF2B5EF4-FFF2-40B4-BE49-F238E27FC236}">
                <a16:creationId xmlns:a16="http://schemas.microsoft.com/office/drawing/2014/main" id="{DA904A75-69DE-FC66-80C7-571EA3E6C6BA}"/>
              </a:ext>
            </a:extLst>
          </p:cNvPr>
          <p:cNvSpPr/>
          <p:nvPr/>
        </p:nvSpPr>
        <p:spPr>
          <a:xfrm>
            <a:off x="3438126" y="1451609"/>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sp>
        <p:nvSpPr>
          <p:cNvPr id="84" name="正方形/長方形 83">
            <a:extLst>
              <a:ext uri="{FF2B5EF4-FFF2-40B4-BE49-F238E27FC236}">
                <a16:creationId xmlns:a16="http://schemas.microsoft.com/office/drawing/2014/main" id="{16896CC0-870D-880C-647B-F60F652FBABB}"/>
              </a:ext>
            </a:extLst>
          </p:cNvPr>
          <p:cNvSpPr/>
          <p:nvPr/>
        </p:nvSpPr>
        <p:spPr>
          <a:xfrm>
            <a:off x="1007686" y="2006023"/>
            <a:ext cx="1317391"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5" name="直線矢印コネクタ 84">
            <a:extLst>
              <a:ext uri="{FF2B5EF4-FFF2-40B4-BE49-F238E27FC236}">
                <a16:creationId xmlns:a16="http://schemas.microsoft.com/office/drawing/2014/main" id="{1F52D009-1821-E59A-868B-108BB8136F08}"/>
              </a:ext>
            </a:extLst>
          </p:cNvPr>
          <p:cNvCxnSpPr>
            <a:cxnSpLocks/>
            <a:stCxn id="89" idx="2"/>
            <a:endCxn id="40" idx="0"/>
          </p:cNvCxnSpPr>
          <p:nvPr/>
        </p:nvCxnSpPr>
        <p:spPr>
          <a:xfrm>
            <a:off x="2582942" y="3686770"/>
            <a:ext cx="1746" cy="1485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0" name="グループ化 109">
            <a:extLst>
              <a:ext uri="{FF2B5EF4-FFF2-40B4-BE49-F238E27FC236}">
                <a16:creationId xmlns:a16="http://schemas.microsoft.com/office/drawing/2014/main" id="{1918BAC5-E515-ABE6-0EE3-03341E2D80C2}"/>
              </a:ext>
            </a:extLst>
          </p:cNvPr>
          <p:cNvGrpSpPr/>
          <p:nvPr/>
        </p:nvGrpSpPr>
        <p:grpSpPr>
          <a:xfrm>
            <a:off x="4915837" y="1367453"/>
            <a:ext cx="3162562" cy="2265583"/>
            <a:chOff x="6532140" y="2890694"/>
            <a:chExt cx="3162562" cy="2265583"/>
          </a:xfrm>
        </p:grpSpPr>
        <p:sp>
          <p:nvSpPr>
            <p:cNvPr id="93" name="角丸四角形 92">
              <a:extLst>
                <a:ext uri="{FF2B5EF4-FFF2-40B4-BE49-F238E27FC236}">
                  <a16:creationId xmlns:a16="http://schemas.microsoft.com/office/drawing/2014/main" id="{1C2E0F64-7229-03B7-17DD-0B8787393853}"/>
                </a:ext>
              </a:extLst>
            </p:cNvPr>
            <p:cNvSpPr/>
            <p:nvPr/>
          </p:nvSpPr>
          <p:spPr>
            <a:xfrm>
              <a:off x="6634512" y="3839358"/>
              <a:ext cx="1970944" cy="1161973"/>
            </a:xfrm>
            <a:prstGeom prst="roundRect">
              <a:avLst/>
            </a:prstGeom>
            <a:solidFill>
              <a:schemeClr val="accent1">
                <a:lumMod val="20000"/>
                <a:lumOff val="80000"/>
                <a:alpha val="5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角丸四角形 93">
              <a:extLst>
                <a:ext uri="{FF2B5EF4-FFF2-40B4-BE49-F238E27FC236}">
                  <a16:creationId xmlns:a16="http://schemas.microsoft.com/office/drawing/2014/main" id="{85D194A3-A765-63F2-8E47-263E02E6748D}"/>
                </a:ext>
              </a:extLst>
            </p:cNvPr>
            <p:cNvSpPr/>
            <p:nvPr/>
          </p:nvSpPr>
          <p:spPr>
            <a:xfrm>
              <a:off x="7662787" y="4094671"/>
              <a:ext cx="1970945" cy="957427"/>
            </a:xfrm>
            <a:prstGeom prst="roundRect">
              <a:avLst/>
            </a:prstGeom>
            <a:solidFill>
              <a:schemeClr val="accent6">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a:extLst>
                <a:ext uri="{FF2B5EF4-FFF2-40B4-BE49-F238E27FC236}">
                  <a16:creationId xmlns:a16="http://schemas.microsoft.com/office/drawing/2014/main" id="{BD036029-9351-ED93-6679-44DF5811ACD3}"/>
                </a:ext>
              </a:extLst>
            </p:cNvPr>
            <p:cNvSpPr/>
            <p:nvPr/>
          </p:nvSpPr>
          <p:spPr>
            <a:xfrm>
              <a:off x="6859648" y="4182560"/>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96" name="正方形/長方形 95">
              <a:extLst>
                <a:ext uri="{FF2B5EF4-FFF2-40B4-BE49-F238E27FC236}">
                  <a16:creationId xmlns:a16="http://schemas.microsoft.com/office/drawing/2014/main" id="{328DBCAC-2D06-DBAA-3BAF-2D227AC14F03}"/>
                </a:ext>
              </a:extLst>
            </p:cNvPr>
            <p:cNvSpPr/>
            <p:nvPr/>
          </p:nvSpPr>
          <p:spPr>
            <a:xfrm>
              <a:off x="6532140" y="3561904"/>
              <a:ext cx="3162562" cy="15943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正方形/長方形 97">
              <a:extLst>
                <a:ext uri="{FF2B5EF4-FFF2-40B4-BE49-F238E27FC236}">
                  <a16:creationId xmlns:a16="http://schemas.microsoft.com/office/drawing/2014/main" id="{4765A66E-7A94-49B4-7C36-6E283BCC03B8}"/>
                </a:ext>
              </a:extLst>
            </p:cNvPr>
            <p:cNvSpPr/>
            <p:nvPr/>
          </p:nvSpPr>
          <p:spPr>
            <a:xfrm>
              <a:off x="6866239" y="4599401"/>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99" name="正方形/長方形 98">
              <a:extLst>
                <a:ext uri="{FF2B5EF4-FFF2-40B4-BE49-F238E27FC236}">
                  <a16:creationId xmlns:a16="http://schemas.microsoft.com/office/drawing/2014/main" id="{95292E97-B550-6AB3-63D5-492BD2E12E41}"/>
                </a:ext>
              </a:extLst>
            </p:cNvPr>
            <p:cNvSpPr/>
            <p:nvPr/>
          </p:nvSpPr>
          <p:spPr>
            <a:xfrm>
              <a:off x="7844654" y="4409063"/>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101" name="正方形/長方形 100">
              <a:extLst>
                <a:ext uri="{FF2B5EF4-FFF2-40B4-BE49-F238E27FC236}">
                  <a16:creationId xmlns:a16="http://schemas.microsoft.com/office/drawing/2014/main" id="{F66F1453-48F5-BABE-8925-ED08888259C8}"/>
                </a:ext>
              </a:extLst>
            </p:cNvPr>
            <p:cNvSpPr/>
            <p:nvPr/>
          </p:nvSpPr>
          <p:spPr>
            <a:xfrm>
              <a:off x="7291235" y="3685333"/>
              <a:ext cx="657498" cy="3215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単語</a:t>
              </a:r>
              <a:r>
                <a:rPr kumimoji="1" lang="en-US" altLang="ja-JP" sz="1200" dirty="0">
                  <a:solidFill>
                    <a:sysClr val="windowText" lastClr="000000"/>
                  </a:solidFill>
                </a:rPr>
                <a:t>a</a:t>
              </a:r>
              <a:endParaRPr kumimoji="1" lang="ja-JP" altLang="en-US" sz="1200">
                <a:solidFill>
                  <a:sysClr val="windowText" lastClr="000000"/>
                </a:solidFill>
              </a:endParaRPr>
            </a:p>
          </p:txBody>
        </p:sp>
        <p:sp>
          <p:nvSpPr>
            <p:cNvPr id="102" name="正方形/長方形 101">
              <a:extLst>
                <a:ext uri="{FF2B5EF4-FFF2-40B4-BE49-F238E27FC236}">
                  <a16:creationId xmlns:a16="http://schemas.microsoft.com/office/drawing/2014/main" id="{CD2EE601-B5E7-36C5-43CD-852D8388B303}"/>
                </a:ext>
              </a:extLst>
            </p:cNvPr>
            <p:cNvSpPr/>
            <p:nvPr/>
          </p:nvSpPr>
          <p:spPr>
            <a:xfrm>
              <a:off x="8787225" y="4603296"/>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sp>
          <p:nvSpPr>
            <p:cNvPr id="103" name="正方形/長方形 102">
              <a:extLst>
                <a:ext uri="{FF2B5EF4-FFF2-40B4-BE49-F238E27FC236}">
                  <a16:creationId xmlns:a16="http://schemas.microsoft.com/office/drawing/2014/main" id="{ECDD624B-7E49-88A8-E7AC-A68F8665D919}"/>
                </a:ext>
              </a:extLst>
            </p:cNvPr>
            <p:cNvSpPr/>
            <p:nvPr/>
          </p:nvSpPr>
          <p:spPr>
            <a:xfrm>
              <a:off x="8821330" y="3944868"/>
              <a:ext cx="657498" cy="32154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単語</a:t>
              </a:r>
              <a:r>
                <a:rPr lang="en-US" altLang="ja-JP" sz="1200" dirty="0">
                  <a:solidFill>
                    <a:sysClr val="windowText" lastClr="000000"/>
                  </a:solidFill>
                </a:rPr>
                <a:t>b</a:t>
              </a:r>
              <a:endParaRPr kumimoji="1" lang="ja-JP" altLang="en-US" sz="1200">
                <a:solidFill>
                  <a:sysClr val="windowText" lastClr="000000"/>
                </a:solidFill>
              </a:endParaRPr>
            </a:p>
          </p:txBody>
        </p:sp>
        <p:sp>
          <p:nvSpPr>
            <p:cNvPr id="104" name="正方形/長方形 103">
              <a:extLst>
                <a:ext uri="{FF2B5EF4-FFF2-40B4-BE49-F238E27FC236}">
                  <a16:creationId xmlns:a16="http://schemas.microsoft.com/office/drawing/2014/main" id="{FC0C6272-BE61-FC4D-57A6-A9E49754C9BE}"/>
                </a:ext>
              </a:extLst>
            </p:cNvPr>
            <p:cNvSpPr/>
            <p:nvPr/>
          </p:nvSpPr>
          <p:spPr>
            <a:xfrm>
              <a:off x="6611387" y="2986976"/>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105" name="正方形/長方形 104">
              <a:extLst>
                <a:ext uri="{FF2B5EF4-FFF2-40B4-BE49-F238E27FC236}">
                  <a16:creationId xmlns:a16="http://schemas.microsoft.com/office/drawing/2014/main" id="{C3A5875E-145F-F605-7437-0485B0F0CC6C}"/>
                </a:ext>
              </a:extLst>
            </p:cNvPr>
            <p:cNvSpPr/>
            <p:nvPr/>
          </p:nvSpPr>
          <p:spPr>
            <a:xfrm>
              <a:off x="6532140" y="2890694"/>
              <a:ext cx="3162562" cy="503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正方形/長方形 105">
              <a:extLst>
                <a:ext uri="{FF2B5EF4-FFF2-40B4-BE49-F238E27FC236}">
                  <a16:creationId xmlns:a16="http://schemas.microsoft.com/office/drawing/2014/main" id="{952A2DC3-7B9A-2765-90FE-1A7CE1ED0D25}"/>
                </a:ext>
              </a:extLst>
            </p:cNvPr>
            <p:cNvSpPr/>
            <p:nvPr/>
          </p:nvSpPr>
          <p:spPr>
            <a:xfrm>
              <a:off x="7392473" y="2993689"/>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107" name="正方形/長方形 106">
              <a:extLst>
                <a:ext uri="{FF2B5EF4-FFF2-40B4-BE49-F238E27FC236}">
                  <a16:creationId xmlns:a16="http://schemas.microsoft.com/office/drawing/2014/main" id="{F5235F2B-48F8-5040-B9A6-C9500799220A}"/>
                </a:ext>
              </a:extLst>
            </p:cNvPr>
            <p:cNvSpPr/>
            <p:nvPr/>
          </p:nvSpPr>
          <p:spPr>
            <a:xfrm>
              <a:off x="8173559" y="2993689"/>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108" name="正方形/長方形 107">
              <a:extLst>
                <a:ext uri="{FF2B5EF4-FFF2-40B4-BE49-F238E27FC236}">
                  <a16:creationId xmlns:a16="http://schemas.microsoft.com/office/drawing/2014/main" id="{89D1705C-447E-65C2-42F9-42021DFEEA46}"/>
                </a:ext>
              </a:extLst>
            </p:cNvPr>
            <p:cNvSpPr/>
            <p:nvPr/>
          </p:nvSpPr>
          <p:spPr>
            <a:xfrm>
              <a:off x="8964030" y="2991954"/>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cxnSp>
          <p:nvCxnSpPr>
            <p:cNvPr id="109" name="直線矢印コネクタ 108">
              <a:extLst>
                <a:ext uri="{FF2B5EF4-FFF2-40B4-BE49-F238E27FC236}">
                  <a16:creationId xmlns:a16="http://schemas.microsoft.com/office/drawing/2014/main" id="{306D594A-32C2-6418-1BEB-EE40A5FCD1CB}"/>
                </a:ext>
              </a:extLst>
            </p:cNvPr>
            <p:cNvCxnSpPr>
              <a:cxnSpLocks/>
              <a:stCxn id="105" idx="2"/>
              <a:endCxn id="96" idx="0"/>
            </p:cNvCxnSpPr>
            <p:nvPr/>
          </p:nvCxnSpPr>
          <p:spPr>
            <a:xfrm>
              <a:off x="8113421" y="3394418"/>
              <a:ext cx="0" cy="167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15" name="正方形/長方形 114">
            <a:extLst>
              <a:ext uri="{FF2B5EF4-FFF2-40B4-BE49-F238E27FC236}">
                <a16:creationId xmlns:a16="http://schemas.microsoft.com/office/drawing/2014/main" id="{E7563AB8-A753-A3DD-54C4-BE02276C6EDA}"/>
              </a:ext>
            </a:extLst>
          </p:cNvPr>
          <p:cNvSpPr/>
          <p:nvPr/>
        </p:nvSpPr>
        <p:spPr>
          <a:xfrm>
            <a:off x="4761236" y="1293257"/>
            <a:ext cx="3484811" cy="23936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テキスト ボックス 144">
            <a:extLst>
              <a:ext uri="{FF2B5EF4-FFF2-40B4-BE49-F238E27FC236}">
                <a16:creationId xmlns:a16="http://schemas.microsoft.com/office/drawing/2014/main" id="{AD173223-4F79-F950-3B0A-ADC9ECB6C4FF}"/>
              </a:ext>
            </a:extLst>
          </p:cNvPr>
          <p:cNvSpPr txBox="1"/>
          <p:nvPr/>
        </p:nvSpPr>
        <p:spPr>
          <a:xfrm>
            <a:off x="4071518" y="1799074"/>
            <a:ext cx="942106" cy="1323439"/>
          </a:xfrm>
          <a:prstGeom prst="rect">
            <a:avLst/>
          </a:prstGeom>
          <a:noFill/>
          <a:ln>
            <a:noFill/>
          </a:ln>
        </p:spPr>
        <p:txBody>
          <a:bodyPr wrap="square" rtlCol="0">
            <a:spAutoFit/>
          </a:bodyPr>
          <a:lstStyle/>
          <a:p>
            <a:pPr algn="ctr"/>
            <a:r>
              <a:rPr lang="ja-JP" altLang="en-US" sz="1600"/>
              <a:t>グ</a:t>
            </a:r>
            <a:endParaRPr lang="en-US" altLang="ja-JP" sz="1600" dirty="0"/>
          </a:p>
          <a:p>
            <a:pPr algn="ctr"/>
            <a:r>
              <a:rPr lang="ja-JP" altLang="en-US" sz="1600"/>
              <a:t>ラ</a:t>
            </a:r>
            <a:endParaRPr lang="en-US" altLang="ja-JP" sz="1600" dirty="0"/>
          </a:p>
          <a:p>
            <a:pPr algn="ctr"/>
            <a:r>
              <a:rPr lang="ja-JP" altLang="en-US" sz="1600"/>
              <a:t>フ</a:t>
            </a:r>
            <a:endParaRPr lang="en-US" altLang="ja-JP" sz="1600" dirty="0"/>
          </a:p>
          <a:p>
            <a:pPr algn="ctr"/>
            <a:r>
              <a:rPr lang="ja-JP" altLang="en-US" sz="1600"/>
              <a:t>構</a:t>
            </a:r>
            <a:endParaRPr lang="en-US" altLang="ja-JP" sz="1600" dirty="0"/>
          </a:p>
          <a:p>
            <a:pPr algn="ctr"/>
            <a:r>
              <a:rPr lang="ja-JP" altLang="en-US" sz="1600"/>
              <a:t>築</a:t>
            </a:r>
            <a:endParaRPr kumimoji="1" lang="en-US" altLang="ja-JP" sz="1600" dirty="0"/>
          </a:p>
        </p:txBody>
      </p:sp>
      <p:sp>
        <p:nvSpPr>
          <p:cNvPr id="147" name="左大かっこ 146">
            <a:extLst>
              <a:ext uri="{FF2B5EF4-FFF2-40B4-BE49-F238E27FC236}">
                <a16:creationId xmlns:a16="http://schemas.microsoft.com/office/drawing/2014/main" id="{D7F4DC6E-7F2E-F68C-5D9A-00D2C0E0EE16}"/>
              </a:ext>
            </a:extLst>
          </p:cNvPr>
          <p:cNvSpPr/>
          <p:nvPr/>
        </p:nvSpPr>
        <p:spPr>
          <a:xfrm>
            <a:off x="4698139" y="1251792"/>
            <a:ext cx="154949" cy="2478194"/>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sp>
        <p:nvSpPr>
          <p:cNvPr id="148" name="左大かっこ 147">
            <a:extLst>
              <a:ext uri="{FF2B5EF4-FFF2-40B4-BE49-F238E27FC236}">
                <a16:creationId xmlns:a16="http://schemas.microsoft.com/office/drawing/2014/main" id="{8E1C7BAE-7850-DD34-179B-FDBEF41AFD20}"/>
              </a:ext>
            </a:extLst>
          </p:cNvPr>
          <p:cNvSpPr/>
          <p:nvPr/>
        </p:nvSpPr>
        <p:spPr>
          <a:xfrm flipH="1">
            <a:off x="4228520" y="1251792"/>
            <a:ext cx="154638" cy="2478194"/>
          </a:xfrm>
          <a:prstGeom prst="leftBracket">
            <a:avLst/>
          </a:prstGeom>
        </p:spPr>
        <p:style>
          <a:lnRef idx="2">
            <a:schemeClr val="accent4"/>
          </a:lnRef>
          <a:fillRef idx="0">
            <a:schemeClr val="accent4"/>
          </a:fillRef>
          <a:effectRef idx="1">
            <a:schemeClr val="accent4"/>
          </a:effectRef>
          <a:fontRef idx="minor">
            <a:schemeClr val="tx1"/>
          </a:fontRef>
        </p:style>
        <p:txBody>
          <a:bodyPr rtlCol="0" anchor="ctr"/>
          <a:lstStyle/>
          <a:p>
            <a:pPr algn="ctr"/>
            <a:endParaRPr kumimoji="1" lang="ja-JP" altLang="en-US"/>
          </a:p>
        </p:txBody>
      </p:sp>
      <p:pic>
        <p:nvPicPr>
          <p:cNvPr id="166" name="図 165" descr="図形 が含まれている画像&#10;&#10;AI によって生成されたコンテンツは間違っている可能性があります。">
            <a:extLst>
              <a:ext uri="{FF2B5EF4-FFF2-40B4-BE49-F238E27FC236}">
                <a16:creationId xmlns:a16="http://schemas.microsoft.com/office/drawing/2014/main" id="{177FAC3B-C9E3-1BFA-AA7B-AAC741C3F2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787" y="3770476"/>
            <a:ext cx="756278" cy="504185"/>
          </a:xfrm>
          <a:prstGeom prst="rect">
            <a:avLst/>
          </a:prstGeom>
        </p:spPr>
      </p:pic>
      <p:pic>
        <p:nvPicPr>
          <p:cNvPr id="167" name="図 166" descr="図形 が含まれている画像&#10;&#10;AI によって生成されたコンテンツは間違っている可能性があります。">
            <a:extLst>
              <a:ext uri="{FF2B5EF4-FFF2-40B4-BE49-F238E27FC236}">
                <a16:creationId xmlns:a16="http://schemas.microsoft.com/office/drawing/2014/main" id="{28945AB7-9AC6-7F80-27D8-BF88F1C5F2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059" y="5485507"/>
            <a:ext cx="756278" cy="504185"/>
          </a:xfrm>
          <a:prstGeom prst="rect">
            <a:avLst/>
          </a:prstGeom>
        </p:spPr>
      </p:pic>
      <p:pic>
        <p:nvPicPr>
          <p:cNvPr id="168" name="図 167" descr="図形 が含まれている画像&#10;&#10;AI によって生成されたコンテンツは間違っている可能性があります。">
            <a:extLst>
              <a:ext uri="{FF2B5EF4-FFF2-40B4-BE49-F238E27FC236}">
                <a16:creationId xmlns:a16="http://schemas.microsoft.com/office/drawing/2014/main" id="{F8105BA4-5C06-D538-6970-A51A331496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96418" y="5519994"/>
            <a:ext cx="756278" cy="504185"/>
          </a:xfrm>
          <a:prstGeom prst="rect">
            <a:avLst/>
          </a:prstGeom>
        </p:spPr>
      </p:pic>
      <p:pic>
        <p:nvPicPr>
          <p:cNvPr id="169" name="図 168" descr="図形 が含まれている画像&#10;&#10;AI によって生成されたコンテンツは間違っている可能性があります。">
            <a:extLst>
              <a:ext uri="{FF2B5EF4-FFF2-40B4-BE49-F238E27FC236}">
                <a16:creationId xmlns:a16="http://schemas.microsoft.com/office/drawing/2014/main" id="{4DC2120D-179B-EDBA-2021-2037BB85A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42989" y="1241660"/>
            <a:ext cx="756278" cy="504185"/>
          </a:xfrm>
          <a:prstGeom prst="rect">
            <a:avLst/>
          </a:prstGeom>
        </p:spPr>
      </p:pic>
      <mc:AlternateContent xmlns:mc="http://schemas.openxmlformats.org/markup-compatibility/2006">
        <mc:Choice xmlns:a14="http://schemas.microsoft.com/office/drawing/2010/main" Requires="a14">
          <p:sp>
            <p:nvSpPr>
              <p:cNvPr id="26" name="テキスト ボックス 25">
                <a:extLst>
                  <a:ext uri="{FF2B5EF4-FFF2-40B4-BE49-F238E27FC236}">
                    <a16:creationId xmlns:a16="http://schemas.microsoft.com/office/drawing/2014/main" id="{D6E45171-42BE-98EF-6265-A81CB6CAA60E}"/>
                  </a:ext>
                </a:extLst>
              </p:cNvPr>
              <p:cNvSpPr txBox="1"/>
              <p:nvPr/>
            </p:nvSpPr>
            <p:spPr>
              <a:xfrm>
                <a:off x="8602011" y="2036442"/>
                <a:ext cx="3522689" cy="1323439"/>
              </a:xfrm>
              <a:prstGeom prst="rect">
                <a:avLst/>
              </a:prstGeom>
              <a:noFill/>
              <a:ln>
                <a:noFill/>
              </a:ln>
            </p:spPr>
            <p:txBody>
              <a:bodyPr wrap="square" rtlCol="0">
                <a:spAutoFit/>
              </a:bodyPr>
              <a:lstStyle/>
              <a:p>
                <a:pPr algn="ctr"/>
                <a:r>
                  <a:rPr lang="en-US" altLang="ja-JP" sz="1600" dirty="0"/>
                  <a:t>RAG</a:t>
                </a:r>
                <a:r>
                  <a:rPr lang="ja-JP" altLang="en-US" sz="1600"/>
                  <a:t>の埋め込み：計算量</a:t>
                </a:r>
                <a:r>
                  <a:rPr lang="en-US" altLang="ja-JP" sz="1600" dirty="0"/>
                  <a:t> </a:t>
                </a:r>
                <a14:m>
                  <m:oMath xmlns:m="http://schemas.openxmlformats.org/officeDocument/2006/math">
                    <m:r>
                      <a:rPr lang="en-US" altLang="ja-JP" sz="1600" b="0" i="1" smtClean="0">
                        <a:latin typeface="Cambria Math" panose="02040503050406030204" pitchFamily="18" charset="0"/>
                      </a:rPr>
                      <m:t>𝑂</m:t>
                    </m:r>
                    <m:r>
                      <a:rPr lang="en-US" altLang="ja-JP" sz="1600" b="0" i="1" smtClean="0">
                        <a:latin typeface="Cambria Math" panose="02040503050406030204" pitchFamily="18" charset="0"/>
                      </a:rPr>
                      <m:t>(</m:t>
                    </m:r>
                    <m:sSup>
                      <m:sSupPr>
                        <m:ctrlPr>
                          <a:rPr lang="en-US" altLang="ja-JP" sz="1600" b="0" i="1" smtClean="0">
                            <a:latin typeface="Cambria Math" panose="02040503050406030204" pitchFamily="18" charset="0"/>
                          </a:rPr>
                        </m:ctrlPr>
                      </m:sSupPr>
                      <m:e>
                        <m:r>
                          <a:rPr lang="en-US" altLang="ja-JP" sz="1600" b="0" i="1" smtClean="0">
                            <a:latin typeface="Cambria Math" panose="02040503050406030204" pitchFamily="18" charset="0"/>
                          </a:rPr>
                          <m:t>𝑁</m:t>
                        </m:r>
                      </m:e>
                      <m:sup>
                        <m:r>
                          <a:rPr lang="en-US" altLang="ja-JP" sz="1600" b="0" i="1" smtClean="0">
                            <a:latin typeface="Cambria Math" panose="02040503050406030204" pitchFamily="18" charset="0"/>
                          </a:rPr>
                          <m:t>2</m:t>
                        </m:r>
                      </m:sup>
                    </m:sSup>
                    <m:r>
                      <a:rPr lang="en-US" altLang="ja-JP" sz="1600" b="0" i="1" smtClean="0">
                        <a:latin typeface="Cambria Math" panose="02040503050406030204" pitchFamily="18" charset="0"/>
                      </a:rPr>
                      <m:t>)</m:t>
                    </m:r>
                  </m:oMath>
                </a14:m>
                <a:r>
                  <a:rPr lang="en-US" altLang="ja-JP" sz="1600" dirty="0"/>
                  <a:t> </a:t>
                </a:r>
              </a:p>
              <a:p>
                <a:pPr algn="ctr"/>
                <a:r>
                  <a:rPr lang="ja-JP" altLang="en-US" sz="1600"/>
                  <a:t>提案手法のグラフ構築：計算量</a:t>
                </a:r>
                <a:r>
                  <a:rPr lang="en-US" altLang="ja-JP" sz="1600" dirty="0"/>
                  <a:t> </a:t>
                </a:r>
                <a:r>
                  <a:rPr lang="ja-JP" altLang="en-US" sz="1600"/>
                  <a:t>𝑂</a:t>
                </a:r>
                <a:r>
                  <a:rPr lang="en-US" altLang="ja-JP" sz="1600" dirty="0"/>
                  <a:t>(𝑁)</a:t>
                </a:r>
              </a:p>
              <a:p>
                <a:pPr algn="ctr"/>
                <a:r>
                  <a:rPr lang="en-US" altLang="ja-JP" sz="1600" dirty="0"/>
                  <a:t> (N</a:t>
                </a:r>
                <a:r>
                  <a:rPr lang="ja-JP" altLang="en-US" sz="1600"/>
                  <a:t>：全文書の合計単語数</a:t>
                </a:r>
                <a:r>
                  <a:rPr lang="en-US" altLang="ja-JP" sz="1600" dirty="0"/>
                  <a:t>)</a:t>
                </a:r>
              </a:p>
              <a:p>
                <a:pPr algn="ctr"/>
                <a:endParaRPr lang="en-US" altLang="ja-JP" sz="1600" dirty="0"/>
              </a:p>
              <a:p>
                <a:pPr algn="ctr"/>
                <a:r>
                  <a:rPr lang="ja-JP" altLang="en-US" sz="1600"/>
                  <a:t>提案手法は</a:t>
                </a:r>
                <a:r>
                  <a:rPr lang="en-US" altLang="ja-JP" sz="1600" b="1" dirty="0">
                    <a:solidFill>
                      <a:srgbClr val="C00000"/>
                    </a:solidFill>
                  </a:rPr>
                  <a:t>RAG</a:t>
                </a:r>
                <a:r>
                  <a:rPr lang="ja-JP" altLang="en-US" sz="1600" b="1">
                    <a:solidFill>
                      <a:srgbClr val="C00000"/>
                    </a:solidFill>
                  </a:rPr>
                  <a:t>よりも軽い処理</a:t>
                </a:r>
                <a:endParaRPr lang="en-US" altLang="ja-JP" sz="1600" b="1" dirty="0">
                  <a:solidFill>
                    <a:srgbClr val="C00000"/>
                  </a:solidFill>
                </a:endParaRPr>
              </a:p>
            </p:txBody>
          </p:sp>
        </mc:Choice>
        <mc:Fallback>
          <p:sp>
            <p:nvSpPr>
              <p:cNvPr id="26" name="テキスト ボックス 25">
                <a:extLst>
                  <a:ext uri="{FF2B5EF4-FFF2-40B4-BE49-F238E27FC236}">
                    <a16:creationId xmlns:a16="http://schemas.microsoft.com/office/drawing/2014/main" id="{D6E45171-42BE-98EF-6265-A81CB6CAA60E}"/>
                  </a:ext>
                </a:extLst>
              </p:cNvPr>
              <p:cNvSpPr txBox="1">
                <a:spLocks noRot="1" noChangeAspect="1" noMove="1" noResize="1" noEditPoints="1" noAdjustHandles="1" noChangeArrowheads="1" noChangeShapeType="1" noTextEdit="1"/>
              </p:cNvSpPr>
              <p:nvPr/>
            </p:nvSpPr>
            <p:spPr>
              <a:xfrm>
                <a:off x="8602011" y="2036442"/>
                <a:ext cx="3522689" cy="1323439"/>
              </a:xfrm>
              <a:prstGeom prst="rect">
                <a:avLst/>
              </a:prstGeom>
              <a:blipFill>
                <a:blip r:embed="rId3"/>
                <a:stretch>
                  <a:fillRect l="-719" t="-2857" r="-719" b="-4762"/>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3216541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6E281D-0631-E3FB-77AA-AEA316851411}"/>
            </a:ext>
          </a:extLst>
        </p:cNvPr>
        <p:cNvGrpSpPr/>
        <p:nvPr/>
      </p:nvGrpSpPr>
      <p:grpSpPr>
        <a:xfrm>
          <a:off x="0" y="0"/>
          <a:ext cx="0" cy="0"/>
          <a:chOff x="0" y="0"/>
          <a:chExt cx="0" cy="0"/>
        </a:xfrm>
      </p:grpSpPr>
      <p:graphicFrame>
        <p:nvGraphicFramePr>
          <p:cNvPr id="16" name="表 15">
            <a:extLst>
              <a:ext uri="{FF2B5EF4-FFF2-40B4-BE49-F238E27FC236}">
                <a16:creationId xmlns:a16="http://schemas.microsoft.com/office/drawing/2014/main" id="{C5977B2F-1661-DB76-BE76-F68E4D2F8AB2}"/>
              </a:ext>
            </a:extLst>
          </p:cNvPr>
          <p:cNvGraphicFramePr>
            <a:graphicFrameLocks noGrp="1"/>
          </p:cNvGraphicFramePr>
          <p:nvPr/>
        </p:nvGraphicFramePr>
        <p:xfrm>
          <a:off x="6600312" y="5895049"/>
          <a:ext cx="48768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1132078996"/>
                    </a:ext>
                  </a:extLst>
                </a:gridCol>
                <a:gridCol w="1625600">
                  <a:extLst>
                    <a:ext uri="{9D8B030D-6E8A-4147-A177-3AD203B41FA5}">
                      <a16:colId xmlns:a16="http://schemas.microsoft.com/office/drawing/2014/main" val="235820936"/>
                    </a:ext>
                  </a:extLst>
                </a:gridCol>
                <a:gridCol w="1625600">
                  <a:extLst>
                    <a:ext uri="{9D8B030D-6E8A-4147-A177-3AD203B41FA5}">
                      <a16:colId xmlns:a16="http://schemas.microsoft.com/office/drawing/2014/main" val="1296012596"/>
                    </a:ext>
                  </a:extLst>
                </a:gridCol>
              </a:tblGrid>
              <a:tr h="370840">
                <a:tc>
                  <a:txBody>
                    <a:bodyPr/>
                    <a:lstStyle/>
                    <a:p>
                      <a:pPr algn="ctr"/>
                      <a:r>
                        <a:rPr kumimoji="1" lang="en-US" altLang="ja-JP" dirty="0"/>
                        <a:t>GraphRAG</a:t>
                      </a:r>
                      <a:endParaRPr kumimoji="1" lang="ja-JP" altLang="en-US"/>
                    </a:p>
                  </a:txBody>
                  <a:tcPr/>
                </a:tc>
                <a:tc>
                  <a:txBody>
                    <a:bodyPr/>
                    <a:lstStyle/>
                    <a:p>
                      <a:pPr algn="ctr"/>
                      <a:r>
                        <a:rPr kumimoji="1" lang="ja-JP" altLang="en-US"/>
                        <a:t>提案手法</a:t>
                      </a:r>
                    </a:p>
                  </a:txBody>
                  <a:tcPr/>
                </a:tc>
                <a:tc>
                  <a:txBody>
                    <a:bodyPr/>
                    <a:lstStyle/>
                    <a:p>
                      <a:pPr algn="ctr"/>
                      <a:r>
                        <a:rPr kumimoji="1" lang="en-US" altLang="ja-JP" dirty="0"/>
                        <a:t>RAG</a:t>
                      </a:r>
                    </a:p>
                  </a:txBody>
                  <a:tcPr/>
                </a:tc>
                <a:extLst>
                  <a:ext uri="{0D108BD9-81ED-4DB2-BD59-A6C34878D82A}">
                    <a16:rowId xmlns:a16="http://schemas.microsoft.com/office/drawing/2014/main" val="874790018"/>
                  </a:ext>
                </a:extLst>
              </a:tr>
              <a:tr h="370840">
                <a:tc>
                  <a:txBody>
                    <a:bodyPr/>
                    <a:lstStyle/>
                    <a:p>
                      <a:pPr algn="ctr"/>
                      <a:r>
                        <a:rPr kumimoji="1" lang="en-US" altLang="ja-JP" dirty="0"/>
                        <a:t>18.46</a:t>
                      </a:r>
                    </a:p>
                  </a:txBody>
                  <a:tcPr/>
                </a:tc>
                <a:tc>
                  <a:txBody>
                    <a:bodyPr/>
                    <a:lstStyle/>
                    <a:p>
                      <a:pPr algn="ctr"/>
                      <a:r>
                        <a:rPr kumimoji="1" lang="en-US" altLang="ja-JP" dirty="0"/>
                        <a:t>14.08</a:t>
                      </a:r>
                      <a:endParaRPr kumimoji="1" lang="ja-JP" altLang="en-US"/>
                    </a:p>
                  </a:txBody>
                  <a:tcPr/>
                </a:tc>
                <a:tc>
                  <a:txBody>
                    <a:bodyPr/>
                    <a:lstStyle/>
                    <a:p>
                      <a:pPr algn="ctr"/>
                      <a:r>
                        <a:rPr kumimoji="1" lang="en-US" altLang="ja-JP" dirty="0"/>
                        <a:t>13.93</a:t>
                      </a:r>
                    </a:p>
                  </a:txBody>
                  <a:tcPr/>
                </a:tc>
                <a:extLst>
                  <a:ext uri="{0D108BD9-81ED-4DB2-BD59-A6C34878D82A}">
                    <a16:rowId xmlns:a16="http://schemas.microsoft.com/office/drawing/2014/main" val="3509194947"/>
                  </a:ext>
                </a:extLst>
              </a:tr>
            </a:tbl>
          </a:graphicData>
        </a:graphic>
      </p:graphicFrame>
      <p:sp>
        <p:nvSpPr>
          <p:cNvPr id="3" name="コンテンツ プレースホルダー 2">
            <a:extLst>
              <a:ext uri="{FF2B5EF4-FFF2-40B4-BE49-F238E27FC236}">
                <a16:creationId xmlns:a16="http://schemas.microsoft.com/office/drawing/2014/main" id="{0850C69C-55BD-7C87-7819-272722C72E64}"/>
              </a:ext>
            </a:extLst>
          </p:cNvPr>
          <p:cNvSpPr>
            <a:spLocks noGrp="1"/>
          </p:cNvSpPr>
          <p:nvPr>
            <p:ph idx="1"/>
          </p:nvPr>
        </p:nvSpPr>
        <p:spPr>
          <a:xfrm>
            <a:off x="210574" y="2042490"/>
            <a:ext cx="5594477" cy="3951425"/>
          </a:xfrm>
        </p:spPr>
        <p:txBody>
          <a:bodyPr>
            <a:normAutofit/>
          </a:bodyPr>
          <a:lstStyle/>
          <a:p>
            <a:r>
              <a:rPr lang="ja-JP" altLang="en-US" sz="2400">
                <a:latin typeface="Yu Gothic" panose="020B0400000000000000" pitchFamily="34" charset="-128"/>
                <a:ea typeface="Yu Gothic" panose="020B0400000000000000" pitchFamily="34" charset="-128"/>
              </a:rPr>
              <a:t>実験</a:t>
            </a:r>
            <a:r>
              <a:rPr lang="en-US" altLang="ja-JP" sz="2400" dirty="0">
                <a:latin typeface="Yu Gothic" panose="020B0400000000000000" pitchFamily="34" charset="-128"/>
                <a:ea typeface="Yu Gothic" panose="020B0400000000000000" pitchFamily="34" charset="-128"/>
              </a:rPr>
              <a:t>1 LLM</a:t>
            </a:r>
            <a:r>
              <a:rPr lang="ja-JP" altLang="en-US" sz="2400">
                <a:latin typeface="Yu Gothic" panose="020B0400000000000000" pitchFamily="34" charset="-128"/>
                <a:ea typeface="Yu Gothic" panose="020B0400000000000000" pitchFamily="34" charset="-128"/>
              </a:rPr>
              <a:t>による評価</a:t>
            </a:r>
            <a:endParaRPr lang="en-US" altLang="ja-JP" sz="2400" dirty="0">
              <a:latin typeface="Yu Gothic" panose="020B0400000000000000" pitchFamily="34" charset="-128"/>
              <a:ea typeface="Yu Gothic" panose="020B0400000000000000" pitchFamily="34" charset="-128"/>
            </a:endParaRPr>
          </a:p>
          <a:p>
            <a:pPr lvl="1"/>
            <a:r>
              <a:rPr lang="en-US" altLang="ja-JP" sz="2000" dirty="0">
                <a:latin typeface="Yu Gothic" panose="020B0400000000000000" pitchFamily="34" charset="-128"/>
                <a:ea typeface="Yu Gothic" panose="020B0400000000000000" pitchFamily="34" charset="-128"/>
              </a:rPr>
              <a:t>RAG</a:t>
            </a:r>
            <a:r>
              <a:rPr lang="ja-JP" altLang="en-US" sz="2000">
                <a:latin typeface="Yu Gothic" panose="020B0400000000000000" pitchFamily="34" charset="-128"/>
                <a:ea typeface="Yu Gothic" panose="020B0400000000000000" pitchFamily="34" charset="-128"/>
              </a:rPr>
              <a:t>との比較では全項目で</a:t>
            </a:r>
            <a:r>
              <a:rPr lang="en-US" altLang="ja-JP" sz="2000" dirty="0">
                <a:latin typeface="Yu Gothic" panose="020B0400000000000000" pitchFamily="34" charset="-128"/>
                <a:ea typeface="Yu Gothic" panose="020B0400000000000000" pitchFamily="34" charset="-128"/>
              </a:rPr>
              <a:t>50%</a:t>
            </a:r>
            <a:r>
              <a:rPr lang="ja-JP" altLang="en-US" sz="2000">
                <a:latin typeface="Yu Gothic" panose="020B0400000000000000" pitchFamily="34" charset="-128"/>
                <a:ea typeface="Yu Gothic" panose="020B0400000000000000" pitchFamily="34" charset="-128"/>
              </a:rPr>
              <a:t>超　　</a:t>
            </a:r>
            <a:r>
              <a:rPr lang="en-US" altLang="ja-JP" sz="2000" dirty="0">
                <a:latin typeface="Yu Gothic" panose="020B0400000000000000" pitchFamily="34" charset="-128"/>
                <a:ea typeface="Yu Gothic" panose="020B0400000000000000" pitchFamily="34" charset="-128"/>
              </a:rPr>
              <a:t> (</a:t>
            </a:r>
            <a:r>
              <a:rPr lang="ja-JP" altLang="en-US" sz="2000">
                <a:latin typeface="Yu Gothic" panose="020B0400000000000000" pitchFamily="34" charset="-128"/>
                <a:ea typeface="Yu Gothic" panose="020B0400000000000000" pitchFamily="34" charset="-128"/>
              </a:rPr>
              <a:t>対称指標である</a:t>
            </a:r>
            <a:r>
              <a:rPr lang="en-US" altLang="ja-JP" sz="2000" dirty="0">
                <a:latin typeface="Yu Gothic" panose="020B0400000000000000" pitchFamily="34" charset="-128"/>
                <a:ea typeface="Yu Gothic" panose="020B0400000000000000" pitchFamily="34" charset="-128"/>
              </a:rPr>
              <a:t>Directness</a:t>
            </a:r>
            <a:r>
              <a:rPr lang="ja-JP" altLang="en-US" sz="2000">
                <a:latin typeface="Yu Gothic" panose="020B0400000000000000" pitchFamily="34" charset="-128"/>
                <a:ea typeface="Yu Gothic" panose="020B0400000000000000" pitchFamily="34" charset="-128"/>
              </a:rPr>
              <a:t>を除く</a:t>
            </a:r>
            <a:r>
              <a:rPr lang="en-US" altLang="ja-JP" sz="2000" dirty="0">
                <a:latin typeface="Yu Gothic" panose="020B0400000000000000" pitchFamily="34" charset="-128"/>
                <a:ea typeface="Yu Gothic" panose="020B0400000000000000" pitchFamily="34" charset="-128"/>
              </a:rPr>
              <a:t>)</a:t>
            </a:r>
          </a:p>
          <a:p>
            <a:pPr lvl="1"/>
            <a:r>
              <a:rPr lang="en-US" altLang="ja-JP" sz="2000" dirty="0">
                <a:latin typeface="Yu Gothic" panose="020B0400000000000000" pitchFamily="34" charset="-128"/>
                <a:ea typeface="Yu Gothic" panose="020B0400000000000000" pitchFamily="34" charset="-128"/>
              </a:rPr>
              <a:t>Comprehensiveness, Diversity</a:t>
            </a:r>
            <a:r>
              <a:rPr lang="ja-JP" altLang="en-US" sz="2000">
                <a:latin typeface="Yu Gothic" panose="020B0400000000000000" pitchFamily="34" charset="-128"/>
                <a:ea typeface="Yu Gothic" panose="020B0400000000000000" pitchFamily="34" charset="-128"/>
              </a:rPr>
              <a:t>では</a:t>
            </a:r>
            <a:r>
              <a:rPr lang="en-US" altLang="ja-JP" sz="2000" dirty="0">
                <a:latin typeface="Yu Gothic" panose="020B0400000000000000" pitchFamily="34" charset="-128"/>
                <a:ea typeface="Yu Gothic" panose="020B0400000000000000" pitchFamily="34" charset="-128"/>
              </a:rPr>
              <a:t>GraphRAG</a:t>
            </a:r>
            <a:r>
              <a:rPr lang="ja-JP" altLang="en-US" sz="2000">
                <a:latin typeface="Yu Gothic" panose="020B0400000000000000" pitchFamily="34" charset="-128"/>
                <a:ea typeface="Yu Gothic" panose="020B0400000000000000" pitchFamily="34" charset="-128"/>
              </a:rPr>
              <a:t>と比較しても</a:t>
            </a:r>
            <a:r>
              <a:rPr lang="en-US" altLang="ja-JP" sz="2000" dirty="0">
                <a:latin typeface="Yu Gothic" panose="020B0400000000000000" pitchFamily="34" charset="-128"/>
                <a:ea typeface="Yu Gothic" panose="020B0400000000000000" pitchFamily="34" charset="-128"/>
              </a:rPr>
              <a:t>50%</a:t>
            </a:r>
            <a:r>
              <a:rPr lang="ja-JP" altLang="en-US" sz="2000">
                <a:latin typeface="Yu Gothic" panose="020B0400000000000000" pitchFamily="34" charset="-128"/>
                <a:ea typeface="Yu Gothic" panose="020B0400000000000000" pitchFamily="34" charset="-128"/>
              </a:rPr>
              <a:t>近く</a:t>
            </a:r>
            <a:endParaRPr lang="en-US" altLang="ja-JP" sz="2000" dirty="0">
              <a:latin typeface="Yu Gothic" panose="020B0400000000000000" pitchFamily="34" charset="-128"/>
              <a:ea typeface="Yu Gothic" panose="020B0400000000000000" pitchFamily="34" charset="-128"/>
            </a:endParaRPr>
          </a:p>
          <a:p>
            <a:pPr marL="0" indent="0">
              <a:buNone/>
            </a:pPr>
            <a:endParaRPr lang="en-US" altLang="ja-JP" sz="2400" dirty="0">
              <a:solidFill>
                <a:srgbClr val="C00000"/>
              </a:solidFill>
              <a:latin typeface="Yu Gothic" panose="020B0400000000000000" pitchFamily="34" charset="-128"/>
              <a:ea typeface="Yu Gothic" panose="020B0400000000000000" pitchFamily="34" charset="-128"/>
            </a:endParaRPr>
          </a:p>
          <a:p>
            <a:r>
              <a:rPr lang="ja-JP" altLang="en-US" sz="2400">
                <a:latin typeface="Yu Gothic" panose="020B0400000000000000" pitchFamily="34" charset="-128"/>
                <a:ea typeface="Yu Gothic" panose="020B0400000000000000" pitchFamily="34" charset="-128"/>
              </a:rPr>
              <a:t>実験</a:t>
            </a:r>
            <a:r>
              <a:rPr lang="en-US" altLang="ja-JP" sz="2400" dirty="0">
                <a:latin typeface="Yu Gothic" panose="020B0400000000000000" pitchFamily="34" charset="-128"/>
                <a:ea typeface="Yu Gothic" panose="020B0400000000000000" pitchFamily="34" charset="-128"/>
              </a:rPr>
              <a:t>2 Claim</a:t>
            </a:r>
            <a:r>
              <a:rPr lang="ja-JP" altLang="en-US" sz="2400">
                <a:latin typeface="Yu Gothic" panose="020B0400000000000000" pitchFamily="34" charset="-128"/>
                <a:ea typeface="Yu Gothic" panose="020B0400000000000000" pitchFamily="34" charset="-128"/>
              </a:rPr>
              <a:t>ベースの評価</a:t>
            </a:r>
            <a:endParaRPr lang="en-US" altLang="ja-JP" sz="1200" dirty="0">
              <a:latin typeface="Yu Gothic" panose="020B0400000000000000" pitchFamily="34" charset="-128"/>
              <a:ea typeface="Yu Gothic" panose="020B0400000000000000" pitchFamily="34" charset="-128"/>
            </a:endParaRPr>
          </a:p>
          <a:p>
            <a:pPr lvl="1"/>
            <a:r>
              <a:rPr lang="ja-JP" altLang="en-US" sz="2000">
                <a:latin typeface="Yu Gothic" panose="020B0400000000000000" pitchFamily="34" charset="-128"/>
                <a:ea typeface="Yu Gothic" panose="020B0400000000000000" pitchFamily="34" charset="-128"/>
              </a:rPr>
              <a:t>全項目で</a:t>
            </a:r>
            <a:r>
              <a:rPr lang="en-US" altLang="ja-JP" sz="2000" dirty="0">
                <a:latin typeface="Yu Gothic" panose="020B0400000000000000" pitchFamily="34" charset="-128"/>
                <a:ea typeface="Yu Gothic" panose="020B0400000000000000" pitchFamily="34" charset="-128"/>
              </a:rPr>
              <a:t>RAG</a:t>
            </a:r>
            <a:r>
              <a:rPr lang="ja-JP" altLang="en-US" sz="2000">
                <a:latin typeface="Yu Gothic" panose="020B0400000000000000" pitchFamily="34" charset="-128"/>
                <a:ea typeface="Yu Gothic" panose="020B0400000000000000" pitchFamily="34" charset="-128"/>
              </a:rPr>
              <a:t>を上回る</a:t>
            </a:r>
            <a:endParaRPr lang="en-US" altLang="ja-JP" sz="2000" dirty="0">
              <a:latin typeface="Yu Gothic" panose="020B0400000000000000" pitchFamily="34" charset="-128"/>
              <a:ea typeface="Yu Gothic" panose="020B0400000000000000" pitchFamily="34" charset="-128"/>
            </a:endParaRPr>
          </a:p>
          <a:p>
            <a:pPr lvl="1"/>
            <a:endParaRPr lang="en-US" altLang="ja-JP" sz="2000"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3C4BF1D6-A300-BDD3-3F7B-FB3161ED2B47}"/>
              </a:ext>
            </a:extLst>
          </p:cNvPr>
          <p:cNvSpPr>
            <a:spLocks noGrp="1"/>
          </p:cNvSpPr>
          <p:nvPr>
            <p:ph type="body" sz="quarter" idx="11"/>
          </p:nvPr>
        </p:nvSpPr>
        <p:spPr/>
        <p:txBody>
          <a:bodyPr>
            <a:normAutofit fontScale="92500" lnSpcReduction="20000"/>
          </a:bodyPr>
          <a:lstStyle/>
          <a:p>
            <a:r>
              <a:rPr lang="ja-JP" altLang="en-US"/>
              <a:t>評価結果</a:t>
            </a:r>
            <a:r>
              <a:rPr lang="en-US" altLang="ja-JP" dirty="0"/>
              <a:t> (</a:t>
            </a:r>
            <a:r>
              <a:rPr lang="ja-JP" altLang="en-US"/>
              <a:t>精度</a:t>
            </a:r>
            <a:r>
              <a:rPr lang="en-US" altLang="ja-JP" dirty="0"/>
              <a:t>)</a:t>
            </a:r>
          </a:p>
        </p:txBody>
      </p:sp>
      <p:sp>
        <p:nvSpPr>
          <p:cNvPr id="14" name="タイトル 1">
            <a:extLst>
              <a:ext uri="{FF2B5EF4-FFF2-40B4-BE49-F238E27FC236}">
                <a16:creationId xmlns:a16="http://schemas.microsoft.com/office/drawing/2014/main" id="{76A9707F-0C68-97CC-020C-9AB001B32FC2}"/>
              </a:ext>
            </a:extLst>
          </p:cNvPr>
          <p:cNvSpPr>
            <a:spLocks noGrp="1"/>
          </p:cNvSpPr>
          <p:nvPr>
            <p:ph type="title"/>
          </p:nvPr>
        </p:nvSpPr>
        <p:spPr>
          <a:xfrm>
            <a:off x="546100" y="1104331"/>
            <a:ext cx="11099800" cy="938159"/>
          </a:xfrm>
        </p:spPr>
        <p:txBody>
          <a:bodyPr/>
          <a:lstStyle/>
          <a:p>
            <a:r>
              <a:rPr lang="ja-JP" altLang="en-US" sz="3200">
                <a:latin typeface="Yu Gothic" panose="020B0400000000000000" pitchFamily="34" charset="-128"/>
                <a:ea typeface="Yu Gothic" panose="020B0400000000000000" pitchFamily="34" charset="-128"/>
              </a:rPr>
              <a:t>各項目で</a:t>
            </a:r>
            <a:r>
              <a:rPr lang="en-US" altLang="ja-JP" sz="3200" dirty="0">
                <a:latin typeface="Yu Gothic" panose="020B0400000000000000" pitchFamily="34" charset="-128"/>
                <a:ea typeface="Yu Gothic" panose="020B0400000000000000" pitchFamily="34" charset="-128"/>
              </a:rPr>
              <a:t>RAG</a:t>
            </a:r>
            <a:r>
              <a:rPr lang="ja-JP" altLang="en-US" sz="3200">
                <a:latin typeface="Yu Gothic" panose="020B0400000000000000" pitchFamily="34" charset="-128"/>
                <a:ea typeface="Yu Gothic" panose="020B0400000000000000" pitchFamily="34" charset="-128"/>
              </a:rPr>
              <a:t>を超える精度</a:t>
            </a:r>
            <a:endParaRPr kumimoji="1" lang="ja-JP" altLang="en-US" sz="3200">
              <a:solidFill>
                <a:srgbClr val="C00000"/>
              </a:solidFill>
            </a:endParaRPr>
          </a:p>
        </p:txBody>
      </p:sp>
      <p:graphicFrame>
        <p:nvGraphicFramePr>
          <p:cNvPr id="2" name="表 1">
            <a:extLst>
              <a:ext uri="{FF2B5EF4-FFF2-40B4-BE49-F238E27FC236}">
                <a16:creationId xmlns:a16="http://schemas.microsoft.com/office/drawing/2014/main" id="{A56C4D23-62BD-6ABA-6E3C-0B93B6D50DE6}"/>
              </a:ext>
            </a:extLst>
          </p:cNvPr>
          <p:cNvGraphicFramePr>
            <a:graphicFrameLocks noGrp="1"/>
          </p:cNvGraphicFramePr>
          <p:nvPr/>
        </p:nvGraphicFramePr>
        <p:xfrm>
          <a:off x="714891" y="5886437"/>
          <a:ext cx="48768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188527385"/>
                    </a:ext>
                  </a:extLst>
                </a:gridCol>
                <a:gridCol w="1625600">
                  <a:extLst>
                    <a:ext uri="{9D8B030D-6E8A-4147-A177-3AD203B41FA5}">
                      <a16:colId xmlns:a16="http://schemas.microsoft.com/office/drawing/2014/main" val="1132078996"/>
                    </a:ext>
                  </a:extLst>
                </a:gridCol>
                <a:gridCol w="1625600">
                  <a:extLst>
                    <a:ext uri="{9D8B030D-6E8A-4147-A177-3AD203B41FA5}">
                      <a16:colId xmlns:a16="http://schemas.microsoft.com/office/drawing/2014/main" val="1296012596"/>
                    </a:ext>
                  </a:extLst>
                </a:gridCol>
              </a:tblGrid>
              <a:tr h="370840">
                <a:tc>
                  <a:txBody>
                    <a:bodyPr/>
                    <a:lstStyle/>
                    <a:p>
                      <a:pPr algn="ctr"/>
                      <a:r>
                        <a:rPr kumimoji="1" lang="en-US" altLang="ja-JP" dirty="0"/>
                        <a:t>GraphRAG</a:t>
                      </a:r>
                      <a:endParaRPr kumimoji="1" lang="ja-JP" altLang="en-US"/>
                    </a:p>
                  </a:txBody>
                  <a:tcPr/>
                </a:tc>
                <a:tc>
                  <a:txBody>
                    <a:bodyPr/>
                    <a:lstStyle/>
                    <a:p>
                      <a:pPr algn="ctr"/>
                      <a:r>
                        <a:rPr kumimoji="1" lang="ja-JP" altLang="en-US"/>
                        <a:t>提案手法</a:t>
                      </a:r>
                    </a:p>
                  </a:txBody>
                  <a:tcPr/>
                </a:tc>
                <a:tc>
                  <a:txBody>
                    <a:bodyPr/>
                    <a:lstStyle/>
                    <a:p>
                      <a:pPr algn="ctr"/>
                      <a:r>
                        <a:rPr kumimoji="1" lang="en-US" altLang="ja-JP" dirty="0"/>
                        <a:t>RAG</a:t>
                      </a:r>
                    </a:p>
                  </a:txBody>
                  <a:tcPr/>
                </a:tc>
                <a:extLst>
                  <a:ext uri="{0D108BD9-81ED-4DB2-BD59-A6C34878D82A}">
                    <a16:rowId xmlns:a16="http://schemas.microsoft.com/office/drawing/2014/main" val="874790018"/>
                  </a:ext>
                </a:extLst>
              </a:tr>
              <a:tr h="370840">
                <a:tc>
                  <a:txBody>
                    <a:bodyPr/>
                    <a:lstStyle/>
                    <a:p>
                      <a:pPr algn="ctr"/>
                      <a:r>
                        <a:rPr kumimoji="1" lang="en-US" altLang="ja-JP" dirty="0"/>
                        <a:t>22.72</a:t>
                      </a:r>
                      <a:endParaRPr kumimoji="1" lang="ja-JP" altLang="en-US"/>
                    </a:p>
                  </a:txBody>
                  <a:tcPr/>
                </a:tc>
                <a:tc>
                  <a:txBody>
                    <a:bodyPr/>
                    <a:lstStyle/>
                    <a:p>
                      <a:pPr algn="ctr"/>
                      <a:r>
                        <a:rPr kumimoji="1" lang="en-US" altLang="ja-JP" dirty="0"/>
                        <a:t>16.86</a:t>
                      </a:r>
                      <a:endParaRPr kumimoji="1" lang="ja-JP" altLang="en-US"/>
                    </a:p>
                  </a:txBody>
                  <a:tcPr/>
                </a:tc>
                <a:tc>
                  <a:txBody>
                    <a:bodyPr/>
                    <a:lstStyle/>
                    <a:p>
                      <a:pPr algn="ctr"/>
                      <a:r>
                        <a:rPr kumimoji="1" lang="en-US" altLang="ja-JP" dirty="0"/>
                        <a:t>16.29</a:t>
                      </a:r>
                      <a:endParaRPr kumimoji="1" lang="ja-JP" altLang="en-US"/>
                    </a:p>
                  </a:txBody>
                  <a:tcPr/>
                </a:tc>
                <a:extLst>
                  <a:ext uri="{0D108BD9-81ED-4DB2-BD59-A6C34878D82A}">
                    <a16:rowId xmlns:a16="http://schemas.microsoft.com/office/drawing/2014/main" val="3509194947"/>
                  </a:ext>
                </a:extLst>
              </a:tr>
            </a:tbl>
          </a:graphicData>
        </a:graphic>
      </p:graphicFrame>
      <p:sp>
        <p:nvSpPr>
          <p:cNvPr id="11" name="テキスト ボックス 10">
            <a:extLst>
              <a:ext uri="{FF2B5EF4-FFF2-40B4-BE49-F238E27FC236}">
                <a16:creationId xmlns:a16="http://schemas.microsoft.com/office/drawing/2014/main" id="{9F341B37-3842-D733-4239-0079531BBD58}"/>
              </a:ext>
            </a:extLst>
          </p:cNvPr>
          <p:cNvSpPr txBox="1"/>
          <p:nvPr/>
        </p:nvSpPr>
        <p:spPr>
          <a:xfrm>
            <a:off x="7210490" y="5523225"/>
            <a:ext cx="3656445" cy="369332"/>
          </a:xfrm>
          <a:prstGeom prst="rect">
            <a:avLst/>
          </a:prstGeom>
          <a:noFill/>
        </p:spPr>
        <p:txBody>
          <a:bodyPr wrap="square">
            <a:spAutoFit/>
          </a:bodyPr>
          <a:lstStyle/>
          <a:p>
            <a:pPr algn="ctr"/>
            <a:r>
              <a:rPr lang="en" altLang="ja-JP" dirty="0">
                <a:solidFill>
                  <a:schemeClr val="tx2"/>
                </a:solidFill>
                <a:latin typeface="Yu Gothic" panose="020B0400000000000000" pitchFamily="34" charset="-128"/>
                <a:ea typeface="Yu Gothic" panose="020B0400000000000000" pitchFamily="34" charset="-128"/>
              </a:rPr>
              <a:t>Diversity (</a:t>
            </a:r>
            <a:r>
              <a:rPr lang="ja-JP" altLang="en-US">
                <a:solidFill>
                  <a:schemeClr val="tx2"/>
                </a:solidFill>
                <a:latin typeface="Yu Gothic" panose="020B0400000000000000" pitchFamily="34" charset="-128"/>
                <a:ea typeface="Yu Gothic" panose="020B0400000000000000" pitchFamily="34" charset="-128"/>
              </a:rPr>
              <a:t>個</a:t>
            </a:r>
            <a:r>
              <a:rPr lang="en" altLang="ja-JP" dirty="0">
                <a:solidFill>
                  <a:schemeClr val="tx2"/>
                </a:solidFill>
                <a:latin typeface="Yu Gothic" panose="020B0400000000000000" pitchFamily="34" charset="-128"/>
                <a:ea typeface="Yu Gothic" panose="020B0400000000000000" pitchFamily="34" charset="-128"/>
              </a:rPr>
              <a:t>)</a:t>
            </a:r>
            <a:endParaRPr lang="ja-JP" altLang="en-US">
              <a:solidFill>
                <a:schemeClr val="tx2"/>
              </a:solidFill>
            </a:endParaRPr>
          </a:p>
        </p:txBody>
      </p:sp>
      <p:sp>
        <p:nvSpPr>
          <p:cNvPr id="18" name="テキスト ボックス 17">
            <a:extLst>
              <a:ext uri="{FF2B5EF4-FFF2-40B4-BE49-F238E27FC236}">
                <a16:creationId xmlns:a16="http://schemas.microsoft.com/office/drawing/2014/main" id="{B71B02A8-C896-7003-D2E7-3DDA65992F6E}"/>
              </a:ext>
            </a:extLst>
          </p:cNvPr>
          <p:cNvSpPr txBox="1"/>
          <p:nvPr/>
        </p:nvSpPr>
        <p:spPr>
          <a:xfrm>
            <a:off x="1325068" y="5525717"/>
            <a:ext cx="3656445" cy="369332"/>
          </a:xfrm>
          <a:prstGeom prst="rect">
            <a:avLst/>
          </a:prstGeom>
          <a:noFill/>
        </p:spPr>
        <p:txBody>
          <a:bodyPr wrap="square">
            <a:spAutoFit/>
          </a:bodyPr>
          <a:lstStyle/>
          <a:p>
            <a:pPr algn="ctr"/>
            <a:r>
              <a:rPr lang="en" altLang="ja-JP" dirty="0">
                <a:solidFill>
                  <a:schemeClr val="tx2"/>
                </a:solidFill>
                <a:latin typeface="Yu Gothic" panose="020B0400000000000000" pitchFamily="34" charset="-128"/>
                <a:ea typeface="Yu Gothic" panose="020B0400000000000000" pitchFamily="34" charset="-128"/>
              </a:rPr>
              <a:t>Comprehensiveness</a:t>
            </a:r>
            <a:r>
              <a:rPr lang="en-US" altLang="ja-JP" dirty="0">
                <a:solidFill>
                  <a:schemeClr val="tx2"/>
                </a:solidFill>
                <a:latin typeface="Yu Gothic" panose="020B0400000000000000" pitchFamily="34" charset="-128"/>
                <a:ea typeface="Yu Gothic" panose="020B0400000000000000" pitchFamily="34" charset="-128"/>
              </a:rPr>
              <a:t> (</a:t>
            </a:r>
            <a:r>
              <a:rPr lang="ja-JP" altLang="en-US">
                <a:solidFill>
                  <a:schemeClr val="tx2"/>
                </a:solidFill>
                <a:latin typeface="Yu Gothic" panose="020B0400000000000000" pitchFamily="34" charset="-128"/>
                <a:ea typeface="Yu Gothic" panose="020B0400000000000000" pitchFamily="34" charset="-128"/>
              </a:rPr>
              <a:t>個</a:t>
            </a:r>
            <a:r>
              <a:rPr lang="en-US" altLang="ja-JP" dirty="0">
                <a:solidFill>
                  <a:schemeClr val="tx2"/>
                </a:solidFill>
                <a:latin typeface="Yu Gothic" panose="020B0400000000000000" pitchFamily="34" charset="-128"/>
                <a:ea typeface="Yu Gothic" panose="020B0400000000000000" pitchFamily="34" charset="-128"/>
              </a:rPr>
              <a:t>)</a:t>
            </a:r>
            <a:endParaRPr lang="ja-JP" altLang="en-US" sz="2400">
              <a:solidFill>
                <a:schemeClr val="tx2"/>
              </a:solidFill>
            </a:endParaRPr>
          </a:p>
        </p:txBody>
      </p:sp>
      <p:graphicFrame>
        <p:nvGraphicFramePr>
          <p:cNvPr id="5" name="グラフ 4">
            <a:extLst>
              <a:ext uri="{FF2B5EF4-FFF2-40B4-BE49-F238E27FC236}">
                <a16:creationId xmlns:a16="http://schemas.microsoft.com/office/drawing/2014/main" id="{325CEEE6-0A94-CE98-6F87-E3C9C393DD15}"/>
              </a:ext>
            </a:extLst>
          </p:cNvPr>
          <p:cNvGraphicFramePr/>
          <p:nvPr/>
        </p:nvGraphicFramePr>
        <p:xfrm>
          <a:off x="6386951" y="1229751"/>
          <a:ext cx="5483164" cy="39514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88860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DCB5B26-8838-D4C5-DF75-2414D4514659}"/>
            </a:ext>
          </a:extLst>
        </p:cNvPr>
        <p:cNvGrpSpPr/>
        <p:nvPr/>
      </p:nvGrpSpPr>
      <p:grpSpPr>
        <a:xfrm>
          <a:off x="0" y="0"/>
          <a:ext cx="0" cy="0"/>
          <a:chOff x="0" y="0"/>
          <a:chExt cx="0" cy="0"/>
        </a:xfrm>
      </p:grpSpPr>
      <p:graphicFrame>
        <p:nvGraphicFramePr>
          <p:cNvPr id="16" name="表 15">
            <a:extLst>
              <a:ext uri="{FF2B5EF4-FFF2-40B4-BE49-F238E27FC236}">
                <a16:creationId xmlns:a16="http://schemas.microsoft.com/office/drawing/2014/main" id="{49BB9E05-C9C4-0A9B-19B4-258CB6747D31}"/>
              </a:ext>
            </a:extLst>
          </p:cNvPr>
          <p:cNvGraphicFramePr>
            <a:graphicFrameLocks noGrp="1"/>
          </p:cNvGraphicFramePr>
          <p:nvPr/>
        </p:nvGraphicFramePr>
        <p:xfrm>
          <a:off x="5805053" y="4924284"/>
          <a:ext cx="6176371" cy="1854200"/>
        </p:xfrm>
        <a:graphic>
          <a:graphicData uri="http://schemas.openxmlformats.org/drawingml/2006/table">
            <a:tbl>
              <a:tblPr firstRow="1" firstCol="1" bandRow="1">
                <a:tableStyleId>{5C22544A-7EE6-4342-B048-85BDC9FD1C3A}</a:tableStyleId>
              </a:tblPr>
              <a:tblGrid>
                <a:gridCol w="1482436">
                  <a:extLst>
                    <a:ext uri="{9D8B030D-6E8A-4147-A177-3AD203B41FA5}">
                      <a16:colId xmlns:a16="http://schemas.microsoft.com/office/drawing/2014/main" val="3188527385"/>
                    </a:ext>
                  </a:extLst>
                </a:gridCol>
                <a:gridCol w="1967345">
                  <a:extLst>
                    <a:ext uri="{9D8B030D-6E8A-4147-A177-3AD203B41FA5}">
                      <a16:colId xmlns:a16="http://schemas.microsoft.com/office/drawing/2014/main" val="1132078996"/>
                    </a:ext>
                  </a:extLst>
                </a:gridCol>
                <a:gridCol w="1551709">
                  <a:extLst>
                    <a:ext uri="{9D8B030D-6E8A-4147-A177-3AD203B41FA5}">
                      <a16:colId xmlns:a16="http://schemas.microsoft.com/office/drawing/2014/main" val="235820936"/>
                    </a:ext>
                  </a:extLst>
                </a:gridCol>
                <a:gridCol w="1174881">
                  <a:extLst>
                    <a:ext uri="{9D8B030D-6E8A-4147-A177-3AD203B41FA5}">
                      <a16:colId xmlns:a16="http://schemas.microsoft.com/office/drawing/2014/main" val="1296012596"/>
                    </a:ext>
                  </a:extLst>
                </a:gridCol>
              </a:tblGrid>
              <a:tr h="370840">
                <a:tc>
                  <a:txBody>
                    <a:bodyPr/>
                    <a:lstStyle/>
                    <a:p>
                      <a:pPr algn="ctr"/>
                      <a:r>
                        <a:rPr kumimoji="1" lang="en-US" altLang="ja-JP" dirty="0"/>
                        <a:t>threshold</a:t>
                      </a:r>
                      <a:endParaRPr kumimoji="1" lang="ja-JP" altLang="en-US"/>
                    </a:p>
                  </a:txBody>
                  <a:tcPr/>
                </a:tc>
                <a:tc>
                  <a:txBody>
                    <a:bodyPr/>
                    <a:lstStyle/>
                    <a:p>
                      <a:pPr algn="ctr"/>
                      <a:r>
                        <a:rPr kumimoji="1" lang="en-US" altLang="ja-JP" dirty="0"/>
                        <a:t>GraphRAG</a:t>
                      </a:r>
                      <a:endParaRPr kumimoji="1" lang="ja-JP" altLang="en-US"/>
                    </a:p>
                  </a:txBody>
                  <a:tcPr/>
                </a:tc>
                <a:tc>
                  <a:txBody>
                    <a:bodyPr/>
                    <a:lstStyle/>
                    <a:p>
                      <a:pPr algn="ctr"/>
                      <a:r>
                        <a:rPr kumimoji="1" lang="ja-JP" altLang="en-US"/>
                        <a:t>提案手法</a:t>
                      </a:r>
                    </a:p>
                  </a:txBody>
                  <a:tcPr/>
                </a:tc>
                <a:tc>
                  <a:txBody>
                    <a:bodyPr/>
                    <a:lstStyle/>
                    <a:p>
                      <a:pPr algn="ctr"/>
                      <a:r>
                        <a:rPr kumimoji="1" lang="en-US" altLang="ja-JP" dirty="0"/>
                        <a:t>RAG</a:t>
                      </a:r>
                    </a:p>
                  </a:txBody>
                  <a:tcPr/>
                </a:tc>
                <a:extLst>
                  <a:ext uri="{0D108BD9-81ED-4DB2-BD59-A6C34878D82A}">
                    <a16:rowId xmlns:a16="http://schemas.microsoft.com/office/drawing/2014/main" val="874790018"/>
                  </a:ext>
                </a:extLst>
              </a:tr>
              <a:tr h="370840">
                <a:tc>
                  <a:txBody>
                    <a:bodyPr/>
                    <a:lstStyle/>
                    <a:p>
                      <a:pPr algn="ctr"/>
                      <a:r>
                        <a:rPr kumimoji="1" lang="en-US" altLang="ja-JP" dirty="0"/>
                        <a:t>0.5</a:t>
                      </a:r>
                    </a:p>
                  </a:txBody>
                  <a:tcPr/>
                </a:tc>
                <a:tc>
                  <a:txBody>
                    <a:bodyPr/>
                    <a:lstStyle/>
                    <a:p>
                      <a:pPr algn="ctr"/>
                      <a:r>
                        <a:rPr kumimoji="1" lang="en-US" altLang="ja-JP" dirty="0"/>
                        <a:t>18.46</a:t>
                      </a:r>
                    </a:p>
                  </a:txBody>
                  <a:tcPr/>
                </a:tc>
                <a:tc>
                  <a:txBody>
                    <a:bodyPr/>
                    <a:lstStyle/>
                    <a:p>
                      <a:pPr algn="ctr"/>
                      <a:r>
                        <a:rPr kumimoji="1" lang="en-US" altLang="ja-JP" dirty="0"/>
                        <a:t>14.08</a:t>
                      </a:r>
                      <a:endParaRPr kumimoji="1" lang="ja-JP" altLang="en-US"/>
                    </a:p>
                  </a:txBody>
                  <a:tcPr/>
                </a:tc>
                <a:tc>
                  <a:txBody>
                    <a:bodyPr/>
                    <a:lstStyle/>
                    <a:p>
                      <a:pPr algn="ctr"/>
                      <a:r>
                        <a:rPr kumimoji="1" lang="en-US" altLang="ja-JP" dirty="0"/>
                        <a:t>13.93</a:t>
                      </a:r>
                    </a:p>
                  </a:txBody>
                  <a:tcPr/>
                </a:tc>
                <a:extLst>
                  <a:ext uri="{0D108BD9-81ED-4DB2-BD59-A6C34878D82A}">
                    <a16:rowId xmlns:a16="http://schemas.microsoft.com/office/drawing/2014/main" val="3509194947"/>
                  </a:ext>
                </a:extLst>
              </a:tr>
              <a:tr h="370840">
                <a:tc>
                  <a:txBody>
                    <a:bodyPr/>
                    <a:lstStyle/>
                    <a:p>
                      <a:pPr algn="ctr"/>
                      <a:r>
                        <a:rPr kumimoji="1" lang="en-US" altLang="ja-JP" dirty="0"/>
                        <a:t>0.6</a:t>
                      </a:r>
                      <a:endParaRPr kumimoji="1" lang="ja-JP" altLang="en-US"/>
                    </a:p>
                  </a:txBody>
                  <a:tcPr/>
                </a:tc>
                <a:tc>
                  <a:txBody>
                    <a:bodyPr/>
                    <a:lstStyle/>
                    <a:p>
                      <a:pPr algn="ctr"/>
                      <a:r>
                        <a:rPr kumimoji="1" lang="en-US" altLang="ja-JP" dirty="0"/>
                        <a:t>16.43</a:t>
                      </a:r>
                      <a:endParaRPr kumimoji="1" lang="ja-JP" altLang="en-US"/>
                    </a:p>
                  </a:txBody>
                  <a:tcPr/>
                </a:tc>
                <a:tc>
                  <a:txBody>
                    <a:bodyPr/>
                    <a:lstStyle/>
                    <a:p>
                      <a:pPr algn="ctr"/>
                      <a:r>
                        <a:rPr kumimoji="1" lang="en-US" altLang="ja-JP" dirty="0"/>
                        <a:t>12.95</a:t>
                      </a:r>
                      <a:endParaRPr kumimoji="1" lang="ja-JP" altLang="en-US"/>
                    </a:p>
                  </a:txBody>
                  <a:tcPr/>
                </a:tc>
                <a:tc>
                  <a:txBody>
                    <a:bodyPr/>
                    <a:lstStyle/>
                    <a:p>
                      <a:pPr algn="ctr"/>
                      <a:r>
                        <a:rPr kumimoji="1" lang="en-US" altLang="ja-JP" dirty="0"/>
                        <a:t>12.82</a:t>
                      </a:r>
                      <a:endParaRPr kumimoji="1" lang="ja-JP" altLang="en-US"/>
                    </a:p>
                  </a:txBody>
                  <a:tcPr/>
                </a:tc>
                <a:extLst>
                  <a:ext uri="{0D108BD9-81ED-4DB2-BD59-A6C34878D82A}">
                    <a16:rowId xmlns:a16="http://schemas.microsoft.com/office/drawing/2014/main" val="69827569"/>
                  </a:ext>
                </a:extLst>
              </a:tr>
              <a:tr h="370840">
                <a:tc>
                  <a:txBody>
                    <a:bodyPr/>
                    <a:lstStyle/>
                    <a:p>
                      <a:pPr algn="ctr"/>
                      <a:r>
                        <a:rPr kumimoji="1" lang="en-US" altLang="ja-JP" dirty="0"/>
                        <a:t>0.7</a:t>
                      </a:r>
                      <a:endParaRPr kumimoji="1" lang="ja-JP" altLang="en-US"/>
                    </a:p>
                  </a:txBody>
                  <a:tcPr/>
                </a:tc>
                <a:tc>
                  <a:txBody>
                    <a:bodyPr/>
                    <a:lstStyle/>
                    <a:p>
                      <a:pPr algn="ctr"/>
                      <a:r>
                        <a:rPr kumimoji="1" lang="en-US" altLang="ja-JP" dirty="0"/>
                        <a:t>13.26</a:t>
                      </a:r>
                      <a:endParaRPr kumimoji="1" lang="ja-JP" altLang="en-US"/>
                    </a:p>
                  </a:txBody>
                  <a:tcPr/>
                </a:tc>
                <a:tc>
                  <a:txBody>
                    <a:bodyPr/>
                    <a:lstStyle/>
                    <a:p>
                      <a:pPr algn="ctr"/>
                      <a:r>
                        <a:rPr kumimoji="1" lang="en-US" altLang="ja-JP" dirty="0"/>
                        <a:t>10.91</a:t>
                      </a:r>
                      <a:endParaRPr kumimoji="1" lang="ja-JP" altLang="en-US"/>
                    </a:p>
                  </a:txBody>
                  <a:tcPr/>
                </a:tc>
                <a:tc>
                  <a:txBody>
                    <a:bodyPr/>
                    <a:lstStyle/>
                    <a:p>
                      <a:pPr algn="ctr"/>
                      <a:r>
                        <a:rPr kumimoji="1" lang="en-US" altLang="ja-JP" dirty="0"/>
                        <a:t>10.53</a:t>
                      </a:r>
                      <a:endParaRPr kumimoji="1" lang="ja-JP" altLang="en-US"/>
                    </a:p>
                  </a:txBody>
                  <a:tcPr/>
                </a:tc>
                <a:extLst>
                  <a:ext uri="{0D108BD9-81ED-4DB2-BD59-A6C34878D82A}">
                    <a16:rowId xmlns:a16="http://schemas.microsoft.com/office/drawing/2014/main" val="2115603564"/>
                  </a:ext>
                </a:extLst>
              </a:tr>
              <a:tr h="370840">
                <a:tc>
                  <a:txBody>
                    <a:bodyPr/>
                    <a:lstStyle/>
                    <a:p>
                      <a:pPr algn="ctr"/>
                      <a:r>
                        <a:rPr kumimoji="1" lang="en-US" altLang="ja-JP" dirty="0"/>
                        <a:t>0.8</a:t>
                      </a:r>
                      <a:endParaRPr kumimoji="1" lang="ja-JP" altLang="en-US"/>
                    </a:p>
                  </a:txBody>
                  <a:tcPr/>
                </a:tc>
                <a:tc>
                  <a:txBody>
                    <a:bodyPr/>
                    <a:lstStyle/>
                    <a:p>
                      <a:pPr algn="ctr"/>
                      <a:r>
                        <a:rPr kumimoji="1" lang="en-US" altLang="ja-JP" dirty="0"/>
                        <a:t>9.12</a:t>
                      </a:r>
                      <a:endParaRPr kumimoji="1" lang="ja-JP" altLang="en-US"/>
                    </a:p>
                  </a:txBody>
                  <a:tcPr/>
                </a:tc>
                <a:tc>
                  <a:txBody>
                    <a:bodyPr/>
                    <a:lstStyle/>
                    <a:p>
                      <a:pPr algn="ctr"/>
                      <a:r>
                        <a:rPr kumimoji="1" lang="en-US" altLang="ja-JP" dirty="0"/>
                        <a:t>7.94</a:t>
                      </a:r>
                      <a:endParaRPr kumimoji="1" lang="ja-JP" altLang="en-US"/>
                    </a:p>
                  </a:txBody>
                  <a:tcPr/>
                </a:tc>
                <a:tc>
                  <a:txBody>
                    <a:bodyPr/>
                    <a:lstStyle/>
                    <a:p>
                      <a:pPr algn="ctr"/>
                      <a:r>
                        <a:rPr kumimoji="1" lang="en-US" altLang="ja-JP" dirty="0"/>
                        <a:t>7.63</a:t>
                      </a:r>
                      <a:endParaRPr kumimoji="1" lang="ja-JP" altLang="en-US"/>
                    </a:p>
                  </a:txBody>
                  <a:tcPr/>
                </a:tc>
                <a:extLst>
                  <a:ext uri="{0D108BD9-81ED-4DB2-BD59-A6C34878D82A}">
                    <a16:rowId xmlns:a16="http://schemas.microsoft.com/office/drawing/2014/main" val="3366201447"/>
                  </a:ext>
                </a:extLst>
              </a:tr>
            </a:tbl>
          </a:graphicData>
        </a:graphic>
      </p:graphicFrame>
      <p:sp>
        <p:nvSpPr>
          <p:cNvPr id="3" name="コンテンツ プレースホルダー 2">
            <a:extLst>
              <a:ext uri="{FF2B5EF4-FFF2-40B4-BE49-F238E27FC236}">
                <a16:creationId xmlns:a16="http://schemas.microsoft.com/office/drawing/2014/main" id="{98788F83-3095-9B52-F8C3-218E0219AF2F}"/>
              </a:ext>
            </a:extLst>
          </p:cNvPr>
          <p:cNvSpPr>
            <a:spLocks noGrp="1"/>
          </p:cNvSpPr>
          <p:nvPr>
            <p:ph idx="1"/>
          </p:nvPr>
        </p:nvSpPr>
        <p:spPr>
          <a:xfrm>
            <a:off x="210574" y="1832776"/>
            <a:ext cx="5594477" cy="4161139"/>
          </a:xfrm>
        </p:spPr>
        <p:txBody>
          <a:bodyPr>
            <a:normAutofit/>
          </a:bodyPr>
          <a:lstStyle/>
          <a:p>
            <a:r>
              <a:rPr lang="ja-JP" altLang="en-US">
                <a:latin typeface="Yu Gothic" panose="020B0400000000000000" pitchFamily="34" charset="-128"/>
                <a:ea typeface="Yu Gothic" panose="020B0400000000000000" pitchFamily="34" charset="-128"/>
              </a:rPr>
              <a:t>実験</a:t>
            </a:r>
            <a:r>
              <a:rPr lang="en-US" altLang="ja-JP" dirty="0">
                <a:latin typeface="Yu Gothic" panose="020B0400000000000000" pitchFamily="34" charset="-128"/>
                <a:ea typeface="Yu Gothic" panose="020B0400000000000000" pitchFamily="34" charset="-128"/>
              </a:rPr>
              <a:t>1 LLM</a:t>
            </a:r>
            <a:r>
              <a:rPr lang="ja-JP" altLang="en-US">
                <a:latin typeface="Yu Gothic" panose="020B0400000000000000" pitchFamily="34" charset="-128"/>
                <a:ea typeface="Yu Gothic" panose="020B0400000000000000" pitchFamily="34" charset="-128"/>
              </a:rPr>
              <a:t>による評価</a:t>
            </a:r>
            <a:endParaRPr lang="en-US" altLang="ja-JP" dirty="0">
              <a:latin typeface="Yu Gothic" panose="020B0400000000000000" pitchFamily="34" charset="-128"/>
              <a:ea typeface="Yu Gothic" panose="020B0400000000000000" pitchFamily="34" charset="-128"/>
            </a:endParaRPr>
          </a:p>
          <a:p>
            <a:pPr lvl="1"/>
            <a:r>
              <a:rPr lang="en-US" altLang="ja-JP" dirty="0">
                <a:latin typeface="Yu Gothic" panose="020B0400000000000000" pitchFamily="34" charset="-128"/>
                <a:ea typeface="Yu Gothic" panose="020B0400000000000000" pitchFamily="34" charset="-128"/>
              </a:rPr>
              <a:t>VS</a:t>
            </a:r>
            <a:r>
              <a:rPr lang="ja-JP" altLang="en-US">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では各項目で勝率</a:t>
            </a:r>
            <a:r>
              <a:rPr lang="en-US" altLang="ja-JP" dirty="0">
                <a:latin typeface="Yu Gothic" panose="020B0400000000000000" pitchFamily="34" charset="-128"/>
                <a:ea typeface="Yu Gothic" panose="020B0400000000000000" pitchFamily="34" charset="-128"/>
              </a:rPr>
              <a:t>50%</a:t>
            </a:r>
            <a:r>
              <a:rPr lang="ja-JP" altLang="en-US">
                <a:latin typeface="Yu Gothic" panose="020B0400000000000000" pitchFamily="34" charset="-128"/>
                <a:ea typeface="Yu Gothic" panose="020B0400000000000000" pitchFamily="34" charset="-128"/>
              </a:rPr>
              <a:t>超</a:t>
            </a:r>
            <a:endParaRPr lang="en-US" altLang="ja-JP" dirty="0">
              <a:latin typeface="Yu Gothic" panose="020B0400000000000000" pitchFamily="34" charset="-128"/>
              <a:ea typeface="Yu Gothic" panose="020B0400000000000000" pitchFamily="34" charset="-128"/>
            </a:endParaRPr>
          </a:p>
          <a:p>
            <a:pPr marL="457200" lvl="1" indent="0">
              <a:buNone/>
            </a:pPr>
            <a:endParaRPr lang="en-US" altLang="ja-JP" sz="1100" dirty="0">
              <a:latin typeface="Yu Gothic" panose="020B0400000000000000" pitchFamily="34" charset="-128"/>
              <a:ea typeface="Yu Gothic" panose="020B0400000000000000" pitchFamily="34" charset="-128"/>
            </a:endParaRPr>
          </a:p>
          <a:p>
            <a:pPr lvl="1"/>
            <a:endParaRPr lang="en-US" altLang="ja-JP" sz="1400" dirty="0">
              <a:latin typeface="Yu Gothic" panose="020B0400000000000000" pitchFamily="34" charset="-128"/>
              <a:ea typeface="Yu Gothic" panose="020B0400000000000000" pitchFamily="34" charset="-128"/>
            </a:endParaRPr>
          </a:p>
          <a:p>
            <a:pPr marL="0" indent="0">
              <a:buNone/>
            </a:pPr>
            <a:endParaRPr lang="en-US" altLang="ja-JP" dirty="0">
              <a:solidFill>
                <a:srgbClr val="C00000"/>
              </a:solidFill>
              <a:latin typeface="Yu Gothic" panose="020B0400000000000000" pitchFamily="34" charset="-128"/>
              <a:ea typeface="Yu Gothic" panose="020B0400000000000000" pitchFamily="34" charset="-128"/>
            </a:endParaRPr>
          </a:p>
          <a:p>
            <a:endParaRPr lang="en-US" altLang="ja-JP" dirty="0">
              <a:solidFill>
                <a:srgbClr val="C00000"/>
              </a:solidFill>
              <a:latin typeface="Yu Gothic" panose="020B0400000000000000" pitchFamily="34" charset="-128"/>
              <a:ea typeface="Yu Gothic" panose="020B0400000000000000" pitchFamily="34" charset="-128"/>
            </a:endParaRPr>
          </a:p>
          <a:p>
            <a:r>
              <a:rPr lang="ja-JP" altLang="en-US">
                <a:latin typeface="Yu Gothic" panose="020B0400000000000000" pitchFamily="34" charset="-128"/>
                <a:ea typeface="Yu Gothic" panose="020B0400000000000000" pitchFamily="34" charset="-128"/>
              </a:rPr>
              <a:t>実験</a:t>
            </a:r>
            <a:r>
              <a:rPr lang="en-US" altLang="ja-JP" dirty="0">
                <a:latin typeface="Yu Gothic" panose="020B0400000000000000" pitchFamily="34" charset="-128"/>
                <a:ea typeface="Yu Gothic" panose="020B0400000000000000" pitchFamily="34" charset="-128"/>
              </a:rPr>
              <a:t>2 Claim</a:t>
            </a:r>
            <a:r>
              <a:rPr lang="ja-JP" altLang="en-US">
                <a:latin typeface="Yu Gothic" panose="020B0400000000000000" pitchFamily="34" charset="-128"/>
                <a:ea typeface="Yu Gothic" panose="020B0400000000000000" pitchFamily="34" charset="-128"/>
              </a:rPr>
              <a:t>ベースの評価</a:t>
            </a:r>
            <a:endParaRPr lang="en-US" altLang="ja-JP" sz="1400"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全項目で</a:t>
            </a:r>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と同じか上回る</a:t>
            </a:r>
            <a:endParaRPr lang="en-US" altLang="ja-JP" dirty="0">
              <a:latin typeface="Yu Gothic" panose="020B0400000000000000" pitchFamily="34" charset="-128"/>
              <a:ea typeface="Yu Gothic" panose="020B0400000000000000" pitchFamily="34" charset="-128"/>
            </a:endParaRPr>
          </a:p>
          <a:p>
            <a:pPr lvl="1"/>
            <a:endParaRPr lang="en-US" altLang="ja-JP" dirty="0">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48907EAD-7FFC-5778-362B-F3933CC4EE90}"/>
              </a:ext>
            </a:extLst>
          </p:cNvPr>
          <p:cNvSpPr>
            <a:spLocks noGrp="1"/>
          </p:cNvSpPr>
          <p:nvPr>
            <p:ph type="body" sz="quarter" idx="11"/>
          </p:nvPr>
        </p:nvSpPr>
        <p:spPr/>
        <p:txBody>
          <a:bodyPr>
            <a:normAutofit fontScale="92500" lnSpcReduction="20000"/>
          </a:bodyPr>
          <a:lstStyle/>
          <a:p>
            <a:r>
              <a:rPr lang="ja-JP" altLang="en-US"/>
              <a:t>評価結果</a:t>
            </a:r>
            <a:r>
              <a:rPr lang="en-US" altLang="ja-JP" dirty="0"/>
              <a:t> (</a:t>
            </a:r>
            <a:r>
              <a:rPr lang="ja-JP" altLang="en-US"/>
              <a:t>精度</a:t>
            </a:r>
            <a:r>
              <a:rPr lang="en-US" altLang="ja-JP" dirty="0"/>
              <a:t>)</a:t>
            </a:r>
          </a:p>
        </p:txBody>
      </p:sp>
      <p:sp>
        <p:nvSpPr>
          <p:cNvPr id="14" name="タイトル 1">
            <a:extLst>
              <a:ext uri="{FF2B5EF4-FFF2-40B4-BE49-F238E27FC236}">
                <a16:creationId xmlns:a16="http://schemas.microsoft.com/office/drawing/2014/main" id="{15548D1B-8FD4-5868-F086-ECFFB3BA1577}"/>
              </a:ext>
            </a:extLst>
          </p:cNvPr>
          <p:cNvSpPr>
            <a:spLocks noGrp="1"/>
          </p:cNvSpPr>
          <p:nvPr>
            <p:ph type="title"/>
          </p:nvPr>
        </p:nvSpPr>
        <p:spPr>
          <a:xfrm>
            <a:off x="546100" y="962951"/>
            <a:ext cx="11099800" cy="938159"/>
          </a:xfrm>
        </p:spPr>
        <p:txBody>
          <a:bodyPr/>
          <a:lstStyle/>
          <a:p>
            <a:r>
              <a:rPr lang="ja-JP" altLang="en-US" sz="3200">
                <a:latin typeface="Yu Gothic" panose="020B0400000000000000" pitchFamily="34" charset="-128"/>
                <a:ea typeface="Yu Gothic" panose="020B0400000000000000" pitchFamily="34" charset="-128"/>
              </a:rPr>
              <a:t>各項目で</a:t>
            </a:r>
            <a:r>
              <a:rPr lang="en-US" altLang="ja-JP" sz="3200" dirty="0">
                <a:latin typeface="Yu Gothic" panose="020B0400000000000000" pitchFamily="34" charset="-128"/>
                <a:ea typeface="Yu Gothic" panose="020B0400000000000000" pitchFamily="34" charset="-128"/>
              </a:rPr>
              <a:t>RAG</a:t>
            </a:r>
            <a:r>
              <a:rPr lang="ja-JP" altLang="en-US" sz="3200">
                <a:latin typeface="Yu Gothic" panose="020B0400000000000000" pitchFamily="34" charset="-128"/>
                <a:ea typeface="Yu Gothic" panose="020B0400000000000000" pitchFamily="34" charset="-128"/>
              </a:rPr>
              <a:t>を超える精度</a:t>
            </a:r>
            <a:endParaRPr kumimoji="1" lang="ja-JP" altLang="en-US" sz="3200">
              <a:solidFill>
                <a:srgbClr val="C00000"/>
              </a:solidFill>
            </a:endParaRPr>
          </a:p>
        </p:txBody>
      </p:sp>
      <p:graphicFrame>
        <p:nvGraphicFramePr>
          <p:cNvPr id="2" name="表 1">
            <a:extLst>
              <a:ext uri="{FF2B5EF4-FFF2-40B4-BE49-F238E27FC236}">
                <a16:creationId xmlns:a16="http://schemas.microsoft.com/office/drawing/2014/main" id="{2331F2C5-CC1B-46CA-B66A-E697F4E02473}"/>
              </a:ext>
            </a:extLst>
          </p:cNvPr>
          <p:cNvGraphicFramePr>
            <a:graphicFrameLocks noGrp="1"/>
          </p:cNvGraphicFramePr>
          <p:nvPr/>
        </p:nvGraphicFramePr>
        <p:xfrm>
          <a:off x="569414" y="6036804"/>
          <a:ext cx="4876800" cy="74168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188527385"/>
                    </a:ext>
                  </a:extLst>
                </a:gridCol>
                <a:gridCol w="1625600">
                  <a:extLst>
                    <a:ext uri="{9D8B030D-6E8A-4147-A177-3AD203B41FA5}">
                      <a16:colId xmlns:a16="http://schemas.microsoft.com/office/drawing/2014/main" val="1132078996"/>
                    </a:ext>
                  </a:extLst>
                </a:gridCol>
                <a:gridCol w="1625600">
                  <a:extLst>
                    <a:ext uri="{9D8B030D-6E8A-4147-A177-3AD203B41FA5}">
                      <a16:colId xmlns:a16="http://schemas.microsoft.com/office/drawing/2014/main" val="1296012596"/>
                    </a:ext>
                  </a:extLst>
                </a:gridCol>
              </a:tblGrid>
              <a:tr h="370840">
                <a:tc>
                  <a:txBody>
                    <a:bodyPr/>
                    <a:lstStyle/>
                    <a:p>
                      <a:pPr algn="ctr"/>
                      <a:r>
                        <a:rPr kumimoji="1" lang="en-US" altLang="ja-JP" dirty="0"/>
                        <a:t>GraphRAG</a:t>
                      </a:r>
                      <a:endParaRPr kumimoji="1" lang="ja-JP" altLang="en-US"/>
                    </a:p>
                  </a:txBody>
                  <a:tcPr/>
                </a:tc>
                <a:tc>
                  <a:txBody>
                    <a:bodyPr/>
                    <a:lstStyle/>
                    <a:p>
                      <a:pPr algn="ctr"/>
                      <a:r>
                        <a:rPr kumimoji="1" lang="ja-JP" altLang="en-US"/>
                        <a:t>提案手法</a:t>
                      </a:r>
                    </a:p>
                  </a:txBody>
                  <a:tcPr/>
                </a:tc>
                <a:tc>
                  <a:txBody>
                    <a:bodyPr/>
                    <a:lstStyle/>
                    <a:p>
                      <a:pPr algn="ctr"/>
                      <a:r>
                        <a:rPr kumimoji="1" lang="en-US" altLang="ja-JP" dirty="0"/>
                        <a:t>RAG</a:t>
                      </a:r>
                    </a:p>
                  </a:txBody>
                  <a:tcPr/>
                </a:tc>
                <a:extLst>
                  <a:ext uri="{0D108BD9-81ED-4DB2-BD59-A6C34878D82A}">
                    <a16:rowId xmlns:a16="http://schemas.microsoft.com/office/drawing/2014/main" val="874790018"/>
                  </a:ext>
                </a:extLst>
              </a:tr>
              <a:tr h="370840">
                <a:tc>
                  <a:txBody>
                    <a:bodyPr/>
                    <a:lstStyle/>
                    <a:p>
                      <a:pPr algn="ctr"/>
                      <a:r>
                        <a:rPr kumimoji="1" lang="en-US" altLang="ja-JP" dirty="0"/>
                        <a:t>22.72</a:t>
                      </a:r>
                      <a:endParaRPr kumimoji="1" lang="ja-JP" altLang="en-US"/>
                    </a:p>
                  </a:txBody>
                  <a:tcPr/>
                </a:tc>
                <a:tc>
                  <a:txBody>
                    <a:bodyPr/>
                    <a:lstStyle/>
                    <a:p>
                      <a:pPr algn="ctr"/>
                      <a:r>
                        <a:rPr kumimoji="1" lang="en-US" altLang="ja-JP" dirty="0"/>
                        <a:t>16.864</a:t>
                      </a:r>
                      <a:endParaRPr kumimoji="1" lang="ja-JP" altLang="en-US"/>
                    </a:p>
                  </a:txBody>
                  <a:tcPr/>
                </a:tc>
                <a:tc>
                  <a:txBody>
                    <a:bodyPr/>
                    <a:lstStyle/>
                    <a:p>
                      <a:pPr algn="ctr"/>
                      <a:r>
                        <a:rPr kumimoji="1" lang="en-US" altLang="ja-JP" dirty="0"/>
                        <a:t>16.288</a:t>
                      </a:r>
                      <a:endParaRPr kumimoji="1" lang="ja-JP" altLang="en-US"/>
                    </a:p>
                  </a:txBody>
                  <a:tcPr/>
                </a:tc>
                <a:extLst>
                  <a:ext uri="{0D108BD9-81ED-4DB2-BD59-A6C34878D82A}">
                    <a16:rowId xmlns:a16="http://schemas.microsoft.com/office/drawing/2014/main" val="3509194947"/>
                  </a:ext>
                </a:extLst>
              </a:tr>
            </a:tbl>
          </a:graphicData>
        </a:graphic>
      </p:graphicFrame>
      <p:sp>
        <p:nvSpPr>
          <p:cNvPr id="11" name="テキスト ボックス 10">
            <a:extLst>
              <a:ext uri="{FF2B5EF4-FFF2-40B4-BE49-F238E27FC236}">
                <a16:creationId xmlns:a16="http://schemas.microsoft.com/office/drawing/2014/main" id="{5411C31C-61AB-3420-CA16-0D8DAFA731C8}"/>
              </a:ext>
            </a:extLst>
          </p:cNvPr>
          <p:cNvSpPr txBox="1"/>
          <p:nvPr/>
        </p:nvSpPr>
        <p:spPr>
          <a:xfrm>
            <a:off x="7065015" y="4552460"/>
            <a:ext cx="3656445" cy="369332"/>
          </a:xfrm>
          <a:prstGeom prst="rect">
            <a:avLst/>
          </a:prstGeom>
          <a:noFill/>
        </p:spPr>
        <p:txBody>
          <a:bodyPr wrap="square">
            <a:spAutoFit/>
          </a:bodyPr>
          <a:lstStyle/>
          <a:p>
            <a:pPr algn="ctr"/>
            <a:r>
              <a:rPr lang="en" altLang="ja-JP" dirty="0">
                <a:solidFill>
                  <a:schemeClr val="tx2"/>
                </a:solidFill>
                <a:latin typeface="Yu Gothic" panose="020B0400000000000000" pitchFamily="34" charset="-128"/>
                <a:ea typeface="Yu Gothic" panose="020B0400000000000000" pitchFamily="34" charset="-128"/>
              </a:rPr>
              <a:t>Diversity</a:t>
            </a:r>
            <a:endParaRPr lang="ja-JP" altLang="en-US">
              <a:solidFill>
                <a:schemeClr val="tx2"/>
              </a:solidFill>
            </a:endParaRPr>
          </a:p>
        </p:txBody>
      </p:sp>
      <p:graphicFrame>
        <p:nvGraphicFramePr>
          <p:cNvPr id="17" name="表 16">
            <a:extLst>
              <a:ext uri="{FF2B5EF4-FFF2-40B4-BE49-F238E27FC236}">
                <a16:creationId xmlns:a16="http://schemas.microsoft.com/office/drawing/2014/main" id="{C0F040EF-D462-B1D3-B201-CE43070DF684}"/>
              </a:ext>
            </a:extLst>
          </p:cNvPr>
          <p:cNvGraphicFramePr>
            <a:graphicFrameLocks noGrp="1"/>
          </p:cNvGraphicFramePr>
          <p:nvPr/>
        </p:nvGraphicFramePr>
        <p:xfrm>
          <a:off x="640064" y="2831911"/>
          <a:ext cx="6489484" cy="1676400"/>
        </p:xfrm>
        <a:graphic>
          <a:graphicData uri="http://schemas.openxmlformats.org/drawingml/2006/table">
            <a:tbl>
              <a:tblPr firstRow="1" firstCol="1" bandRow="1">
                <a:tableStyleId>{5C22544A-7EE6-4342-B048-85BDC9FD1C3A}</a:tableStyleId>
              </a:tblPr>
              <a:tblGrid>
                <a:gridCol w="2480485">
                  <a:extLst>
                    <a:ext uri="{9D8B030D-6E8A-4147-A177-3AD203B41FA5}">
                      <a16:colId xmlns:a16="http://schemas.microsoft.com/office/drawing/2014/main" val="3973964344"/>
                    </a:ext>
                  </a:extLst>
                </a:gridCol>
                <a:gridCol w="2212324">
                  <a:extLst>
                    <a:ext uri="{9D8B030D-6E8A-4147-A177-3AD203B41FA5}">
                      <a16:colId xmlns:a16="http://schemas.microsoft.com/office/drawing/2014/main" val="1818017163"/>
                    </a:ext>
                  </a:extLst>
                </a:gridCol>
                <a:gridCol w="1796675">
                  <a:extLst>
                    <a:ext uri="{9D8B030D-6E8A-4147-A177-3AD203B41FA5}">
                      <a16:colId xmlns:a16="http://schemas.microsoft.com/office/drawing/2014/main" val="2578572786"/>
                    </a:ext>
                  </a:extLst>
                </a:gridCol>
              </a:tblGrid>
              <a:tr h="313420">
                <a:tc>
                  <a:txBody>
                    <a:bodyPr/>
                    <a:lstStyle/>
                    <a:p>
                      <a:pPr algn="ctr"/>
                      <a:r>
                        <a:rPr kumimoji="1" lang="ja-JP" altLang="en-US" sz="1600"/>
                        <a:t>勝率</a:t>
                      </a:r>
                      <a:r>
                        <a:rPr kumimoji="1" lang="en-US" altLang="ja-JP" sz="1600" dirty="0"/>
                        <a:t> (%)</a:t>
                      </a:r>
                      <a:endParaRPr kumimoji="1" lang="ja-JP" altLang="en-US" sz="1600"/>
                    </a:p>
                  </a:txBody>
                  <a:tcPr/>
                </a:tc>
                <a:tc>
                  <a:txBody>
                    <a:bodyPr/>
                    <a:lstStyle/>
                    <a:p>
                      <a:pPr algn="ctr"/>
                      <a:r>
                        <a:rPr kumimoji="1" lang="en-US" altLang="ja-JP" sz="1600" dirty="0"/>
                        <a:t>VS GraphRAG</a:t>
                      </a:r>
                      <a:endParaRPr kumimoji="1" lang="ja-JP" altLang="en-US" sz="1600"/>
                    </a:p>
                  </a:txBody>
                  <a:tcPr/>
                </a:tc>
                <a:tc>
                  <a:txBody>
                    <a:bodyPr/>
                    <a:lstStyle/>
                    <a:p>
                      <a:pPr algn="ctr"/>
                      <a:r>
                        <a:rPr kumimoji="1" lang="en-US" altLang="ja-JP" sz="1600" dirty="0"/>
                        <a:t>VS RAG</a:t>
                      </a:r>
                      <a:endParaRPr kumimoji="1" lang="ja-JP" altLang="en-US" sz="1600"/>
                    </a:p>
                  </a:txBody>
                  <a:tcPr/>
                </a:tc>
                <a:extLst>
                  <a:ext uri="{0D108BD9-81ED-4DB2-BD59-A6C34878D82A}">
                    <a16:rowId xmlns:a16="http://schemas.microsoft.com/office/drawing/2014/main" val="2446423652"/>
                  </a:ext>
                </a:extLst>
              </a:tr>
              <a:tr h="313420">
                <a:tc>
                  <a:txBody>
                    <a:bodyPr/>
                    <a:lstStyle/>
                    <a:p>
                      <a:pPr algn="ctr"/>
                      <a:r>
                        <a:rPr lang="en" altLang="ja-JP" sz="1600" dirty="0">
                          <a:effectLst/>
                          <a:latin typeface="Yu Gothic" panose="020B0400000000000000" pitchFamily="34" charset="-128"/>
                          <a:ea typeface="Yu Gothic" panose="020B0400000000000000" pitchFamily="34" charset="-128"/>
                        </a:rPr>
                        <a:t>Comprehensiveness</a:t>
                      </a:r>
                      <a:endParaRPr kumimoji="1" lang="ja-JP" altLang="en-US" sz="1600"/>
                    </a:p>
                  </a:txBody>
                  <a:tcPr/>
                </a:tc>
                <a:tc>
                  <a:txBody>
                    <a:bodyPr/>
                    <a:lstStyle/>
                    <a:p>
                      <a:pPr algn="ctr"/>
                      <a:r>
                        <a:rPr kumimoji="1" lang="en-US" altLang="ja-JP" sz="1600" dirty="0"/>
                        <a:t>47.92</a:t>
                      </a:r>
                    </a:p>
                  </a:txBody>
                  <a:tcPr/>
                </a:tc>
                <a:tc>
                  <a:txBody>
                    <a:bodyPr/>
                    <a:lstStyle/>
                    <a:p>
                      <a:pPr algn="ctr"/>
                      <a:r>
                        <a:rPr kumimoji="1" lang="en-US" altLang="ja-JP" sz="1600" dirty="0"/>
                        <a:t>51.76</a:t>
                      </a:r>
                      <a:endParaRPr kumimoji="1" lang="ja-JP" altLang="en-US" sz="1600"/>
                    </a:p>
                  </a:txBody>
                  <a:tcPr/>
                </a:tc>
                <a:extLst>
                  <a:ext uri="{0D108BD9-81ED-4DB2-BD59-A6C34878D82A}">
                    <a16:rowId xmlns:a16="http://schemas.microsoft.com/office/drawing/2014/main" val="2424346290"/>
                  </a:ext>
                </a:extLst>
              </a:tr>
              <a:tr h="313420">
                <a:tc>
                  <a:txBody>
                    <a:bodyPr/>
                    <a:lstStyle/>
                    <a:p>
                      <a:pPr algn="ctr"/>
                      <a:r>
                        <a:rPr lang="en" altLang="ja-JP" sz="1600" dirty="0">
                          <a:effectLst/>
                          <a:latin typeface="Yu Gothic" panose="020B0400000000000000" pitchFamily="34" charset="-128"/>
                          <a:ea typeface="Yu Gothic" panose="020B0400000000000000" pitchFamily="34" charset="-128"/>
                        </a:rPr>
                        <a:t>Diversity</a:t>
                      </a:r>
                      <a:endParaRPr kumimoji="1" lang="ja-JP" altLang="en-US" sz="1600"/>
                    </a:p>
                  </a:txBody>
                  <a:tcPr/>
                </a:tc>
                <a:tc>
                  <a:txBody>
                    <a:bodyPr/>
                    <a:lstStyle/>
                    <a:p>
                      <a:pPr algn="ctr"/>
                      <a:r>
                        <a:rPr kumimoji="1" lang="en-US" altLang="ja-JP" sz="1600" dirty="0"/>
                        <a:t>48.88</a:t>
                      </a:r>
                      <a:endParaRPr kumimoji="1" lang="ja-JP" altLang="en-US" sz="1600"/>
                    </a:p>
                  </a:txBody>
                  <a:tcPr/>
                </a:tc>
                <a:tc>
                  <a:txBody>
                    <a:bodyPr/>
                    <a:lstStyle/>
                    <a:p>
                      <a:pPr algn="ctr"/>
                      <a:r>
                        <a:rPr kumimoji="1" lang="en-US" altLang="ja-JP" sz="1600" dirty="0"/>
                        <a:t>52.16</a:t>
                      </a:r>
                      <a:endParaRPr kumimoji="1" lang="ja-JP" altLang="en-US" sz="1600"/>
                    </a:p>
                  </a:txBody>
                  <a:tcPr/>
                </a:tc>
                <a:extLst>
                  <a:ext uri="{0D108BD9-81ED-4DB2-BD59-A6C34878D82A}">
                    <a16:rowId xmlns:a16="http://schemas.microsoft.com/office/drawing/2014/main" val="4099855847"/>
                  </a:ext>
                </a:extLst>
              </a:tr>
              <a:tr h="313420">
                <a:tc>
                  <a:txBody>
                    <a:bodyPr/>
                    <a:lstStyle/>
                    <a:p>
                      <a:pPr algn="ctr"/>
                      <a:r>
                        <a:rPr lang="en" altLang="ja-JP" sz="1600" dirty="0">
                          <a:effectLst/>
                          <a:latin typeface="Yu Gothic" panose="020B0400000000000000" pitchFamily="34" charset="-128"/>
                          <a:ea typeface="Yu Gothic" panose="020B0400000000000000" pitchFamily="34" charset="-128"/>
                        </a:rPr>
                        <a:t>Empowerment</a:t>
                      </a:r>
                      <a:endParaRPr kumimoji="1" lang="ja-JP" altLang="en-US" sz="1600"/>
                    </a:p>
                  </a:txBody>
                  <a:tcPr/>
                </a:tc>
                <a:tc>
                  <a:txBody>
                    <a:bodyPr/>
                    <a:lstStyle/>
                    <a:p>
                      <a:pPr algn="ctr"/>
                      <a:r>
                        <a:rPr kumimoji="1" lang="en-US" altLang="ja-JP" sz="1600" dirty="0"/>
                        <a:t>31.84</a:t>
                      </a:r>
                      <a:endParaRPr kumimoji="1" lang="ja-JP" altLang="en-US" sz="1600"/>
                    </a:p>
                  </a:txBody>
                  <a:tcPr/>
                </a:tc>
                <a:tc>
                  <a:txBody>
                    <a:bodyPr/>
                    <a:lstStyle/>
                    <a:p>
                      <a:pPr algn="ctr"/>
                      <a:r>
                        <a:rPr kumimoji="1" lang="en-US" altLang="ja-JP" sz="1600" dirty="0"/>
                        <a:t>54.72</a:t>
                      </a:r>
                      <a:endParaRPr kumimoji="1" lang="ja-JP" altLang="en-US" sz="1600"/>
                    </a:p>
                  </a:txBody>
                  <a:tcPr/>
                </a:tc>
                <a:extLst>
                  <a:ext uri="{0D108BD9-81ED-4DB2-BD59-A6C34878D82A}">
                    <a16:rowId xmlns:a16="http://schemas.microsoft.com/office/drawing/2014/main" val="2652287043"/>
                  </a:ext>
                </a:extLst>
              </a:tr>
              <a:tr h="313420">
                <a:tc>
                  <a:txBody>
                    <a:bodyPr/>
                    <a:lstStyle/>
                    <a:p>
                      <a:pPr algn="ctr"/>
                      <a:r>
                        <a:rPr lang="en" altLang="ja-JP" sz="1600" dirty="0">
                          <a:effectLst/>
                          <a:latin typeface="Yu Gothic" panose="020B0400000000000000" pitchFamily="34" charset="-128"/>
                          <a:ea typeface="Yu Gothic" panose="020B0400000000000000" pitchFamily="34" charset="-128"/>
                        </a:rPr>
                        <a:t>Directness</a:t>
                      </a:r>
                      <a:r>
                        <a:rPr lang="en-US" altLang="ja-JP" sz="1600" dirty="0">
                          <a:effectLst/>
                          <a:latin typeface="Yu Gothic" panose="020B0400000000000000" pitchFamily="34" charset="-128"/>
                          <a:ea typeface="Yu Gothic" panose="020B0400000000000000" pitchFamily="34" charset="-128"/>
                        </a:rPr>
                        <a:t> (</a:t>
                      </a:r>
                      <a:r>
                        <a:rPr lang="ja-JP" altLang="en-US" sz="1600">
                          <a:effectLst/>
                          <a:latin typeface="Yu Gothic" panose="020B0400000000000000" pitchFamily="34" charset="-128"/>
                          <a:ea typeface="Yu Gothic" panose="020B0400000000000000" pitchFamily="34" charset="-128"/>
                        </a:rPr>
                        <a:t>対称指標</a:t>
                      </a:r>
                      <a:r>
                        <a:rPr lang="en-US" altLang="ja-JP" sz="1600" dirty="0">
                          <a:effectLst/>
                          <a:latin typeface="Yu Gothic" panose="020B0400000000000000" pitchFamily="34" charset="-128"/>
                          <a:ea typeface="Yu Gothic" panose="020B0400000000000000" pitchFamily="34" charset="-128"/>
                        </a:rPr>
                        <a:t>)</a:t>
                      </a:r>
                      <a:endParaRPr kumimoji="1" lang="ja-JP" altLang="en-US" sz="1600"/>
                    </a:p>
                  </a:txBody>
                  <a:tcPr/>
                </a:tc>
                <a:tc>
                  <a:txBody>
                    <a:bodyPr/>
                    <a:lstStyle/>
                    <a:p>
                      <a:pPr algn="ctr"/>
                      <a:r>
                        <a:rPr kumimoji="1" lang="en-US" altLang="ja-JP" sz="1600" dirty="0"/>
                        <a:t>46.96</a:t>
                      </a:r>
                      <a:endParaRPr kumimoji="1" lang="ja-JP" altLang="en-US" sz="1600"/>
                    </a:p>
                  </a:txBody>
                  <a:tcPr/>
                </a:tc>
                <a:tc>
                  <a:txBody>
                    <a:bodyPr/>
                    <a:lstStyle/>
                    <a:p>
                      <a:pPr algn="ctr"/>
                      <a:r>
                        <a:rPr kumimoji="1" lang="en-US" altLang="ja-JP" sz="1600" dirty="0"/>
                        <a:t>49.60</a:t>
                      </a:r>
                      <a:endParaRPr kumimoji="1" lang="ja-JP" altLang="en-US" sz="1600"/>
                    </a:p>
                  </a:txBody>
                  <a:tcPr/>
                </a:tc>
                <a:extLst>
                  <a:ext uri="{0D108BD9-81ED-4DB2-BD59-A6C34878D82A}">
                    <a16:rowId xmlns:a16="http://schemas.microsoft.com/office/drawing/2014/main" val="2576422520"/>
                  </a:ext>
                </a:extLst>
              </a:tr>
            </a:tbl>
          </a:graphicData>
        </a:graphic>
      </p:graphicFrame>
      <p:sp>
        <p:nvSpPr>
          <p:cNvPr id="18" name="テキスト ボックス 17">
            <a:extLst>
              <a:ext uri="{FF2B5EF4-FFF2-40B4-BE49-F238E27FC236}">
                <a16:creationId xmlns:a16="http://schemas.microsoft.com/office/drawing/2014/main" id="{0B2690E9-3B6C-5DBC-6323-63A8E046DB7B}"/>
              </a:ext>
            </a:extLst>
          </p:cNvPr>
          <p:cNvSpPr txBox="1"/>
          <p:nvPr/>
        </p:nvSpPr>
        <p:spPr>
          <a:xfrm>
            <a:off x="1179591" y="5676084"/>
            <a:ext cx="3656445" cy="369332"/>
          </a:xfrm>
          <a:prstGeom prst="rect">
            <a:avLst/>
          </a:prstGeom>
          <a:noFill/>
        </p:spPr>
        <p:txBody>
          <a:bodyPr wrap="square">
            <a:spAutoFit/>
          </a:bodyPr>
          <a:lstStyle/>
          <a:p>
            <a:pPr algn="ctr"/>
            <a:r>
              <a:rPr lang="en" altLang="ja-JP" dirty="0">
                <a:solidFill>
                  <a:schemeClr val="tx2"/>
                </a:solidFill>
                <a:latin typeface="Yu Gothic" panose="020B0400000000000000" pitchFamily="34" charset="-128"/>
                <a:ea typeface="Yu Gothic" panose="020B0400000000000000" pitchFamily="34" charset="-128"/>
              </a:rPr>
              <a:t>Comprehensiveness</a:t>
            </a:r>
            <a:endParaRPr lang="ja-JP" altLang="en-US" sz="2400">
              <a:solidFill>
                <a:schemeClr val="tx2"/>
              </a:solidFill>
            </a:endParaRPr>
          </a:p>
        </p:txBody>
      </p:sp>
      <p:graphicFrame>
        <p:nvGraphicFramePr>
          <p:cNvPr id="19" name="グラフ 18">
            <a:extLst>
              <a:ext uri="{FF2B5EF4-FFF2-40B4-BE49-F238E27FC236}">
                <a16:creationId xmlns:a16="http://schemas.microsoft.com/office/drawing/2014/main" id="{5419C67C-1279-806E-3856-A4F2E572A91C}"/>
              </a:ext>
            </a:extLst>
          </p:cNvPr>
          <p:cNvGraphicFramePr/>
          <p:nvPr>
            <p:extLst>
              <p:ext uri="{D42A27DB-BD31-4B8C-83A1-F6EECF244321}">
                <p14:modId xmlns:p14="http://schemas.microsoft.com/office/powerpoint/2010/main" val="3773887570"/>
              </p:ext>
            </p:extLst>
          </p:nvPr>
        </p:nvGraphicFramePr>
        <p:xfrm>
          <a:off x="7721506" y="1099752"/>
          <a:ext cx="4259918" cy="336768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7972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53A1C6-72DE-E4A1-06CF-ABF032C9C290}"/>
            </a:ext>
          </a:extLst>
        </p:cNvPr>
        <p:cNvGrpSpPr/>
        <p:nvPr/>
      </p:nvGrpSpPr>
      <p:grpSpPr>
        <a:xfrm>
          <a:off x="0" y="0"/>
          <a:ext cx="0" cy="0"/>
          <a:chOff x="0" y="0"/>
          <a:chExt cx="0" cy="0"/>
        </a:xfrm>
      </p:grpSpPr>
      <p:sp>
        <p:nvSpPr>
          <p:cNvPr id="62" name="角丸四角形 61">
            <a:extLst>
              <a:ext uri="{FF2B5EF4-FFF2-40B4-BE49-F238E27FC236}">
                <a16:creationId xmlns:a16="http://schemas.microsoft.com/office/drawing/2014/main" id="{137B088E-48A8-AEA0-23E9-93CC87295DA7}"/>
              </a:ext>
            </a:extLst>
          </p:cNvPr>
          <p:cNvSpPr/>
          <p:nvPr/>
        </p:nvSpPr>
        <p:spPr>
          <a:xfrm>
            <a:off x="2189485" y="4508621"/>
            <a:ext cx="2364581" cy="788892"/>
          </a:xfrm>
          <a:prstGeom prst="roundRect">
            <a:avLst/>
          </a:prstGeom>
          <a:solidFill>
            <a:schemeClr val="accent1">
              <a:lumMod val="20000"/>
              <a:lumOff val="80000"/>
              <a:alpha val="5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角丸四角形 64">
            <a:extLst>
              <a:ext uri="{FF2B5EF4-FFF2-40B4-BE49-F238E27FC236}">
                <a16:creationId xmlns:a16="http://schemas.microsoft.com/office/drawing/2014/main" id="{B962A483-6D90-CF5A-C141-082AF3ED3513}"/>
              </a:ext>
            </a:extLst>
          </p:cNvPr>
          <p:cNvSpPr/>
          <p:nvPr/>
        </p:nvSpPr>
        <p:spPr>
          <a:xfrm>
            <a:off x="3751494" y="4739413"/>
            <a:ext cx="1310722" cy="1013748"/>
          </a:xfrm>
          <a:prstGeom prst="roundRect">
            <a:avLst/>
          </a:prstGeom>
          <a:solidFill>
            <a:schemeClr val="accent6">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3">
            <a:extLst>
              <a:ext uri="{FF2B5EF4-FFF2-40B4-BE49-F238E27FC236}">
                <a16:creationId xmlns:a16="http://schemas.microsoft.com/office/drawing/2014/main" id="{A1D59FD1-BC90-D896-31C3-9E72A6C19ADA}"/>
              </a:ext>
            </a:extLst>
          </p:cNvPr>
          <p:cNvSpPr>
            <a:spLocks noGrp="1"/>
          </p:cNvSpPr>
          <p:nvPr>
            <p:ph type="body" sz="quarter" idx="11"/>
          </p:nvPr>
        </p:nvSpPr>
        <p:spPr/>
        <p:txBody>
          <a:bodyPr>
            <a:normAutofit fontScale="92500" lnSpcReduction="20000"/>
          </a:bodyPr>
          <a:lstStyle/>
          <a:p>
            <a:r>
              <a:rPr kumimoji="1" lang="ja-JP" altLang="en-US"/>
              <a:t>提案手法</a:t>
            </a:r>
            <a:r>
              <a:rPr kumimoji="1" lang="en-US" altLang="ja-JP" dirty="0"/>
              <a:t>−</a:t>
            </a:r>
            <a:r>
              <a:rPr lang="ja-JP" altLang="en-US"/>
              <a:t>複数</a:t>
            </a:r>
            <a:r>
              <a:rPr kumimoji="1" lang="ja-JP" altLang="en-US"/>
              <a:t>のワークフローをスキップし</a:t>
            </a:r>
            <a:r>
              <a:rPr lang="en-US" altLang="ja-JP" dirty="0"/>
              <a:t>, </a:t>
            </a:r>
            <a:r>
              <a:rPr lang="ja-JP" altLang="en-US"/>
              <a:t>大幅なコスト削減</a:t>
            </a:r>
            <a:endParaRPr kumimoji="1" lang="en" altLang="ja-JP" dirty="0"/>
          </a:p>
        </p:txBody>
      </p:sp>
      <p:sp>
        <p:nvSpPr>
          <p:cNvPr id="2" name="正方形/長方形 1">
            <a:extLst>
              <a:ext uri="{FF2B5EF4-FFF2-40B4-BE49-F238E27FC236}">
                <a16:creationId xmlns:a16="http://schemas.microsoft.com/office/drawing/2014/main" id="{8C5DD3AB-FCCC-2F0A-D04D-50A7D3491520}"/>
              </a:ext>
            </a:extLst>
          </p:cNvPr>
          <p:cNvSpPr/>
          <p:nvPr/>
        </p:nvSpPr>
        <p:spPr>
          <a:xfrm>
            <a:off x="923077" y="1345996"/>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6" name="正方形/長方形 5">
            <a:extLst>
              <a:ext uri="{FF2B5EF4-FFF2-40B4-BE49-F238E27FC236}">
                <a16:creationId xmlns:a16="http://schemas.microsoft.com/office/drawing/2014/main" id="{57094032-6416-EDDA-9013-9866D8F7B7E7}"/>
              </a:ext>
            </a:extLst>
          </p:cNvPr>
          <p:cNvSpPr/>
          <p:nvPr/>
        </p:nvSpPr>
        <p:spPr>
          <a:xfrm>
            <a:off x="3872852" y="1315828"/>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企業</a:t>
            </a:r>
            <a:r>
              <a:rPr lang="en-US" altLang="ja-JP" sz="1200" dirty="0"/>
              <a:t>a</a:t>
            </a:r>
            <a:endParaRPr kumimoji="1" lang="ja-JP" altLang="en-US" sz="1200"/>
          </a:p>
        </p:txBody>
      </p:sp>
      <p:sp>
        <p:nvSpPr>
          <p:cNvPr id="7" name="正方形/長方形 6">
            <a:extLst>
              <a:ext uri="{FF2B5EF4-FFF2-40B4-BE49-F238E27FC236}">
                <a16:creationId xmlns:a16="http://schemas.microsoft.com/office/drawing/2014/main" id="{4AC5E495-91CC-08FD-060C-01505854A11A}"/>
              </a:ext>
            </a:extLst>
          </p:cNvPr>
          <p:cNvSpPr/>
          <p:nvPr/>
        </p:nvSpPr>
        <p:spPr>
          <a:xfrm>
            <a:off x="4715598" y="1668374"/>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人物</a:t>
            </a:r>
            <a:r>
              <a:rPr lang="en-US" altLang="ja-JP" sz="1200" dirty="0"/>
              <a:t>b</a:t>
            </a:r>
            <a:endParaRPr kumimoji="1" lang="ja-JP" altLang="en-US" sz="1200"/>
          </a:p>
        </p:txBody>
      </p:sp>
      <p:sp>
        <p:nvSpPr>
          <p:cNvPr id="8" name="正方形/長方形 7">
            <a:extLst>
              <a:ext uri="{FF2B5EF4-FFF2-40B4-BE49-F238E27FC236}">
                <a16:creationId xmlns:a16="http://schemas.microsoft.com/office/drawing/2014/main" id="{65445739-6841-2B51-CD9B-F4744BF5B038}"/>
              </a:ext>
            </a:extLst>
          </p:cNvPr>
          <p:cNvSpPr/>
          <p:nvPr/>
        </p:nvSpPr>
        <p:spPr>
          <a:xfrm>
            <a:off x="3872852" y="2037573"/>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商品</a:t>
            </a:r>
            <a:r>
              <a:rPr lang="en-US" altLang="ja-JP" sz="1200" dirty="0"/>
              <a:t>c</a:t>
            </a:r>
            <a:endParaRPr kumimoji="1" lang="ja-JP" altLang="en-US" sz="1200"/>
          </a:p>
        </p:txBody>
      </p:sp>
      <p:sp>
        <p:nvSpPr>
          <p:cNvPr id="9" name="正方形/長方形 8">
            <a:extLst>
              <a:ext uri="{FF2B5EF4-FFF2-40B4-BE49-F238E27FC236}">
                <a16:creationId xmlns:a16="http://schemas.microsoft.com/office/drawing/2014/main" id="{F76BE208-CCB5-13A8-B6E7-AA7EC469E6DC}"/>
              </a:ext>
            </a:extLst>
          </p:cNvPr>
          <p:cNvSpPr/>
          <p:nvPr/>
        </p:nvSpPr>
        <p:spPr>
          <a:xfrm>
            <a:off x="4700718" y="2371007"/>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場所</a:t>
            </a:r>
            <a:r>
              <a:rPr lang="en-US" altLang="ja-JP" sz="1200" dirty="0"/>
              <a:t>d</a:t>
            </a:r>
            <a:endParaRPr kumimoji="1" lang="ja-JP" altLang="en-US" sz="1200"/>
          </a:p>
        </p:txBody>
      </p:sp>
      <p:sp>
        <p:nvSpPr>
          <p:cNvPr id="10" name="正方形/長方形 9">
            <a:extLst>
              <a:ext uri="{FF2B5EF4-FFF2-40B4-BE49-F238E27FC236}">
                <a16:creationId xmlns:a16="http://schemas.microsoft.com/office/drawing/2014/main" id="{C58D9D68-1F24-D365-C14F-BE7EC9B5E84F}"/>
              </a:ext>
            </a:extLst>
          </p:cNvPr>
          <p:cNvSpPr/>
          <p:nvPr/>
        </p:nvSpPr>
        <p:spPr>
          <a:xfrm>
            <a:off x="683426" y="1210460"/>
            <a:ext cx="1188473"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1CD31AE-188B-69A4-0C27-3354ADCA93EB}"/>
              </a:ext>
            </a:extLst>
          </p:cNvPr>
          <p:cNvSpPr/>
          <p:nvPr/>
        </p:nvSpPr>
        <p:spPr>
          <a:xfrm>
            <a:off x="917983" y="1700358"/>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12" name="正方形/長方形 11">
            <a:extLst>
              <a:ext uri="{FF2B5EF4-FFF2-40B4-BE49-F238E27FC236}">
                <a16:creationId xmlns:a16="http://schemas.microsoft.com/office/drawing/2014/main" id="{24B69867-F656-7D73-5F08-907BFEF795B4}"/>
              </a:ext>
            </a:extLst>
          </p:cNvPr>
          <p:cNvSpPr/>
          <p:nvPr/>
        </p:nvSpPr>
        <p:spPr>
          <a:xfrm>
            <a:off x="3784533" y="1210460"/>
            <a:ext cx="1666350"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8632E70-DEA7-8E22-FCC2-2EC6BCAA89C6}"/>
              </a:ext>
            </a:extLst>
          </p:cNvPr>
          <p:cNvSpPr/>
          <p:nvPr/>
        </p:nvSpPr>
        <p:spPr>
          <a:xfrm>
            <a:off x="2069721" y="1210460"/>
            <a:ext cx="1535991"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30CA139-C42E-F470-B309-6B2113A534A1}"/>
              </a:ext>
            </a:extLst>
          </p:cNvPr>
          <p:cNvSpPr txBox="1"/>
          <p:nvPr/>
        </p:nvSpPr>
        <p:spPr>
          <a:xfrm>
            <a:off x="2074597" y="1184261"/>
            <a:ext cx="1526238" cy="1738938"/>
          </a:xfrm>
          <a:prstGeom prst="rect">
            <a:avLst/>
          </a:prstGeom>
          <a:noFill/>
        </p:spPr>
        <p:txBody>
          <a:bodyPr wrap="square" rtlCol="0">
            <a:spAutoFit/>
          </a:bodyPr>
          <a:lstStyle/>
          <a:p>
            <a:pPr algn="ctr"/>
            <a:r>
              <a:rPr kumimoji="1" lang="ja-JP" altLang="en-US" sz="1400" b="1"/>
              <a:t>エンティティ</a:t>
            </a:r>
            <a:endParaRPr kumimoji="1" lang="en-US" altLang="ja-JP" sz="1400" b="1" dirty="0"/>
          </a:p>
          <a:p>
            <a:pPr algn="ctr"/>
            <a:r>
              <a:rPr kumimoji="1" lang="ja-JP" altLang="en-US" sz="1400"/>
              <a:t>企業</a:t>
            </a:r>
            <a:r>
              <a:rPr lang="en-US" altLang="ja-JP" sz="1400" dirty="0"/>
              <a:t>a</a:t>
            </a:r>
            <a:r>
              <a:rPr lang="ja-JP" altLang="en-US" sz="1400"/>
              <a:t>　人物</a:t>
            </a:r>
            <a:r>
              <a:rPr lang="en-US" altLang="ja-JP" sz="1400" dirty="0"/>
              <a:t>b</a:t>
            </a:r>
          </a:p>
          <a:p>
            <a:pPr algn="ctr"/>
            <a:r>
              <a:rPr lang="ja-JP" altLang="en-US" sz="1400"/>
              <a:t>商品</a:t>
            </a:r>
            <a:r>
              <a:rPr lang="en-US" altLang="ja-JP" sz="1400" dirty="0"/>
              <a:t>c</a:t>
            </a:r>
            <a:r>
              <a:rPr lang="ja-JP" altLang="en-US" sz="1400"/>
              <a:t>　場所</a:t>
            </a:r>
            <a:r>
              <a:rPr lang="en-US" altLang="ja-JP" sz="1400" dirty="0"/>
              <a:t>d</a:t>
            </a:r>
          </a:p>
          <a:p>
            <a:pPr algn="ctr"/>
            <a:endParaRPr lang="en-US" altLang="ja-JP" sz="600" dirty="0"/>
          </a:p>
          <a:p>
            <a:pPr algn="ctr"/>
            <a:r>
              <a:rPr lang="ja-JP" altLang="en-US" sz="1400" b="1"/>
              <a:t>関係</a:t>
            </a:r>
            <a:endParaRPr lang="en-US" altLang="ja-JP" sz="1400" b="1" dirty="0"/>
          </a:p>
          <a:p>
            <a:pPr algn="ctr"/>
            <a:r>
              <a:rPr lang="en-US" altLang="ja-JP" sz="1400" dirty="0"/>
              <a:t>b</a:t>
            </a:r>
            <a:r>
              <a:rPr lang="ja-JP" altLang="en-US" sz="1400"/>
              <a:t>は</a:t>
            </a:r>
            <a:r>
              <a:rPr lang="en-US" altLang="ja-JP" sz="1400" dirty="0"/>
              <a:t>a</a:t>
            </a:r>
            <a:r>
              <a:rPr lang="ja-JP" altLang="en-US" sz="1400"/>
              <a:t>に所属</a:t>
            </a:r>
            <a:endParaRPr lang="en-US" altLang="ja-JP" sz="1400" dirty="0"/>
          </a:p>
          <a:p>
            <a:pPr algn="ctr"/>
            <a:r>
              <a:rPr lang="en-US" altLang="ja-JP" sz="1400" dirty="0"/>
              <a:t>c</a:t>
            </a:r>
            <a:r>
              <a:rPr lang="ja-JP" altLang="en-US" sz="1400"/>
              <a:t>は</a:t>
            </a:r>
            <a:r>
              <a:rPr lang="en-US" altLang="ja-JP" sz="1400" dirty="0"/>
              <a:t>a</a:t>
            </a:r>
            <a:r>
              <a:rPr lang="ja-JP" altLang="en-US" sz="1400"/>
              <a:t>が開発</a:t>
            </a:r>
            <a:endParaRPr lang="en-US" altLang="ja-JP" sz="1400" dirty="0"/>
          </a:p>
          <a:p>
            <a:pPr algn="ctr"/>
            <a:r>
              <a:rPr lang="en-US" altLang="ja-JP" sz="1400" dirty="0"/>
              <a:t>b</a:t>
            </a:r>
            <a:r>
              <a:rPr lang="ja-JP" altLang="en-US" sz="1400"/>
              <a:t>は</a:t>
            </a:r>
            <a:r>
              <a:rPr lang="en-US" altLang="ja-JP" sz="1400" dirty="0"/>
              <a:t>d</a:t>
            </a:r>
            <a:r>
              <a:rPr lang="ja-JP" altLang="en-US" sz="1400"/>
              <a:t>に居住</a:t>
            </a:r>
            <a:endParaRPr lang="en-US" altLang="ja-JP" sz="1400" dirty="0"/>
          </a:p>
        </p:txBody>
      </p:sp>
      <p:cxnSp>
        <p:nvCxnSpPr>
          <p:cNvPr id="19" name="直線矢印コネクタ 18">
            <a:extLst>
              <a:ext uri="{FF2B5EF4-FFF2-40B4-BE49-F238E27FC236}">
                <a16:creationId xmlns:a16="http://schemas.microsoft.com/office/drawing/2014/main" id="{10FB1E98-7445-2E3D-16D2-16236F0A3272}"/>
              </a:ext>
            </a:extLst>
          </p:cNvPr>
          <p:cNvCxnSpPr>
            <a:cxnSpLocks/>
            <a:stCxn id="10" idx="3"/>
            <a:endCxn id="13" idx="1"/>
          </p:cNvCxnSpPr>
          <p:nvPr/>
        </p:nvCxnSpPr>
        <p:spPr>
          <a:xfrm>
            <a:off x="1871899" y="2024205"/>
            <a:ext cx="1978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5D7A0EBF-BFE3-A563-010F-4311403C9852}"/>
              </a:ext>
            </a:extLst>
          </p:cNvPr>
          <p:cNvSpPr txBox="1"/>
          <p:nvPr/>
        </p:nvSpPr>
        <p:spPr>
          <a:xfrm>
            <a:off x="1567171" y="910903"/>
            <a:ext cx="2536211" cy="338554"/>
          </a:xfrm>
          <a:prstGeom prst="rect">
            <a:avLst/>
          </a:prstGeom>
          <a:noFill/>
        </p:spPr>
        <p:txBody>
          <a:bodyPr wrap="square" rtlCol="0">
            <a:spAutoFit/>
          </a:bodyPr>
          <a:lstStyle/>
          <a:p>
            <a:pPr algn="ctr"/>
            <a:r>
              <a:rPr lang="ja-JP" altLang="en-US" sz="1600"/>
              <a:t>エンティティ</a:t>
            </a:r>
            <a:r>
              <a:rPr lang="en-US" altLang="ja-JP" sz="1600" dirty="0"/>
              <a:t>/</a:t>
            </a:r>
            <a:r>
              <a:rPr lang="ja-JP" altLang="en-US" sz="1600"/>
              <a:t>関係抽出</a:t>
            </a:r>
            <a:endParaRPr kumimoji="1" lang="ja-JP" altLang="en-US" sz="1600"/>
          </a:p>
        </p:txBody>
      </p:sp>
      <p:sp>
        <p:nvSpPr>
          <p:cNvPr id="22" name="テキスト ボックス 21">
            <a:extLst>
              <a:ext uri="{FF2B5EF4-FFF2-40B4-BE49-F238E27FC236}">
                <a16:creationId xmlns:a16="http://schemas.microsoft.com/office/drawing/2014/main" id="{3521847E-F22D-CE5A-CC29-4E1793942BF1}"/>
              </a:ext>
            </a:extLst>
          </p:cNvPr>
          <p:cNvSpPr txBox="1"/>
          <p:nvPr/>
        </p:nvSpPr>
        <p:spPr>
          <a:xfrm>
            <a:off x="3014547" y="917307"/>
            <a:ext cx="3206322" cy="338554"/>
          </a:xfrm>
          <a:prstGeom prst="rect">
            <a:avLst/>
          </a:prstGeom>
          <a:noFill/>
        </p:spPr>
        <p:txBody>
          <a:bodyPr wrap="square" rtlCol="0">
            <a:spAutoFit/>
          </a:bodyPr>
          <a:lstStyle/>
          <a:p>
            <a:pPr algn="ctr"/>
            <a:r>
              <a:rPr kumimoji="1" lang="ja-JP" altLang="en-US" sz="1600"/>
              <a:t>グラフ生成</a:t>
            </a:r>
          </a:p>
        </p:txBody>
      </p:sp>
      <p:cxnSp>
        <p:nvCxnSpPr>
          <p:cNvPr id="23" name="直線矢印コネクタ 22">
            <a:extLst>
              <a:ext uri="{FF2B5EF4-FFF2-40B4-BE49-F238E27FC236}">
                <a16:creationId xmlns:a16="http://schemas.microsoft.com/office/drawing/2014/main" id="{5F9C3CB6-FAB3-426A-D534-817FD541DCE3}"/>
              </a:ext>
            </a:extLst>
          </p:cNvPr>
          <p:cNvCxnSpPr>
            <a:cxnSpLocks/>
            <a:stCxn id="13" idx="3"/>
            <a:endCxn id="12" idx="1"/>
          </p:cNvCxnSpPr>
          <p:nvPr/>
        </p:nvCxnSpPr>
        <p:spPr>
          <a:xfrm>
            <a:off x="3605712" y="2024205"/>
            <a:ext cx="1788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21E2DFC2-1FB7-5A5A-3F48-FA2D34376D67}"/>
              </a:ext>
            </a:extLst>
          </p:cNvPr>
          <p:cNvCxnSpPr>
            <a:cxnSpLocks/>
            <a:stCxn id="6" idx="2"/>
            <a:endCxn id="8" idx="0"/>
          </p:cNvCxnSpPr>
          <p:nvPr/>
        </p:nvCxnSpPr>
        <p:spPr>
          <a:xfrm>
            <a:off x="4204815" y="1637372"/>
            <a:ext cx="0" cy="400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067D8B76-29F4-0AAF-0490-011EDE8081A0}"/>
              </a:ext>
            </a:extLst>
          </p:cNvPr>
          <p:cNvCxnSpPr>
            <a:cxnSpLocks/>
            <a:stCxn id="7" idx="0"/>
            <a:endCxn id="6" idx="3"/>
          </p:cNvCxnSpPr>
          <p:nvPr/>
        </p:nvCxnSpPr>
        <p:spPr>
          <a:xfrm flipH="1" flipV="1">
            <a:off x="4536778" y="1476600"/>
            <a:ext cx="510783" cy="191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ACF784A6-B1BF-A429-0112-FB9B0A9A13D8}"/>
              </a:ext>
            </a:extLst>
          </p:cNvPr>
          <p:cNvCxnSpPr>
            <a:cxnSpLocks/>
            <a:stCxn id="7" idx="2"/>
            <a:endCxn id="9" idx="0"/>
          </p:cNvCxnSpPr>
          <p:nvPr/>
        </p:nvCxnSpPr>
        <p:spPr>
          <a:xfrm flipH="1">
            <a:off x="5032681" y="1989918"/>
            <a:ext cx="14880" cy="381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CCA7973B-3BE8-1489-8CD8-1F632EDC05CC}"/>
              </a:ext>
            </a:extLst>
          </p:cNvPr>
          <p:cNvSpPr txBox="1"/>
          <p:nvPr/>
        </p:nvSpPr>
        <p:spPr>
          <a:xfrm>
            <a:off x="3855565" y="1699795"/>
            <a:ext cx="698500" cy="276999"/>
          </a:xfrm>
          <a:prstGeom prst="rect">
            <a:avLst/>
          </a:prstGeom>
          <a:noFill/>
        </p:spPr>
        <p:txBody>
          <a:bodyPr wrap="square" rtlCol="0">
            <a:spAutoFit/>
          </a:bodyPr>
          <a:lstStyle/>
          <a:p>
            <a:pPr algn="ctr"/>
            <a:r>
              <a:rPr kumimoji="1" lang="ja-JP" altLang="en-US" sz="1200"/>
              <a:t>開発</a:t>
            </a:r>
          </a:p>
        </p:txBody>
      </p:sp>
      <p:sp>
        <p:nvSpPr>
          <p:cNvPr id="47" name="テキスト ボックス 46">
            <a:extLst>
              <a:ext uri="{FF2B5EF4-FFF2-40B4-BE49-F238E27FC236}">
                <a16:creationId xmlns:a16="http://schemas.microsoft.com/office/drawing/2014/main" id="{9E8DED71-B482-90AE-23C1-A7839AC2F869}"/>
              </a:ext>
            </a:extLst>
          </p:cNvPr>
          <p:cNvSpPr txBox="1"/>
          <p:nvPr/>
        </p:nvSpPr>
        <p:spPr>
          <a:xfrm>
            <a:off x="4561511" y="1357306"/>
            <a:ext cx="698500" cy="276999"/>
          </a:xfrm>
          <a:prstGeom prst="rect">
            <a:avLst/>
          </a:prstGeom>
          <a:noFill/>
        </p:spPr>
        <p:txBody>
          <a:bodyPr wrap="square" rtlCol="0">
            <a:spAutoFit/>
          </a:bodyPr>
          <a:lstStyle/>
          <a:p>
            <a:pPr algn="ctr"/>
            <a:r>
              <a:rPr kumimoji="1" lang="ja-JP" altLang="en-US" sz="1200"/>
              <a:t>所属</a:t>
            </a:r>
          </a:p>
        </p:txBody>
      </p:sp>
      <p:sp>
        <p:nvSpPr>
          <p:cNvPr id="48" name="テキスト ボックス 47">
            <a:extLst>
              <a:ext uri="{FF2B5EF4-FFF2-40B4-BE49-F238E27FC236}">
                <a16:creationId xmlns:a16="http://schemas.microsoft.com/office/drawing/2014/main" id="{DD830E1E-FEAB-076D-626B-F3C436561D18}"/>
              </a:ext>
            </a:extLst>
          </p:cNvPr>
          <p:cNvSpPr txBox="1"/>
          <p:nvPr/>
        </p:nvSpPr>
        <p:spPr>
          <a:xfrm>
            <a:off x="4698311" y="2034497"/>
            <a:ext cx="698500" cy="276999"/>
          </a:xfrm>
          <a:prstGeom prst="rect">
            <a:avLst/>
          </a:prstGeom>
          <a:noFill/>
        </p:spPr>
        <p:txBody>
          <a:bodyPr wrap="square" rtlCol="0">
            <a:spAutoFit/>
          </a:bodyPr>
          <a:lstStyle/>
          <a:p>
            <a:pPr algn="ctr"/>
            <a:r>
              <a:rPr kumimoji="1" lang="ja-JP" altLang="en-US" sz="1200"/>
              <a:t>居住</a:t>
            </a:r>
          </a:p>
        </p:txBody>
      </p:sp>
      <p:sp>
        <p:nvSpPr>
          <p:cNvPr id="49" name="正方形/長方形 48">
            <a:extLst>
              <a:ext uri="{FF2B5EF4-FFF2-40B4-BE49-F238E27FC236}">
                <a16:creationId xmlns:a16="http://schemas.microsoft.com/office/drawing/2014/main" id="{95625024-1ADA-1CE5-CA6F-1074F0C52CD5}"/>
              </a:ext>
            </a:extLst>
          </p:cNvPr>
          <p:cNvSpPr/>
          <p:nvPr/>
        </p:nvSpPr>
        <p:spPr>
          <a:xfrm>
            <a:off x="924620" y="2053304"/>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54" name="正方形/長方形 53">
            <a:extLst>
              <a:ext uri="{FF2B5EF4-FFF2-40B4-BE49-F238E27FC236}">
                <a16:creationId xmlns:a16="http://schemas.microsoft.com/office/drawing/2014/main" id="{D5E9FA52-DD7D-4196-ADE4-AA02BD011C64}"/>
              </a:ext>
            </a:extLst>
          </p:cNvPr>
          <p:cNvSpPr/>
          <p:nvPr/>
        </p:nvSpPr>
        <p:spPr>
          <a:xfrm>
            <a:off x="2235967" y="4864907"/>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55" name="正方形/長方形 54">
            <a:extLst>
              <a:ext uri="{FF2B5EF4-FFF2-40B4-BE49-F238E27FC236}">
                <a16:creationId xmlns:a16="http://schemas.microsoft.com/office/drawing/2014/main" id="{E9A6DDE1-3AD1-ACBC-CB0F-F12EA989718A}"/>
              </a:ext>
            </a:extLst>
          </p:cNvPr>
          <p:cNvSpPr/>
          <p:nvPr/>
        </p:nvSpPr>
        <p:spPr>
          <a:xfrm>
            <a:off x="2105268" y="4231167"/>
            <a:ext cx="3372845" cy="162748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14E8A7F8-E009-B5BD-8066-87653807493F}"/>
              </a:ext>
            </a:extLst>
          </p:cNvPr>
          <p:cNvSpPr/>
          <p:nvPr/>
        </p:nvSpPr>
        <p:spPr>
          <a:xfrm>
            <a:off x="2984092" y="4864907"/>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57" name="正方形/長方形 56">
            <a:extLst>
              <a:ext uri="{FF2B5EF4-FFF2-40B4-BE49-F238E27FC236}">
                <a16:creationId xmlns:a16="http://schemas.microsoft.com/office/drawing/2014/main" id="{3CA483FB-1129-8C38-C09C-986D15F0959E}"/>
              </a:ext>
            </a:extLst>
          </p:cNvPr>
          <p:cNvSpPr/>
          <p:nvPr/>
        </p:nvSpPr>
        <p:spPr>
          <a:xfrm>
            <a:off x="3848725" y="4868256"/>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63" name="正方形/長方形 62">
            <a:extLst>
              <a:ext uri="{FF2B5EF4-FFF2-40B4-BE49-F238E27FC236}">
                <a16:creationId xmlns:a16="http://schemas.microsoft.com/office/drawing/2014/main" id="{7473CEC1-8DDD-9E84-4481-19EFA8335016}"/>
              </a:ext>
            </a:extLst>
          </p:cNvPr>
          <p:cNvSpPr/>
          <p:nvPr/>
        </p:nvSpPr>
        <p:spPr>
          <a:xfrm>
            <a:off x="3043026" y="4367314"/>
            <a:ext cx="657498" cy="3215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単語</a:t>
            </a:r>
            <a:r>
              <a:rPr kumimoji="1" lang="en-US" altLang="ja-JP" sz="1200" dirty="0">
                <a:solidFill>
                  <a:sysClr val="windowText" lastClr="000000"/>
                </a:solidFill>
              </a:rPr>
              <a:t>a</a:t>
            </a:r>
            <a:endParaRPr kumimoji="1" lang="ja-JP" altLang="en-US" sz="1200">
              <a:solidFill>
                <a:sysClr val="windowText" lastClr="000000"/>
              </a:solidFill>
            </a:endParaRPr>
          </a:p>
        </p:txBody>
      </p:sp>
      <p:sp>
        <p:nvSpPr>
          <p:cNvPr id="67" name="正方形/長方形 66">
            <a:extLst>
              <a:ext uri="{FF2B5EF4-FFF2-40B4-BE49-F238E27FC236}">
                <a16:creationId xmlns:a16="http://schemas.microsoft.com/office/drawing/2014/main" id="{3443FECB-BC88-BF69-3D50-BC9F2E36FE7F}"/>
              </a:ext>
            </a:extLst>
          </p:cNvPr>
          <p:cNvSpPr/>
          <p:nvPr/>
        </p:nvSpPr>
        <p:spPr>
          <a:xfrm>
            <a:off x="3848725" y="5380862"/>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sp>
        <p:nvSpPr>
          <p:cNvPr id="68" name="正方形/長方形 67">
            <a:extLst>
              <a:ext uri="{FF2B5EF4-FFF2-40B4-BE49-F238E27FC236}">
                <a16:creationId xmlns:a16="http://schemas.microsoft.com/office/drawing/2014/main" id="{FC0F269F-9D31-E1DA-CC4A-4CE4C2D9A5BB}"/>
              </a:ext>
            </a:extLst>
          </p:cNvPr>
          <p:cNvSpPr/>
          <p:nvPr/>
        </p:nvSpPr>
        <p:spPr>
          <a:xfrm>
            <a:off x="4674470" y="5179782"/>
            <a:ext cx="657498" cy="32154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ysClr val="windowText" lastClr="000000"/>
                </a:solidFill>
              </a:rPr>
              <a:t>単語</a:t>
            </a:r>
            <a:r>
              <a:rPr lang="en-US" altLang="ja-JP" sz="1200" dirty="0">
                <a:solidFill>
                  <a:sysClr val="windowText" lastClr="000000"/>
                </a:solidFill>
              </a:rPr>
              <a:t>b</a:t>
            </a:r>
            <a:endParaRPr kumimoji="1" lang="ja-JP" altLang="en-US" sz="1200">
              <a:solidFill>
                <a:sysClr val="windowText" lastClr="000000"/>
              </a:solidFill>
            </a:endParaRPr>
          </a:p>
        </p:txBody>
      </p:sp>
      <p:sp>
        <p:nvSpPr>
          <p:cNvPr id="76" name="テキスト ボックス 75">
            <a:extLst>
              <a:ext uri="{FF2B5EF4-FFF2-40B4-BE49-F238E27FC236}">
                <a16:creationId xmlns:a16="http://schemas.microsoft.com/office/drawing/2014/main" id="{7D330417-E573-DF5D-6AAB-987D685BFB16}"/>
              </a:ext>
            </a:extLst>
          </p:cNvPr>
          <p:cNvSpPr txBox="1"/>
          <p:nvPr/>
        </p:nvSpPr>
        <p:spPr>
          <a:xfrm>
            <a:off x="182317" y="1315828"/>
            <a:ext cx="291558" cy="2308324"/>
          </a:xfrm>
          <a:prstGeom prst="rect">
            <a:avLst/>
          </a:prstGeom>
          <a:noFill/>
        </p:spPr>
        <p:txBody>
          <a:bodyPr wrap="square" rtlCol="0">
            <a:spAutoFit/>
          </a:bodyPr>
          <a:lstStyle/>
          <a:p>
            <a:pPr algn="ctr"/>
            <a:r>
              <a:rPr lang="en-US" altLang="ja-JP" dirty="0"/>
              <a:t>GraphRAG</a:t>
            </a:r>
            <a:endParaRPr kumimoji="1" lang="ja-JP" altLang="en-US"/>
          </a:p>
        </p:txBody>
      </p:sp>
      <p:sp>
        <p:nvSpPr>
          <p:cNvPr id="77" name="テキスト ボックス 76">
            <a:extLst>
              <a:ext uri="{FF2B5EF4-FFF2-40B4-BE49-F238E27FC236}">
                <a16:creationId xmlns:a16="http://schemas.microsoft.com/office/drawing/2014/main" id="{82ED3B94-70A4-9497-0F1D-9390D7F15786}"/>
              </a:ext>
            </a:extLst>
          </p:cNvPr>
          <p:cNvSpPr txBox="1"/>
          <p:nvPr/>
        </p:nvSpPr>
        <p:spPr>
          <a:xfrm>
            <a:off x="46380" y="4830137"/>
            <a:ext cx="516208" cy="1200309"/>
          </a:xfrm>
          <a:prstGeom prst="rect">
            <a:avLst/>
          </a:prstGeom>
          <a:noFill/>
        </p:spPr>
        <p:txBody>
          <a:bodyPr wrap="square" rtlCol="0">
            <a:spAutoFit/>
          </a:bodyPr>
          <a:lstStyle/>
          <a:p>
            <a:pPr algn="ctr"/>
            <a:r>
              <a:rPr lang="ja-JP" altLang="en-US"/>
              <a:t>提案手法</a:t>
            </a:r>
            <a:endParaRPr kumimoji="1" lang="ja-JP" altLang="en-US"/>
          </a:p>
        </p:txBody>
      </p:sp>
      <p:cxnSp>
        <p:nvCxnSpPr>
          <p:cNvPr id="79" name="直線矢印コネクタ 78">
            <a:extLst>
              <a:ext uri="{FF2B5EF4-FFF2-40B4-BE49-F238E27FC236}">
                <a16:creationId xmlns:a16="http://schemas.microsoft.com/office/drawing/2014/main" id="{EAAD4C83-791B-8A30-55F2-B26FB5AC516A}"/>
              </a:ext>
            </a:extLst>
          </p:cNvPr>
          <p:cNvCxnSpPr>
            <a:cxnSpLocks/>
            <a:stCxn id="237" idx="3"/>
            <a:endCxn id="55" idx="1"/>
          </p:cNvCxnSpPr>
          <p:nvPr/>
        </p:nvCxnSpPr>
        <p:spPr>
          <a:xfrm flipV="1">
            <a:off x="1871659" y="5044911"/>
            <a:ext cx="233609" cy="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0E0543DE-0671-8BCE-84F1-99FE54E609BA}"/>
              </a:ext>
            </a:extLst>
          </p:cNvPr>
          <p:cNvSpPr/>
          <p:nvPr/>
        </p:nvSpPr>
        <p:spPr>
          <a:xfrm>
            <a:off x="925342" y="2412356"/>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cxnSp>
        <p:nvCxnSpPr>
          <p:cNvPr id="109" name="直線矢印コネクタ 108">
            <a:extLst>
              <a:ext uri="{FF2B5EF4-FFF2-40B4-BE49-F238E27FC236}">
                <a16:creationId xmlns:a16="http://schemas.microsoft.com/office/drawing/2014/main" id="{001DAB0F-5809-8052-1AA3-EE164E0E4794}"/>
              </a:ext>
            </a:extLst>
          </p:cNvPr>
          <p:cNvCxnSpPr>
            <a:cxnSpLocks/>
            <a:stCxn id="12" idx="3"/>
            <a:endCxn id="119" idx="1"/>
          </p:cNvCxnSpPr>
          <p:nvPr/>
        </p:nvCxnSpPr>
        <p:spPr>
          <a:xfrm>
            <a:off x="5450883" y="2024205"/>
            <a:ext cx="173457" cy="9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602F39E3-2402-2768-9A10-EE41FD2CD947}"/>
              </a:ext>
            </a:extLst>
          </p:cNvPr>
          <p:cNvSpPr/>
          <p:nvPr/>
        </p:nvSpPr>
        <p:spPr>
          <a:xfrm>
            <a:off x="5624340" y="1219561"/>
            <a:ext cx="1260455"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テキスト ボックス 130">
            <a:extLst>
              <a:ext uri="{FF2B5EF4-FFF2-40B4-BE49-F238E27FC236}">
                <a16:creationId xmlns:a16="http://schemas.microsoft.com/office/drawing/2014/main" id="{8EFDE304-D1F5-3150-808B-97AC722CD135}"/>
              </a:ext>
            </a:extLst>
          </p:cNvPr>
          <p:cNvSpPr txBox="1"/>
          <p:nvPr/>
        </p:nvSpPr>
        <p:spPr>
          <a:xfrm>
            <a:off x="2089966" y="3937744"/>
            <a:ext cx="3206322" cy="338554"/>
          </a:xfrm>
          <a:prstGeom prst="rect">
            <a:avLst/>
          </a:prstGeom>
          <a:noFill/>
        </p:spPr>
        <p:txBody>
          <a:bodyPr wrap="square" rtlCol="0">
            <a:spAutoFit/>
          </a:bodyPr>
          <a:lstStyle/>
          <a:p>
            <a:pPr algn="ctr"/>
            <a:r>
              <a:rPr kumimoji="1" lang="ja-JP" altLang="en-US" sz="1600"/>
              <a:t>グラフ生成</a:t>
            </a:r>
          </a:p>
        </p:txBody>
      </p:sp>
      <p:sp>
        <p:nvSpPr>
          <p:cNvPr id="143" name="テキスト ボックス 142">
            <a:extLst>
              <a:ext uri="{FF2B5EF4-FFF2-40B4-BE49-F238E27FC236}">
                <a16:creationId xmlns:a16="http://schemas.microsoft.com/office/drawing/2014/main" id="{C0FA1153-0348-9CF7-A55F-6831AF6F77B4}"/>
              </a:ext>
            </a:extLst>
          </p:cNvPr>
          <p:cNvSpPr txBox="1"/>
          <p:nvPr/>
        </p:nvSpPr>
        <p:spPr>
          <a:xfrm>
            <a:off x="5146913" y="899671"/>
            <a:ext cx="2215307" cy="338554"/>
          </a:xfrm>
          <a:prstGeom prst="rect">
            <a:avLst/>
          </a:prstGeom>
          <a:noFill/>
        </p:spPr>
        <p:txBody>
          <a:bodyPr wrap="square" rtlCol="0">
            <a:spAutoFit/>
          </a:bodyPr>
          <a:lstStyle/>
          <a:p>
            <a:pPr algn="ctr"/>
            <a:r>
              <a:rPr lang="ja-JP" altLang="en-US" sz="1600"/>
              <a:t>クレーム抽出</a:t>
            </a:r>
            <a:endParaRPr kumimoji="1" lang="ja-JP" altLang="en-US" sz="1600"/>
          </a:p>
        </p:txBody>
      </p:sp>
      <p:sp>
        <p:nvSpPr>
          <p:cNvPr id="144" name="テキスト ボックス 143">
            <a:extLst>
              <a:ext uri="{FF2B5EF4-FFF2-40B4-BE49-F238E27FC236}">
                <a16:creationId xmlns:a16="http://schemas.microsoft.com/office/drawing/2014/main" id="{C64182F7-B81F-1D50-58C6-08E6D8311EC6}"/>
              </a:ext>
            </a:extLst>
          </p:cNvPr>
          <p:cNvSpPr txBox="1"/>
          <p:nvPr/>
        </p:nvSpPr>
        <p:spPr>
          <a:xfrm>
            <a:off x="5549881" y="1245830"/>
            <a:ext cx="1652363" cy="307777"/>
          </a:xfrm>
          <a:prstGeom prst="rect">
            <a:avLst/>
          </a:prstGeom>
          <a:noFill/>
        </p:spPr>
        <p:txBody>
          <a:bodyPr wrap="square" rtlCol="0">
            <a:spAutoFit/>
          </a:bodyPr>
          <a:lstStyle/>
          <a:p>
            <a:r>
              <a:rPr lang="ja-JP" altLang="en-US" sz="1400"/>
              <a:t>・</a:t>
            </a:r>
            <a:endParaRPr lang="en-US" altLang="ja-JP" sz="1400" dirty="0"/>
          </a:p>
        </p:txBody>
      </p:sp>
      <p:sp>
        <p:nvSpPr>
          <p:cNvPr id="154" name="正方形/長方形 153">
            <a:extLst>
              <a:ext uri="{FF2B5EF4-FFF2-40B4-BE49-F238E27FC236}">
                <a16:creationId xmlns:a16="http://schemas.microsoft.com/office/drawing/2014/main" id="{064D9717-74B5-15AB-09FB-22CADC91DFB1}"/>
              </a:ext>
            </a:extLst>
          </p:cNvPr>
          <p:cNvSpPr/>
          <p:nvPr/>
        </p:nvSpPr>
        <p:spPr>
          <a:xfrm>
            <a:off x="7370535" y="1353078"/>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企業</a:t>
            </a:r>
            <a:r>
              <a:rPr lang="en-US" altLang="ja-JP" sz="1200" dirty="0"/>
              <a:t>a</a:t>
            </a:r>
            <a:endParaRPr kumimoji="1" lang="ja-JP" altLang="en-US" sz="1200"/>
          </a:p>
        </p:txBody>
      </p:sp>
      <p:sp>
        <p:nvSpPr>
          <p:cNvPr id="155" name="正方形/長方形 154">
            <a:extLst>
              <a:ext uri="{FF2B5EF4-FFF2-40B4-BE49-F238E27FC236}">
                <a16:creationId xmlns:a16="http://schemas.microsoft.com/office/drawing/2014/main" id="{ACC6B362-59EE-E40A-6B01-A60CE93E2F6A}"/>
              </a:ext>
            </a:extLst>
          </p:cNvPr>
          <p:cNvSpPr/>
          <p:nvPr/>
        </p:nvSpPr>
        <p:spPr>
          <a:xfrm>
            <a:off x="8189155" y="1686123"/>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人物</a:t>
            </a:r>
            <a:r>
              <a:rPr lang="en-US" altLang="ja-JP" sz="1200" dirty="0"/>
              <a:t>b</a:t>
            </a:r>
            <a:endParaRPr kumimoji="1" lang="ja-JP" altLang="en-US" sz="1200"/>
          </a:p>
        </p:txBody>
      </p:sp>
      <p:sp>
        <p:nvSpPr>
          <p:cNvPr id="156" name="正方形/長方形 155">
            <a:extLst>
              <a:ext uri="{FF2B5EF4-FFF2-40B4-BE49-F238E27FC236}">
                <a16:creationId xmlns:a16="http://schemas.microsoft.com/office/drawing/2014/main" id="{3ADCDFE4-B582-F073-621A-1CC6D0AF41F6}"/>
              </a:ext>
            </a:extLst>
          </p:cNvPr>
          <p:cNvSpPr/>
          <p:nvPr/>
        </p:nvSpPr>
        <p:spPr>
          <a:xfrm>
            <a:off x="7361804" y="1996934"/>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商品</a:t>
            </a:r>
            <a:r>
              <a:rPr lang="en-US" altLang="ja-JP" sz="1200" dirty="0"/>
              <a:t>c</a:t>
            </a:r>
            <a:endParaRPr kumimoji="1" lang="ja-JP" altLang="en-US" sz="1200"/>
          </a:p>
        </p:txBody>
      </p:sp>
      <p:sp>
        <p:nvSpPr>
          <p:cNvPr id="158" name="正方形/長方形 157">
            <a:extLst>
              <a:ext uri="{FF2B5EF4-FFF2-40B4-BE49-F238E27FC236}">
                <a16:creationId xmlns:a16="http://schemas.microsoft.com/office/drawing/2014/main" id="{9646E41E-3116-5B17-3DE9-E64146C43F8C}"/>
              </a:ext>
            </a:extLst>
          </p:cNvPr>
          <p:cNvSpPr/>
          <p:nvPr/>
        </p:nvSpPr>
        <p:spPr>
          <a:xfrm>
            <a:off x="7058536" y="1218233"/>
            <a:ext cx="2119277" cy="16197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テキスト ボックス 158">
            <a:extLst>
              <a:ext uri="{FF2B5EF4-FFF2-40B4-BE49-F238E27FC236}">
                <a16:creationId xmlns:a16="http://schemas.microsoft.com/office/drawing/2014/main" id="{52C747E9-83E2-37C1-8CDC-86748D39D5D4}"/>
              </a:ext>
            </a:extLst>
          </p:cNvPr>
          <p:cNvSpPr txBox="1"/>
          <p:nvPr/>
        </p:nvSpPr>
        <p:spPr>
          <a:xfrm>
            <a:off x="7352606" y="1704612"/>
            <a:ext cx="698500" cy="276999"/>
          </a:xfrm>
          <a:prstGeom prst="rect">
            <a:avLst/>
          </a:prstGeom>
          <a:noFill/>
        </p:spPr>
        <p:txBody>
          <a:bodyPr wrap="square" rtlCol="0">
            <a:spAutoFit/>
          </a:bodyPr>
          <a:lstStyle/>
          <a:p>
            <a:pPr algn="ctr"/>
            <a:r>
              <a:rPr kumimoji="1" lang="ja-JP" altLang="en-US" sz="1200"/>
              <a:t>開発</a:t>
            </a:r>
          </a:p>
        </p:txBody>
      </p:sp>
      <p:sp>
        <p:nvSpPr>
          <p:cNvPr id="160" name="テキスト ボックス 159">
            <a:extLst>
              <a:ext uri="{FF2B5EF4-FFF2-40B4-BE49-F238E27FC236}">
                <a16:creationId xmlns:a16="http://schemas.microsoft.com/office/drawing/2014/main" id="{19BF52F6-1F4C-50A2-351D-CEE7D38F7E30}"/>
              </a:ext>
            </a:extLst>
          </p:cNvPr>
          <p:cNvSpPr txBox="1"/>
          <p:nvPr/>
        </p:nvSpPr>
        <p:spPr>
          <a:xfrm>
            <a:off x="7996136" y="1377227"/>
            <a:ext cx="698500" cy="276999"/>
          </a:xfrm>
          <a:prstGeom prst="rect">
            <a:avLst/>
          </a:prstGeom>
          <a:noFill/>
        </p:spPr>
        <p:txBody>
          <a:bodyPr wrap="square" rtlCol="0">
            <a:spAutoFit/>
          </a:bodyPr>
          <a:lstStyle/>
          <a:p>
            <a:pPr algn="ctr"/>
            <a:r>
              <a:rPr kumimoji="1" lang="ja-JP" altLang="en-US" sz="1200"/>
              <a:t>所属</a:t>
            </a:r>
          </a:p>
        </p:txBody>
      </p:sp>
      <p:cxnSp>
        <p:nvCxnSpPr>
          <p:cNvPr id="163" name="直線矢印コネクタ 162">
            <a:extLst>
              <a:ext uri="{FF2B5EF4-FFF2-40B4-BE49-F238E27FC236}">
                <a16:creationId xmlns:a16="http://schemas.microsoft.com/office/drawing/2014/main" id="{C9B17F20-9DD1-C310-1094-D5F2DBDC8A56}"/>
              </a:ext>
            </a:extLst>
          </p:cNvPr>
          <p:cNvCxnSpPr>
            <a:cxnSpLocks/>
            <a:stCxn id="154" idx="2"/>
            <a:endCxn id="156" idx="0"/>
          </p:cNvCxnSpPr>
          <p:nvPr/>
        </p:nvCxnSpPr>
        <p:spPr>
          <a:xfrm flipH="1">
            <a:off x="7693767" y="1674622"/>
            <a:ext cx="8731" cy="322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6" name="直線矢印コネクタ 165">
            <a:extLst>
              <a:ext uri="{FF2B5EF4-FFF2-40B4-BE49-F238E27FC236}">
                <a16:creationId xmlns:a16="http://schemas.microsoft.com/office/drawing/2014/main" id="{802F81E4-177E-C363-03EF-3B29FBBD9269}"/>
              </a:ext>
            </a:extLst>
          </p:cNvPr>
          <p:cNvCxnSpPr>
            <a:cxnSpLocks/>
            <a:stCxn id="155" idx="0"/>
            <a:endCxn id="154" idx="3"/>
          </p:cNvCxnSpPr>
          <p:nvPr/>
        </p:nvCxnSpPr>
        <p:spPr>
          <a:xfrm flipH="1" flipV="1">
            <a:off x="8034461" y="1513850"/>
            <a:ext cx="486657" cy="172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5" name="ドーナツ 174">
            <a:extLst>
              <a:ext uri="{FF2B5EF4-FFF2-40B4-BE49-F238E27FC236}">
                <a16:creationId xmlns:a16="http://schemas.microsoft.com/office/drawing/2014/main" id="{FAE563D9-F0F1-D381-10F7-B5AFE11E65D2}"/>
              </a:ext>
            </a:extLst>
          </p:cNvPr>
          <p:cNvSpPr/>
          <p:nvPr/>
        </p:nvSpPr>
        <p:spPr>
          <a:xfrm>
            <a:off x="7066189" y="1253091"/>
            <a:ext cx="2072555" cy="1152141"/>
          </a:xfrm>
          <a:prstGeom prst="donut">
            <a:avLst>
              <a:gd name="adj" fmla="val 4481"/>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76" name="テキスト ボックス 175">
            <a:extLst>
              <a:ext uri="{FF2B5EF4-FFF2-40B4-BE49-F238E27FC236}">
                <a16:creationId xmlns:a16="http://schemas.microsoft.com/office/drawing/2014/main" id="{700A65BC-BFBF-EDC0-1097-F096594E56EA}"/>
              </a:ext>
            </a:extLst>
          </p:cNvPr>
          <p:cNvSpPr txBox="1"/>
          <p:nvPr/>
        </p:nvSpPr>
        <p:spPr>
          <a:xfrm>
            <a:off x="7133890" y="2318264"/>
            <a:ext cx="1957393" cy="523220"/>
          </a:xfrm>
          <a:prstGeom prst="rect">
            <a:avLst/>
          </a:prstGeom>
          <a:noFill/>
        </p:spPr>
        <p:txBody>
          <a:bodyPr wrap="square" rtlCol="0">
            <a:spAutoFit/>
          </a:bodyPr>
          <a:lstStyle/>
          <a:p>
            <a:pPr algn="ctr"/>
            <a:r>
              <a:rPr kumimoji="1" lang="ja-JP" altLang="en-US" sz="1400"/>
              <a:t>企業</a:t>
            </a:r>
            <a:r>
              <a:rPr kumimoji="1" lang="en-US" altLang="ja-JP" sz="1400" dirty="0"/>
              <a:t>a</a:t>
            </a:r>
            <a:r>
              <a:rPr kumimoji="1" lang="ja-JP" altLang="en-US" sz="1400"/>
              <a:t>には人物</a:t>
            </a:r>
            <a:r>
              <a:rPr kumimoji="1" lang="en-US" altLang="ja-JP" sz="1400" dirty="0"/>
              <a:t>b</a:t>
            </a:r>
            <a:r>
              <a:rPr kumimoji="1" lang="ja-JP" altLang="en-US" sz="1400"/>
              <a:t>が　　　所属し</a:t>
            </a:r>
            <a:r>
              <a:rPr kumimoji="1" lang="en-US" altLang="ja-JP" sz="1400" dirty="0"/>
              <a:t>, </a:t>
            </a:r>
            <a:r>
              <a:rPr kumimoji="1" lang="ja-JP" altLang="en-US" sz="1400"/>
              <a:t>商品</a:t>
            </a:r>
            <a:r>
              <a:rPr kumimoji="1" lang="en-US" altLang="ja-JP" sz="1400" dirty="0"/>
              <a:t>c</a:t>
            </a:r>
            <a:r>
              <a:rPr kumimoji="1" lang="ja-JP" altLang="en-US" sz="1400"/>
              <a:t>を開発</a:t>
            </a:r>
          </a:p>
        </p:txBody>
      </p:sp>
      <p:sp>
        <p:nvSpPr>
          <p:cNvPr id="177" name="テキスト ボックス 176">
            <a:extLst>
              <a:ext uri="{FF2B5EF4-FFF2-40B4-BE49-F238E27FC236}">
                <a16:creationId xmlns:a16="http://schemas.microsoft.com/office/drawing/2014/main" id="{82585A07-B184-1BD0-E165-A34DA83471B3}"/>
              </a:ext>
            </a:extLst>
          </p:cNvPr>
          <p:cNvSpPr txBox="1"/>
          <p:nvPr/>
        </p:nvSpPr>
        <p:spPr>
          <a:xfrm>
            <a:off x="6515013" y="902464"/>
            <a:ext cx="3206322" cy="338554"/>
          </a:xfrm>
          <a:prstGeom prst="rect">
            <a:avLst/>
          </a:prstGeom>
          <a:noFill/>
        </p:spPr>
        <p:txBody>
          <a:bodyPr wrap="square" rtlCol="0">
            <a:spAutoFit/>
          </a:bodyPr>
          <a:lstStyle/>
          <a:p>
            <a:pPr algn="ctr"/>
            <a:r>
              <a:rPr lang="ja-JP" altLang="en-US" sz="1600"/>
              <a:t>コミュニティ検出・要約</a:t>
            </a:r>
            <a:endParaRPr kumimoji="1" lang="ja-JP" altLang="en-US" sz="1600"/>
          </a:p>
        </p:txBody>
      </p:sp>
      <p:cxnSp>
        <p:nvCxnSpPr>
          <p:cNvPr id="178" name="直線矢印コネクタ 177">
            <a:extLst>
              <a:ext uri="{FF2B5EF4-FFF2-40B4-BE49-F238E27FC236}">
                <a16:creationId xmlns:a16="http://schemas.microsoft.com/office/drawing/2014/main" id="{5A4200DA-5445-B93F-AE8A-D392CAAB7957}"/>
              </a:ext>
            </a:extLst>
          </p:cNvPr>
          <p:cNvCxnSpPr>
            <a:cxnSpLocks/>
            <a:stCxn id="119" idx="3"/>
            <a:endCxn id="158" idx="1"/>
          </p:cNvCxnSpPr>
          <p:nvPr/>
        </p:nvCxnSpPr>
        <p:spPr>
          <a:xfrm flipV="1">
            <a:off x="6884795" y="2028091"/>
            <a:ext cx="173741" cy="5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1" name="正方形/長方形 180">
            <a:extLst>
              <a:ext uri="{FF2B5EF4-FFF2-40B4-BE49-F238E27FC236}">
                <a16:creationId xmlns:a16="http://schemas.microsoft.com/office/drawing/2014/main" id="{AF88FCCC-6222-8399-BD91-163EA6A88DE0}"/>
              </a:ext>
            </a:extLst>
          </p:cNvPr>
          <p:cNvSpPr/>
          <p:nvPr/>
        </p:nvSpPr>
        <p:spPr>
          <a:xfrm>
            <a:off x="10540234" y="1210460"/>
            <a:ext cx="884431"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2" name="テキスト ボックス 181">
            <a:extLst>
              <a:ext uri="{FF2B5EF4-FFF2-40B4-BE49-F238E27FC236}">
                <a16:creationId xmlns:a16="http://schemas.microsoft.com/office/drawing/2014/main" id="{99E04857-84CC-9D48-E893-B458A09F9F11}"/>
              </a:ext>
            </a:extLst>
          </p:cNvPr>
          <p:cNvSpPr txBox="1"/>
          <p:nvPr/>
        </p:nvSpPr>
        <p:spPr>
          <a:xfrm>
            <a:off x="9567554" y="1253670"/>
            <a:ext cx="576377" cy="1569660"/>
          </a:xfrm>
          <a:prstGeom prst="rect">
            <a:avLst/>
          </a:prstGeom>
          <a:noFill/>
        </p:spPr>
        <p:txBody>
          <a:bodyPr wrap="square" rtlCol="0">
            <a:spAutoFit/>
          </a:bodyPr>
          <a:lstStyle/>
          <a:p>
            <a:pPr algn="ctr"/>
            <a:r>
              <a:rPr lang="ja-JP" altLang="en-US" sz="1600"/>
              <a:t>埋め込み作成</a:t>
            </a:r>
            <a:endParaRPr kumimoji="1" lang="ja-JP" altLang="en-US" sz="1600"/>
          </a:p>
        </p:txBody>
      </p:sp>
      <p:cxnSp>
        <p:nvCxnSpPr>
          <p:cNvPr id="183" name="直線矢印コネクタ 182">
            <a:extLst>
              <a:ext uri="{FF2B5EF4-FFF2-40B4-BE49-F238E27FC236}">
                <a16:creationId xmlns:a16="http://schemas.microsoft.com/office/drawing/2014/main" id="{955D1F02-5D8A-CB4C-29E1-A41964659B13}"/>
              </a:ext>
            </a:extLst>
          </p:cNvPr>
          <p:cNvCxnSpPr>
            <a:cxnSpLocks/>
            <a:stCxn id="158" idx="3"/>
            <a:endCxn id="181" idx="1"/>
          </p:cNvCxnSpPr>
          <p:nvPr/>
        </p:nvCxnSpPr>
        <p:spPr>
          <a:xfrm flipV="1">
            <a:off x="9177813" y="2024205"/>
            <a:ext cx="1362421" cy="3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9" name="テキスト ボックス 188">
            <a:extLst>
              <a:ext uri="{FF2B5EF4-FFF2-40B4-BE49-F238E27FC236}">
                <a16:creationId xmlns:a16="http://schemas.microsoft.com/office/drawing/2014/main" id="{D7901C2A-675C-93C3-AA8A-A66ED70E47F4}"/>
              </a:ext>
            </a:extLst>
          </p:cNvPr>
          <p:cNvSpPr txBox="1"/>
          <p:nvPr/>
        </p:nvSpPr>
        <p:spPr>
          <a:xfrm>
            <a:off x="5955777" y="3203264"/>
            <a:ext cx="4700454" cy="584775"/>
          </a:xfrm>
          <a:prstGeom prst="rect">
            <a:avLst/>
          </a:prstGeom>
          <a:noFill/>
          <a:ln>
            <a:noFill/>
          </a:ln>
        </p:spPr>
        <p:txBody>
          <a:bodyPr wrap="square" rtlCol="0">
            <a:spAutoFit/>
          </a:bodyPr>
          <a:lstStyle/>
          <a:p>
            <a:pPr algn="ctr"/>
            <a:r>
              <a:rPr kumimoji="1" lang="ja-JP" altLang="en-US" sz="1600"/>
              <a:t>コミュニティ要約とクエリのコサイン類似度から</a:t>
            </a:r>
            <a:endParaRPr kumimoji="1" lang="en-US" altLang="ja-JP" sz="1600" dirty="0"/>
          </a:p>
          <a:p>
            <a:pPr algn="ctr"/>
            <a:r>
              <a:rPr kumimoji="1" lang="ja-JP" altLang="en-US" sz="1600"/>
              <a:t>関連するコミュニティを抽出</a:t>
            </a:r>
          </a:p>
        </p:txBody>
      </p:sp>
      <p:sp>
        <p:nvSpPr>
          <p:cNvPr id="193" name="テキスト ボックス 192">
            <a:extLst>
              <a:ext uri="{FF2B5EF4-FFF2-40B4-BE49-F238E27FC236}">
                <a16:creationId xmlns:a16="http://schemas.microsoft.com/office/drawing/2014/main" id="{55C6D477-4B1F-9F29-B36A-0A75168DB677}"/>
              </a:ext>
            </a:extLst>
          </p:cNvPr>
          <p:cNvSpPr txBox="1"/>
          <p:nvPr/>
        </p:nvSpPr>
        <p:spPr>
          <a:xfrm>
            <a:off x="11227044" y="3206301"/>
            <a:ext cx="925253" cy="584775"/>
          </a:xfrm>
          <a:prstGeom prst="rect">
            <a:avLst/>
          </a:prstGeom>
          <a:noFill/>
        </p:spPr>
        <p:txBody>
          <a:bodyPr wrap="none" rtlCol="0">
            <a:spAutoFit/>
          </a:bodyPr>
          <a:lstStyle/>
          <a:p>
            <a:pPr algn="ctr"/>
            <a:r>
              <a:rPr kumimoji="1" lang="ja-JP" altLang="en-US" sz="1600"/>
              <a:t>クエリ</a:t>
            </a:r>
            <a:endParaRPr kumimoji="1" lang="en-US" altLang="ja-JP" sz="1600" dirty="0"/>
          </a:p>
          <a:p>
            <a:pPr algn="ctr"/>
            <a:r>
              <a:rPr lang="en-US" altLang="ja-JP" sz="1600" dirty="0"/>
              <a:t>(</a:t>
            </a:r>
            <a:r>
              <a:rPr lang="ja-JP" altLang="en-US" sz="1600"/>
              <a:t>質問文</a:t>
            </a:r>
            <a:r>
              <a:rPr lang="en-US" altLang="ja-JP" sz="1600" dirty="0"/>
              <a:t>)</a:t>
            </a:r>
            <a:endParaRPr kumimoji="1" lang="ja-JP" altLang="en-US" sz="1600"/>
          </a:p>
        </p:txBody>
      </p:sp>
      <p:cxnSp>
        <p:nvCxnSpPr>
          <p:cNvPr id="195" name="直線コネクタ 194">
            <a:extLst>
              <a:ext uri="{FF2B5EF4-FFF2-40B4-BE49-F238E27FC236}">
                <a16:creationId xmlns:a16="http://schemas.microsoft.com/office/drawing/2014/main" id="{DD5033AE-58FC-C0A6-1BF7-C70504006A25}"/>
              </a:ext>
            </a:extLst>
          </p:cNvPr>
          <p:cNvCxnSpPr>
            <a:cxnSpLocks/>
          </p:cNvCxnSpPr>
          <p:nvPr/>
        </p:nvCxnSpPr>
        <p:spPr>
          <a:xfrm>
            <a:off x="0" y="3848006"/>
            <a:ext cx="12192000" cy="0"/>
          </a:xfrm>
          <a:prstGeom prst="line">
            <a:avLst/>
          </a:prstGeom>
        </p:spPr>
        <p:style>
          <a:lnRef idx="3">
            <a:schemeClr val="dk1"/>
          </a:lnRef>
          <a:fillRef idx="0">
            <a:schemeClr val="dk1"/>
          </a:fillRef>
          <a:effectRef idx="2">
            <a:schemeClr val="dk1"/>
          </a:effectRef>
          <a:fontRef idx="minor">
            <a:schemeClr val="tx1"/>
          </a:fontRef>
        </p:style>
      </p:cxnSp>
      <p:sp>
        <p:nvSpPr>
          <p:cNvPr id="217" name="テキスト ボックス 216">
            <a:extLst>
              <a:ext uri="{FF2B5EF4-FFF2-40B4-BE49-F238E27FC236}">
                <a16:creationId xmlns:a16="http://schemas.microsoft.com/office/drawing/2014/main" id="{BB2C06BE-9B9B-63ED-8C33-37DE77DA85E0}"/>
              </a:ext>
            </a:extLst>
          </p:cNvPr>
          <p:cNvSpPr txBox="1"/>
          <p:nvPr/>
        </p:nvSpPr>
        <p:spPr>
          <a:xfrm>
            <a:off x="10772842" y="1298909"/>
            <a:ext cx="419214" cy="1477328"/>
          </a:xfrm>
          <a:prstGeom prst="rect">
            <a:avLst/>
          </a:prstGeom>
          <a:noFill/>
        </p:spPr>
        <p:txBody>
          <a:bodyPr wrap="square" rtlCol="0">
            <a:spAutoFit/>
          </a:bodyPr>
          <a:lstStyle/>
          <a:p>
            <a:r>
              <a:rPr kumimoji="1" lang="ja-JP" altLang="en-US"/>
              <a:t>グラフ完成</a:t>
            </a:r>
          </a:p>
        </p:txBody>
      </p:sp>
      <p:cxnSp>
        <p:nvCxnSpPr>
          <p:cNvPr id="218" name="直線矢印コネクタ 217">
            <a:extLst>
              <a:ext uri="{FF2B5EF4-FFF2-40B4-BE49-F238E27FC236}">
                <a16:creationId xmlns:a16="http://schemas.microsoft.com/office/drawing/2014/main" id="{A300BA43-1841-644A-55AB-E2CD5F7391E6}"/>
              </a:ext>
            </a:extLst>
          </p:cNvPr>
          <p:cNvCxnSpPr>
            <a:cxnSpLocks/>
            <a:stCxn id="55" idx="3"/>
            <a:endCxn id="221" idx="1"/>
          </p:cNvCxnSpPr>
          <p:nvPr/>
        </p:nvCxnSpPr>
        <p:spPr>
          <a:xfrm flipV="1">
            <a:off x="5478113" y="5044907"/>
            <a:ext cx="5062121" cy="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1" name="正方形/長方形 220">
            <a:extLst>
              <a:ext uri="{FF2B5EF4-FFF2-40B4-BE49-F238E27FC236}">
                <a16:creationId xmlns:a16="http://schemas.microsoft.com/office/drawing/2014/main" id="{C2912225-9C6E-D63D-6A88-F3A40925E911}"/>
              </a:ext>
            </a:extLst>
          </p:cNvPr>
          <p:cNvSpPr/>
          <p:nvPr/>
        </p:nvSpPr>
        <p:spPr>
          <a:xfrm>
            <a:off x="10540234" y="4231167"/>
            <a:ext cx="884431" cy="162747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2" name="テキスト ボックス 221">
            <a:extLst>
              <a:ext uri="{FF2B5EF4-FFF2-40B4-BE49-F238E27FC236}">
                <a16:creationId xmlns:a16="http://schemas.microsoft.com/office/drawing/2014/main" id="{09F5EDFC-A05B-F8E3-B009-E2D380DFE0AB}"/>
              </a:ext>
            </a:extLst>
          </p:cNvPr>
          <p:cNvSpPr txBox="1"/>
          <p:nvPr/>
        </p:nvSpPr>
        <p:spPr>
          <a:xfrm>
            <a:off x="10772842" y="4335353"/>
            <a:ext cx="419214" cy="1477328"/>
          </a:xfrm>
          <a:prstGeom prst="rect">
            <a:avLst/>
          </a:prstGeom>
          <a:noFill/>
        </p:spPr>
        <p:txBody>
          <a:bodyPr wrap="square" rtlCol="0">
            <a:spAutoFit/>
          </a:bodyPr>
          <a:lstStyle/>
          <a:p>
            <a:r>
              <a:rPr kumimoji="1" lang="ja-JP" altLang="en-US"/>
              <a:t>グラフ完成</a:t>
            </a:r>
          </a:p>
        </p:txBody>
      </p:sp>
      <p:sp>
        <p:nvSpPr>
          <p:cNvPr id="236" name="正方形/長方形 235">
            <a:extLst>
              <a:ext uri="{FF2B5EF4-FFF2-40B4-BE49-F238E27FC236}">
                <a16:creationId xmlns:a16="http://schemas.microsoft.com/office/drawing/2014/main" id="{4741AD1A-F0EF-7AD2-60BE-9F9C12980BB5}"/>
              </a:ext>
            </a:extLst>
          </p:cNvPr>
          <p:cNvSpPr/>
          <p:nvPr/>
        </p:nvSpPr>
        <p:spPr>
          <a:xfrm>
            <a:off x="922837" y="4366709"/>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237" name="正方形/長方形 236">
            <a:extLst>
              <a:ext uri="{FF2B5EF4-FFF2-40B4-BE49-F238E27FC236}">
                <a16:creationId xmlns:a16="http://schemas.microsoft.com/office/drawing/2014/main" id="{304D4A6E-F1F1-7798-5FAC-3DFCB721366F}"/>
              </a:ext>
            </a:extLst>
          </p:cNvPr>
          <p:cNvSpPr/>
          <p:nvPr/>
        </p:nvSpPr>
        <p:spPr>
          <a:xfrm>
            <a:off x="683186" y="4231173"/>
            <a:ext cx="1188473"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8" name="正方形/長方形 237">
            <a:extLst>
              <a:ext uri="{FF2B5EF4-FFF2-40B4-BE49-F238E27FC236}">
                <a16:creationId xmlns:a16="http://schemas.microsoft.com/office/drawing/2014/main" id="{608FE0B6-246D-B7C2-8A27-CA6C242D7D96}"/>
              </a:ext>
            </a:extLst>
          </p:cNvPr>
          <p:cNvSpPr/>
          <p:nvPr/>
        </p:nvSpPr>
        <p:spPr>
          <a:xfrm>
            <a:off x="917743" y="4721071"/>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239" name="正方形/長方形 238">
            <a:extLst>
              <a:ext uri="{FF2B5EF4-FFF2-40B4-BE49-F238E27FC236}">
                <a16:creationId xmlns:a16="http://schemas.microsoft.com/office/drawing/2014/main" id="{4A6B3DD7-2656-7589-0DD5-4561CDDA1737}"/>
              </a:ext>
            </a:extLst>
          </p:cNvPr>
          <p:cNvSpPr/>
          <p:nvPr/>
        </p:nvSpPr>
        <p:spPr>
          <a:xfrm>
            <a:off x="924380" y="5074017"/>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240" name="正方形/長方形 239">
            <a:extLst>
              <a:ext uri="{FF2B5EF4-FFF2-40B4-BE49-F238E27FC236}">
                <a16:creationId xmlns:a16="http://schemas.microsoft.com/office/drawing/2014/main" id="{55796D00-51A6-A94D-E3AB-8049354345B2}"/>
              </a:ext>
            </a:extLst>
          </p:cNvPr>
          <p:cNvSpPr/>
          <p:nvPr/>
        </p:nvSpPr>
        <p:spPr>
          <a:xfrm>
            <a:off x="925102" y="5433069"/>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cxnSp>
        <p:nvCxnSpPr>
          <p:cNvPr id="251" name="直線矢印コネクタ 250">
            <a:extLst>
              <a:ext uri="{FF2B5EF4-FFF2-40B4-BE49-F238E27FC236}">
                <a16:creationId xmlns:a16="http://schemas.microsoft.com/office/drawing/2014/main" id="{6CEE122B-EDAB-A437-6E78-EF3B2048D9F7}"/>
              </a:ext>
            </a:extLst>
          </p:cNvPr>
          <p:cNvCxnSpPr>
            <a:cxnSpLocks/>
            <a:stCxn id="271" idx="1"/>
            <a:endCxn id="255" idx="3"/>
          </p:cNvCxnSpPr>
          <p:nvPr/>
        </p:nvCxnSpPr>
        <p:spPr>
          <a:xfrm flipH="1">
            <a:off x="10638727" y="3486301"/>
            <a:ext cx="603610" cy="25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5" name="正方形/長方形 254">
            <a:extLst>
              <a:ext uri="{FF2B5EF4-FFF2-40B4-BE49-F238E27FC236}">
                <a16:creationId xmlns:a16="http://schemas.microsoft.com/office/drawing/2014/main" id="{EDAF04CD-6E46-DDE7-120B-142EB349E78D}"/>
              </a:ext>
            </a:extLst>
          </p:cNvPr>
          <p:cNvSpPr/>
          <p:nvPr/>
        </p:nvSpPr>
        <p:spPr>
          <a:xfrm>
            <a:off x="5938274" y="3191190"/>
            <a:ext cx="4700453" cy="5953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1" name="正方形/長方形 270">
            <a:extLst>
              <a:ext uri="{FF2B5EF4-FFF2-40B4-BE49-F238E27FC236}">
                <a16:creationId xmlns:a16="http://schemas.microsoft.com/office/drawing/2014/main" id="{3DE894BE-AE84-D15F-1427-5DF19AEB4F84}"/>
              </a:ext>
            </a:extLst>
          </p:cNvPr>
          <p:cNvSpPr/>
          <p:nvPr/>
        </p:nvSpPr>
        <p:spPr>
          <a:xfrm>
            <a:off x="11242337" y="3189751"/>
            <a:ext cx="894667" cy="593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6" name="直線矢印コネクタ 275">
            <a:extLst>
              <a:ext uri="{FF2B5EF4-FFF2-40B4-BE49-F238E27FC236}">
                <a16:creationId xmlns:a16="http://schemas.microsoft.com/office/drawing/2014/main" id="{8964C9E5-759D-645C-B771-AF42B15FDFAE}"/>
              </a:ext>
            </a:extLst>
          </p:cNvPr>
          <p:cNvCxnSpPr>
            <a:cxnSpLocks/>
            <a:stCxn id="181" idx="2"/>
          </p:cNvCxnSpPr>
          <p:nvPr/>
        </p:nvCxnSpPr>
        <p:spPr>
          <a:xfrm>
            <a:off x="10982450" y="2837949"/>
            <a:ext cx="0" cy="648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0" name="テキスト ボックス 289">
            <a:extLst>
              <a:ext uri="{FF2B5EF4-FFF2-40B4-BE49-F238E27FC236}">
                <a16:creationId xmlns:a16="http://schemas.microsoft.com/office/drawing/2014/main" id="{61165580-08F7-35BC-E38C-035A30CEB122}"/>
              </a:ext>
            </a:extLst>
          </p:cNvPr>
          <p:cNvSpPr txBox="1"/>
          <p:nvPr/>
        </p:nvSpPr>
        <p:spPr>
          <a:xfrm>
            <a:off x="3044637" y="3206300"/>
            <a:ext cx="2485035" cy="584775"/>
          </a:xfrm>
          <a:prstGeom prst="rect">
            <a:avLst/>
          </a:prstGeom>
          <a:noFill/>
          <a:ln>
            <a:noFill/>
          </a:ln>
        </p:spPr>
        <p:txBody>
          <a:bodyPr wrap="square" rtlCol="0">
            <a:spAutoFit/>
          </a:bodyPr>
          <a:lstStyle/>
          <a:p>
            <a:pPr algn="ctr"/>
            <a:r>
              <a:rPr kumimoji="1" lang="ja-JP" altLang="en-US" sz="1600"/>
              <a:t>コミュニティ要約から</a:t>
            </a:r>
            <a:endParaRPr kumimoji="1" lang="en-US" altLang="ja-JP" sz="1600" dirty="0"/>
          </a:p>
          <a:p>
            <a:pPr algn="ctr"/>
            <a:r>
              <a:rPr kumimoji="1" lang="ja-JP" altLang="en-US" sz="1600"/>
              <a:t>部分的な回答を複数生成</a:t>
            </a:r>
          </a:p>
        </p:txBody>
      </p:sp>
      <p:sp>
        <p:nvSpPr>
          <p:cNvPr id="291" name="正方形/長方形 290">
            <a:extLst>
              <a:ext uri="{FF2B5EF4-FFF2-40B4-BE49-F238E27FC236}">
                <a16:creationId xmlns:a16="http://schemas.microsoft.com/office/drawing/2014/main" id="{8BB37011-6F13-C5AB-E28A-E772D872B453}"/>
              </a:ext>
            </a:extLst>
          </p:cNvPr>
          <p:cNvSpPr/>
          <p:nvPr/>
        </p:nvSpPr>
        <p:spPr>
          <a:xfrm>
            <a:off x="3092330" y="3182049"/>
            <a:ext cx="2387778" cy="613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2" name="直線矢印コネクタ 291">
            <a:extLst>
              <a:ext uri="{FF2B5EF4-FFF2-40B4-BE49-F238E27FC236}">
                <a16:creationId xmlns:a16="http://schemas.microsoft.com/office/drawing/2014/main" id="{B0E1778A-7659-D81F-52C4-D3203DAE2360}"/>
              </a:ext>
            </a:extLst>
          </p:cNvPr>
          <p:cNvCxnSpPr>
            <a:cxnSpLocks/>
            <a:stCxn id="255" idx="1"/>
            <a:endCxn id="291" idx="3"/>
          </p:cNvCxnSpPr>
          <p:nvPr/>
        </p:nvCxnSpPr>
        <p:spPr>
          <a:xfrm flipH="1">
            <a:off x="5480108" y="3488842"/>
            <a:ext cx="458166" cy="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0" name="テキスト ボックス 299">
            <a:extLst>
              <a:ext uri="{FF2B5EF4-FFF2-40B4-BE49-F238E27FC236}">
                <a16:creationId xmlns:a16="http://schemas.microsoft.com/office/drawing/2014/main" id="{C4271693-1E64-0260-FB67-288E74B49BD2}"/>
              </a:ext>
            </a:extLst>
          </p:cNvPr>
          <p:cNvSpPr txBox="1"/>
          <p:nvPr/>
        </p:nvSpPr>
        <p:spPr>
          <a:xfrm>
            <a:off x="709312" y="3232475"/>
            <a:ext cx="2222452" cy="584775"/>
          </a:xfrm>
          <a:prstGeom prst="rect">
            <a:avLst/>
          </a:prstGeom>
          <a:noFill/>
          <a:ln>
            <a:noFill/>
          </a:ln>
        </p:spPr>
        <p:txBody>
          <a:bodyPr wrap="square" rtlCol="0">
            <a:spAutoFit/>
          </a:bodyPr>
          <a:lstStyle/>
          <a:p>
            <a:pPr algn="ctr"/>
            <a:r>
              <a:rPr kumimoji="1" lang="ja-JP" altLang="en-US" sz="1600"/>
              <a:t>複数回答を統合して</a:t>
            </a:r>
            <a:endParaRPr kumimoji="1" lang="en-US" altLang="ja-JP" sz="1600" dirty="0"/>
          </a:p>
          <a:p>
            <a:pPr algn="ctr"/>
            <a:r>
              <a:rPr kumimoji="1" lang="ja-JP" altLang="en-US" sz="1600"/>
              <a:t>最終回答を生成</a:t>
            </a:r>
          </a:p>
        </p:txBody>
      </p:sp>
      <p:sp>
        <p:nvSpPr>
          <p:cNvPr id="301" name="正方形/長方形 300">
            <a:extLst>
              <a:ext uri="{FF2B5EF4-FFF2-40B4-BE49-F238E27FC236}">
                <a16:creationId xmlns:a16="http://schemas.microsoft.com/office/drawing/2014/main" id="{C48912C2-9122-676F-E0F1-80F416EF8AE8}"/>
              </a:ext>
            </a:extLst>
          </p:cNvPr>
          <p:cNvSpPr/>
          <p:nvPr/>
        </p:nvSpPr>
        <p:spPr>
          <a:xfrm>
            <a:off x="683185" y="3192841"/>
            <a:ext cx="2156806" cy="613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2" name="直線矢印コネクタ 301">
            <a:extLst>
              <a:ext uri="{FF2B5EF4-FFF2-40B4-BE49-F238E27FC236}">
                <a16:creationId xmlns:a16="http://schemas.microsoft.com/office/drawing/2014/main" id="{BE46885B-5665-B57C-478E-DA5E9DC62B0E}"/>
              </a:ext>
            </a:extLst>
          </p:cNvPr>
          <p:cNvCxnSpPr>
            <a:cxnSpLocks/>
            <a:stCxn id="291" idx="1"/>
            <a:endCxn id="301" idx="3"/>
          </p:cNvCxnSpPr>
          <p:nvPr/>
        </p:nvCxnSpPr>
        <p:spPr>
          <a:xfrm flipH="1">
            <a:off x="2839991" y="3488857"/>
            <a:ext cx="252339" cy="10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9" name="テキスト ボックス 318">
            <a:extLst>
              <a:ext uri="{FF2B5EF4-FFF2-40B4-BE49-F238E27FC236}">
                <a16:creationId xmlns:a16="http://schemas.microsoft.com/office/drawing/2014/main" id="{07EA10DA-F91E-7A29-33B5-52B0CD805288}"/>
              </a:ext>
            </a:extLst>
          </p:cNvPr>
          <p:cNvSpPr txBox="1"/>
          <p:nvPr/>
        </p:nvSpPr>
        <p:spPr>
          <a:xfrm>
            <a:off x="6166390" y="4627116"/>
            <a:ext cx="3736144" cy="830997"/>
          </a:xfrm>
          <a:prstGeom prst="rect">
            <a:avLst/>
          </a:prstGeom>
          <a:noFill/>
        </p:spPr>
        <p:txBody>
          <a:bodyPr wrap="square" rtlCol="0">
            <a:spAutoFit/>
          </a:bodyPr>
          <a:lstStyle/>
          <a:p>
            <a:pPr algn="ctr"/>
            <a:r>
              <a:rPr kumimoji="1" lang="ja-JP" altLang="en-US" sz="2400" b="1">
                <a:solidFill>
                  <a:srgbClr val="C00000"/>
                </a:solidFill>
                <a:latin typeface="Yu Gothic" panose="020B0400000000000000" pitchFamily="34" charset="-128"/>
                <a:ea typeface="Yu Gothic" panose="020B0400000000000000" pitchFamily="34" charset="-128"/>
              </a:rPr>
              <a:t>複数のワークフローを</a:t>
            </a:r>
            <a:endParaRPr kumimoji="1" lang="en-US" altLang="ja-JP" sz="2400" b="1" dirty="0">
              <a:solidFill>
                <a:srgbClr val="C00000"/>
              </a:solidFill>
              <a:latin typeface="Yu Gothic" panose="020B0400000000000000" pitchFamily="34" charset="-128"/>
              <a:ea typeface="Yu Gothic" panose="020B0400000000000000" pitchFamily="34" charset="-128"/>
            </a:endParaRPr>
          </a:p>
          <a:p>
            <a:pPr algn="ctr"/>
            <a:r>
              <a:rPr kumimoji="1" lang="ja-JP" altLang="en-US" sz="2400" b="1">
                <a:solidFill>
                  <a:srgbClr val="C00000"/>
                </a:solidFill>
                <a:latin typeface="Yu Gothic" panose="020B0400000000000000" pitchFamily="34" charset="-128"/>
                <a:ea typeface="Yu Gothic" panose="020B0400000000000000" pitchFamily="34" charset="-128"/>
              </a:rPr>
              <a:t>スキップ</a:t>
            </a:r>
            <a:endParaRPr kumimoji="1" lang="ja-JP" altLang="en-US" sz="1600" b="1">
              <a:solidFill>
                <a:srgbClr val="C00000"/>
              </a:solidFill>
            </a:endParaRPr>
          </a:p>
        </p:txBody>
      </p:sp>
      <p:sp>
        <p:nvSpPr>
          <p:cNvPr id="3" name="テキスト ボックス 2">
            <a:extLst>
              <a:ext uri="{FF2B5EF4-FFF2-40B4-BE49-F238E27FC236}">
                <a16:creationId xmlns:a16="http://schemas.microsoft.com/office/drawing/2014/main" id="{4B327E86-056B-6BC0-699F-94CAD740FCBC}"/>
              </a:ext>
            </a:extLst>
          </p:cNvPr>
          <p:cNvSpPr txBox="1"/>
          <p:nvPr/>
        </p:nvSpPr>
        <p:spPr>
          <a:xfrm>
            <a:off x="5941732" y="6178675"/>
            <a:ext cx="4700454" cy="584775"/>
          </a:xfrm>
          <a:prstGeom prst="rect">
            <a:avLst/>
          </a:prstGeom>
          <a:noFill/>
          <a:ln>
            <a:noFill/>
          </a:ln>
        </p:spPr>
        <p:txBody>
          <a:bodyPr wrap="square" rtlCol="0">
            <a:spAutoFit/>
          </a:bodyPr>
          <a:lstStyle/>
          <a:p>
            <a:pPr algn="ctr"/>
            <a:r>
              <a:rPr kumimoji="1" lang="ja-JP" altLang="en-US" sz="1600"/>
              <a:t>重み付きマルチソース</a:t>
            </a:r>
            <a:r>
              <a:rPr kumimoji="1" lang="en-US" altLang="ja-JP" sz="1600" dirty="0"/>
              <a:t>PPR</a:t>
            </a:r>
            <a:r>
              <a:rPr kumimoji="1" lang="ja-JP" altLang="en-US" sz="1600"/>
              <a:t>で</a:t>
            </a:r>
            <a:endParaRPr kumimoji="1" lang="en-US" altLang="ja-JP" sz="1600" dirty="0"/>
          </a:p>
          <a:p>
            <a:pPr algn="ctr"/>
            <a:r>
              <a:rPr kumimoji="1" lang="ja-JP" altLang="en-US" sz="1600"/>
              <a:t>関連する文書</a:t>
            </a:r>
            <a:r>
              <a:rPr kumimoji="1" lang="en-US" altLang="ja-JP" sz="1600" dirty="0"/>
              <a:t> (</a:t>
            </a:r>
            <a:r>
              <a:rPr kumimoji="1" lang="ja-JP" altLang="en-US" sz="1600"/>
              <a:t>ノード</a:t>
            </a:r>
            <a:r>
              <a:rPr kumimoji="1" lang="en-US" altLang="ja-JP" sz="1600" dirty="0"/>
              <a:t>) </a:t>
            </a:r>
            <a:r>
              <a:rPr kumimoji="1" lang="ja-JP" altLang="en-US" sz="1600"/>
              <a:t>を抽出</a:t>
            </a:r>
          </a:p>
        </p:txBody>
      </p:sp>
      <p:sp>
        <p:nvSpPr>
          <p:cNvPr id="5" name="正方形/長方形 4">
            <a:extLst>
              <a:ext uri="{FF2B5EF4-FFF2-40B4-BE49-F238E27FC236}">
                <a16:creationId xmlns:a16="http://schemas.microsoft.com/office/drawing/2014/main" id="{2E135A5B-CA73-2CDE-E5FB-13F2B47F3B0E}"/>
              </a:ext>
            </a:extLst>
          </p:cNvPr>
          <p:cNvSpPr/>
          <p:nvPr/>
        </p:nvSpPr>
        <p:spPr>
          <a:xfrm>
            <a:off x="5917833" y="6163464"/>
            <a:ext cx="4700453" cy="5953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5A7E15EB-BD48-2F70-EF7D-1FAA2C44A8A6}"/>
              </a:ext>
            </a:extLst>
          </p:cNvPr>
          <p:cNvSpPr txBox="1"/>
          <p:nvPr/>
        </p:nvSpPr>
        <p:spPr>
          <a:xfrm>
            <a:off x="11228292" y="6169194"/>
            <a:ext cx="925253" cy="584775"/>
          </a:xfrm>
          <a:prstGeom prst="rect">
            <a:avLst/>
          </a:prstGeom>
          <a:noFill/>
        </p:spPr>
        <p:txBody>
          <a:bodyPr wrap="none" rtlCol="0">
            <a:spAutoFit/>
          </a:bodyPr>
          <a:lstStyle/>
          <a:p>
            <a:pPr algn="ctr"/>
            <a:r>
              <a:rPr kumimoji="1" lang="ja-JP" altLang="en-US" sz="1600"/>
              <a:t>クエリ</a:t>
            </a:r>
            <a:endParaRPr kumimoji="1" lang="en-US" altLang="ja-JP" sz="1600" dirty="0"/>
          </a:p>
          <a:p>
            <a:pPr algn="ctr"/>
            <a:r>
              <a:rPr lang="en-US" altLang="ja-JP" sz="1600" dirty="0"/>
              <a:t>(</a:t>
            </a:r>
            <a:r>
              <a:rPr lang="ja-JP" altLang="en-US" sz="1600"/>
              <a:t>質問文</a:t>
            </a:r>
            <a:r>
              <a:rPr lang="en-US" altLang="ja-JP" sz="1600" dirty="0"/>
              <a:t>)</a:t>
            </a:r>
            <a:endParaRPr kumimoji="1" lang="ja-JP" altLang="en-US" sz="1600"/>
          </a:p>
        </p:txBody>
      </p:sp>
      <p:sp>
        <p:nvSpPr>
          <p:cNvPr id="15" name="正方形/長方形 14">
            <a:extLst>
              <a:ext uri="{FF2B5EF4-FFF2-40B4-BE49-F238E27FC236}">
                <a16:creationId xmlns:a16="http://schemas.microsoft.com/office/drawing/2014/main" id="{9B7F6948-8E07-B53B-B01F-D28B3F823861}"/>
              </a:ext>
            </a:extLst>
          </p:cNvPr>
          <p:cNvSpPr/>
          <p:nvPr/>
        </p:nvSpPr>
        <p:spPr>
          <a:xfrm>
            <a:off x="11243585" y="6152644"/>
            <a:ext cx="894667" cy="5931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63B2CF6E-35A1-088A-40B6-8005935F4A67}"/>
              </a:ext>
            </a:extLst>
          </p:cNvPr>
          <p:cNvCxnSpPr>
            <a:cxnSpLocks/>
            <a:stCxn id="14" idx="1"/>
            <a:endCxn id="5" idx="3"/>
          </p:cNvCxnSpPr>
          <p:nvPr/>
        </p:nvCxnSpPr>
        <p:spPr>
          <a:xfrm flipH="1" flipV="1">
            <a:off x="10618286" y="6461116"/>
            <a:ext cx="610006" cy="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70F60EB-2065-CD05-7460-629520B954FA}"/>
              </a:ext>
            </a:extLst>
          </p:cNvPr>
          <p:cNvSpPr txBox="1"/>
          <p:nvPr/>
        </p:nvSpPr>
        <p:spPr>
          <a:xfrm>
            <a:off x="775165" y="6175749"/>
            <a:ext cx="4700454" cy="584775"/>
          </a:xfrm>
          <a:prstGeom prst="rect">
            <a:avLst/>
          </a:prstGeom>
          <a:noFill/>
          <a:ln>
            <a:noFill/>
          </a:ln>
        </p:spPr>
        <p:txBody>
          <a:bodyPr wrap="square" rtlCol="0">
            <a:spAutoFit/>
          </a:bodyPr>
          <a:lstStyle/>
          <a:p>
            <a:pPr algn="ctr"/>
            <a:r>
              <a:rPr kumimoji="1" lang="ja-JP" altLang="en-US" sz="1600"/>
              <a:t>関連文書から</a:t>
            </a:r>
            <a:endParaRPr kumimoji="1" lang="en-US" altLang="ja-JP" sz="1600" dirty="0"/>
          </a:p>
          <a:p>
            <a:pPr algn="ctr"/>
            <a:r>
              <a:rPr lang="ja-JP" altLang="en-US" sz="1600"/>
              <a:t>最終回答を生成</a:t>
            </a:r>
            <a:endParaRPr kumimoji="1" lang="ja-JP" altLang="en-US" sz="1600"/>
          </a:p>
        </p:txBody>
      </p:sp>
      <p:sp>
        <p:nvSpPr>
          <p:cNvPr id="21" name="正方形/長方形 20">
            <a:extLst>
              <a:ext uri="{FF2B5EF4-FFF2-40B4-BE49-F238E27FC236}">
                <a16:creationId xmlns:a16="http://schemas.microsoft.com/office/drawing/2014/main" id="{776201B7-1821-CA8A-70FA-7549F82D0530}"/>
              </a:ext>
            </a:extLst>
          </p:cNvPr>
          <p:cNvSpPr/>
          <p:nvPr/>
        </p:nvSpPr>
        <p:spPr>
          <a:xfrm>
            <a:off x="669651" y="6151824"/>
            <a:ext cx="4794416" cy="6136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矢印コネクタ 23">
            <a:extLst>
              <a:ext uri="{FF2B5EF4-FFF2-40B4-BE49-F238E27FC236}">
                <a16:creationId xmlns:a16="http://schemas.microsoft.com/office/drawing/2014/main" id="{81A9F0A0-7910-F59E-84A3-B347552C698C}"/>
              </a:ext>
            </a:extLst>
          </p:cNvPr>
          <p:cNvCxnSpPr>
            <a:cxnSpLocks/>
            <a:stCxn id="5" idx="1"/>
            <a:endCxn id="21" idx="3"/>
          </p:cNvCxnSpPr>
          <p:nvPr/>
        </p:nvCxnSpPr>
        <p:spPr>
          <a:xfrm flipH="1" flipV="1">
            <a:off x="5464067" y="6458632"/>
            <a:ext cx="453766" cy="2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082807E1-B385-993A-33AD-91DD34016303}"/>
              </a:ext>
            </a:extLst>
          </p:cNvPr>
          <p:cNvCxnSpPr>
            <a:cxnSpLocks/>
            <a:stCxn id="221" idx="2"/>
          </p:cNvCxnSpPr>
          <p:nvPr/>
        </p:nvCxnSpPr>
        <p:spPr>
          <a:xfrm>
            <a:off x="10982450" y="5858646"/>
            <a:ext cx="0" cy="5929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490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AE88E4B-569F-1FA4-B718-32DDBCD9B9BC}"/>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98A7C2C-1FB2-678E-E8D0-B70566B22FDA}"/>
              </a:ext>
            </a:extLst>
          </p:cNvPr>
          <p:cNvSpPr>
            <a:spLocks noGrp="1"/>
          </p:cNvSpPr>
          <p:nvPr>
            <p:ph idx="1"/>
          </p:nvPr>
        </p:nvSpPr>
        <p:spPr>
          <a:xfrm>
            <a:off x="591070" y="1023078"/>
            <a:ext cx="11246873" cy="5182850"/>
          </a:xfrm>
        </p:spPr>
        <p:txBody>
          <a:bodyPr>
            <a:normAutofit/>
          </a:bodyPr>
          <a:lstStyle/>
          <a:p>
            <a:r>
              <a:rPr lang="en-US" altLang="ja-JP" dirty="0"/>
              <a:t>4</a:t>
            </a:r>
            <a:r>
              <a:rPr lang="ja-JP" altLang="en-US"/>
              <a:t>つの評価軸に対し</a:t>
            </a:r>
            <a:r>
              <a:rPr lang="en-US" altLang="ja-JP" dirty="0"/>
              <a:t>, LLM</a:t>
            </a:r>
            <a:r>
              <a:rPr lang="ja-JP" altLang="en-US"/>
              <a:t>がどちらがいいか判定</a:t>
            </a:r>
            <a:r>
              <a:rPr lang="en-US" altLang="ja-JP" dirty="0"/>
              <a:t>, </a:t>
            </a:r>
            <a:r>
              <a:rPr lang="ja-JP" altLang="en-US"/>
              <a:t>勝率を算出</a:t>
            </a:r>
            <a:endParaRPr lang="en-US" altLang="ja-JP" dirty="0"/>
          </a:p>
          <a:p>
            <a:pPr lvl="1"/>
            <a:r>
              <a:rPr lang="en" altLang="ja-JP" dirty="0">
                <a:effectLst/>
                <a:latin typeface="Yu Gothic" panose="020B0400000000000000" pitchFamily="34" charset="-128"/>
                <a:ea typeface="Yu Gothic" panose="020B0400000000000000" pitchFamily="34" charset="-128"/>
              </a:rPr>
              <a:t>Comprehensiveness</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網羅性</a:t>
            </a:r>
            <a:r>
              <a:rPr lang="en-US" altLang="ja-JP" dirty="0">
                <a:latin typeface="Yu Gothic" panose="020B0400000000000000" pitchFamily="34" charset="-128"/>
                <a:ea typeface="Yu Gothic" panose="020B0400000000000000" pitchFamily="34" charset="-128"/>
              </a:rPr>
              <a:t>)</a:t>
            </a:r>
          </a:p>
          <a:p>
            <a:pPr lvl="2"/>
            <a:r>
              <a:rPr lang="ja-JP" altLang="en-US">
                <a:effectLst/>
                <a:latin typeface="Yu Gothic" panose="020B0400000000000000" pitchFamily="34" charset="-128"/>
                <a:ea typeface="Yu Gothic" panose="020B0400000000000000" pitchFamily="34" charset="-128"/>
              </a:rPr>
              <a:t>質問に含まれる要素をどれだけ広くカバーしているか</a:t>
            </a:r>
            <a:endParaRPr lang="en-US" altLang="ja-JP" dirty="0">
              <a:effectLst/>
              <a:latin typeface="Yu Gothic" panose="020B0400000000000000" pitchFamily="34" charset="-128"/>
              <a:ea typeface="Yu Gothic" panose="020B0400000000000000" pitchFamily="34" charset="-128"/>
            </a:endParaRPr>
          </a:p>
          <a:p>
            <a:pPr lvl="1"/>
            <a:r>
              <a:rPr lang="en" altLang="ja-JP" dirty="0">
                <a:effectLst/>
                <a:latin typeface="Yu Gothic" panose="020B0400000000000000" pitchFamily="34" charset="-128"/>
                <a:ea typeface="Yu Gothic" panose="020B0400000000000000" pitchFamily="34" charset="-128"/>
              </a:rPr>
              <a:t>Diversity</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多様性</a:t>
            </a:r>
            <a:r>
              <a:rPr lang="en-US" altLang="ja-JP" dirty="0">
                <a:effectLst/>
                <a:latin typeface="Yu Gothic" panose="020B0400000000000000" pitchFamily="34" charset="-128"/>
                <a:ea typeface="Yu Gothic" panose="020B0400000000000000" pitchFamily="34" charset="-128"/>
              </a:rPr>
              <a:t>)</a:t>
            </a:r>
          </a:p>
          <a:p>
            <a:pPr lvl="2"/>
            <a:r>
              <a:rPr lang="ja-JP" altLang="en-US">
                <a:effectLst/>
                <a:latin typeface="Yu Gothic" panose="020B0400000000000000" pitchFamily="34" charset="-128"/>
                <a:ea typeface="Yu Gothic" panose="020B0400000000000000" pitchFamily="34" charset="-128"/>
              </a:rPr>
              <a:t>複数の角度・概念・観点から説明しているか </a:t>
            </a:r>
            <a:endParaRPr lang="en-US" altLang="ja-JP" dirty="0">
              <a:effectLst/>
              <a:latin typeface="Yu Gothic" panose="020B0400000000000000" pitchFamily="34" charset="-128"/>
              <a:ea typeface="Yu Gothic" panose="020B0400000000000000" pitchFamily="34" charset="-128"/>
            </a:endParaRPr>
          </a:p>
          <a:p>
            <a:pPr lvl="1"/>
            <a:r>
              <a:rPr lang="en" altLang="ja-JP" dirty="0">
                <a:effectLst/>
                <a:latin typeface="Yu Gothic" panose="020B0400000000000000" pitchFamily="34" charset="-128"/>
                <a:ea typeface="Yu Gothic" panose="020B0400000000000000" pitchFamily="34" charset="-128"/>
              </a:rPr>
              <a:t>Empowerment</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理解補助</a:t>
            </a:r>
            <a:r>
              <a:rPr lang="en-US" altLang="ja-JP" dirty="0">
                <a:effectLst/>
                <a:latin typeface="Yu Gothic" panose="020B0400000000000000" pitchFamily="34" charset="-128"/>
                <a:ea typeface="Yu Gothic" panose="020B0400000000000000" pitchFamily="34" charset="-128"/>
              </a:rPr>
              <a:t>)</a:t>
            </a:r>
          </a:p>
          <a:p>
            <a:pPr lvl="2"/>
            <a:r>
              <a:rPr lang="ja-JP" altLang="en-US">
                <a:effectLst/>
                <a:latin typeface="Yu Gothic" panose="020B0400000000000000" pitchFamily="34" charset="-128"/>
                <a:ea typeface="Yu Gothic" panose="020B0400000000000000" pitchFamily="34" charset="-128"/>
              </a:rPr>
              <a:t>読んだ人がより深い理解・判断ができるようになるか</a:t>
            </a:r>
            <a:endParaRPr lang="en-US" altLang="ja-JP" dirty="0">
              <a:effectLst/>
              <a:latin typeface="Yu Gothic" panose="020B0400000000000000" pitchFamily="34" charset="-128"/>
              <a:ea typeface="Yu Gothic" panose="020B0400000000000000" pitchFamily="34" charset="-128"/>
            </a:endParaRPr>
          </a:p>
          <a:p>
            <a:pPr lvl="1"/>
            <a:r>
              <a:rPr lang="en" altLang="ja-JP" dirty="0">
                <a:effectLst/>
                <a:latin typeface="Yu Gothic" panose="020B0400000000000000" pitchFamily="34" charset="-128"/>
                <a:ea typeface="Yu Gothic" panose="020B0400000000000000" pitchFamily="34" charset="-128"/>
              </a:rPr>
              <a:t>Directness</a:t>
            </a:r>
            <a:r>
              <a:rPr lang="en" altLang="ja-JP" dirty="0">
                <a:latin typeface="Yu Gothic" panose="020B0400000000000000" pitchFamily="34" charset="-128"/>
                <a:ea typeface="Yu Gothic" panose="020B0400000000000000" pitchFamily="34" charset="-128"/>
              </a:rPr>
              <a:t> </a:t>
            </a:r>
            <a:r>
              <a:rPr lang="en-US" altLang="ja-JP" dirty="0">
                <a:latin typeface="Yu Gothic" panose="020B0400000000000000" pitchFamily="34" charset="-128"/>
                <a:ea typeface="Yu Gothic" panose="020B0400000000000000" pitchFamily="34" charset="-128"/>
              </a:rPr>
              <a:t>(</a:t>
            </a:r>
            <a:r>
              <a:rPr lang="ja-JP" altLang="en-US">
                <a:effectLst/>
                <a:latin typeface="Yu Gothic" panose="020B0400000000000000" pitchFamily="34" charset="-128"/>
                <a:ea typeface="Yu Gothic" panose="020B0400000000000000" pitchFamily="34" charset="-128"/>
              </a:rPr>
              <a:t>簡潔さ・直接性</a:t>
            </a:r>
            <a:r>
              <a:rPr lang="en-US" altLang="ja-JP" dirty="0">
                <a:effectLst/>
                <a:latin typeface="Yu Gothic" panose="020B0400000000000000" pitchFamily="34" charset="-128"/>
                <a:ea typeface="Yu Gothic" panose="020B0400000000000000" pitchFamily="34" charset="-128"/>
              </a:rPr>
              <a:t>)</a:t>
            </a:r>
          </a:p>
          <a:p>
            <a:pPr lvl="2"/>
            <a:r>
              <a:rPr kumimoji="1" lang="ja-JP" altLang="en-US">
                <a:latin typeface="Yu Gothic" panose="020B0400000000000000" pitchFamily="34" charset="-128"/>
                <a:ea typeface="Yu Gothic" panose="020B0400000000000000" pitchFamily="34" charset="-128"/>
              </a:rPr>
              <a:t>短く</a:t>
            </a:r>
            <a:r>
              <a:rPr kumimoji="1" lang="en-US" altLang="ja-JP" dirty="0">
                <a:latin typeface="Yu Gothic" panose="020B0400000000000000" pitchFamily="34" charset="-128"/>
                <a:ea typeface="Yu Gothic" panose="020B0400000000000000" pitchFamily="34" charset="-128"/>
              </a:rPr>
              <a:t>, </a:t>
            </a:r>
            <a:r>
              <a:rPr kumimoji="1" lang="ja-JP" altLang="en-US">
                <a:latin typeface="Yu Gothic" panose="020B0400000000000000" pitchFamily="34" charset="-128"/>
                <a:ea typeface="Yu Gothic" panose="020B0400000000000000" pitchFamily="34" charset="-128"/>
              </a:rPr>
              <a:t>的確に答えているか</a:t>
            </a:r>
            <a:endParaRPr kumimoji="1" lang="en-US" altLang="ja-JP" dirty="0">
              <a:latin typeface="Yu Gothic" panose="020B0400000000000000" pitchFamily="34" charset="-128"/>
              <a:ea typeface="Yu Gothic" panose="020B0400000000000000" pitchFamily="34" charset="-128"/>
            </a:endParaRPr>
          </a:p>
          <a:p>
            <a:pPr lvl="2"/>
            <a:r>
              <a:rPr lang="ja-JP" altLang="en-US">
                <a:latin typeface="Yu Gothic" panose="020B0400000000000000" pitchFamily="34" charset="-128"/>
                <a:ea typeface="Yu Gothic" panose="020B0400000000000000" pitchFamily="34" charset="-128"/>
              </a:rPr>
              <a:t>この指標は</a:t>
            </a:r>
            <a:r>
              <a:rPr lang="en-US" altLang="ja-JP" dirty="0">
                <a:latin typeface="Yu Gothic" panose="020B0400000000000000" pitchFamily="34" charset="-128"/>
                <a:ea typeface="Yu Gothic" panose="020B0400000000000000" pitchFamily="34" charset="-128"/>
              </a:rPr>
              <a:t>GraphRAG</a:t>
            </a:r>
            <a:r>
              <a:rPr lang="ja-JP" altLang="en-US">
                <a:latin typeface="Yu Gothic" panose="020B0400000000000000" pitchFamily="34" charset="-128"/>
                <a:ea typeface="Yu Gothic" panose="020B0400000000000000" pitchFamily="34" charset="-128"/>
              </a:rPr>
              <a:t>よりも</a:t>
            </a:r>
            <a:r>
              <a:rPr lang="en-US" altLang="ja-JP" dirty="0">
                <a:latin typeface="Yu Gothic" panose="020B0400000000000000" pitchFamily="34" charset="-128"/>
                <a:ea typeface="Yu Gothic" panose="020B0400000000000000" pitchFamily="34" charset="-128"/>
              </a:rPr>
              <a:t>RAG</a:t>
            </a:r>
            <a:r>
              <a:rPr lang="ja-JP" altLang="en-US">
                <a:latin typeface="Yu Gothic" panose="020B0400000000000000" pitchFamily="34" charset="-128"/>
                <a:ea typeface="Yu Gothic" panose="020B0400000000000000" pitchFamily="34" charset="-128"/>
              </a:rPr>
              <a:t>の方が優秀</a:t>
            </a:r>
            <a:endParaRPr kumimoji="1" lang="en-US" altLang="ja-JP" dirty="0">
              <a:latin typeface="Yu Gothic" panose="020B0400000000000000" pitchFamily="34" charset="-128"/>
              <a:ea typeface="Yu Gothic" panose="020B0400000000000000" pitchFamily="34" charset="-128"/>
            </a:endParaRPr>
          </a:p>
          <a:p>
            <a:endParaRPr lang="en-US" altLang="ja-JP" dirty="0">
              <a:effectLst/>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8FB42AB4-4890-8F4B-E438-ACAD5948B41E}"/>
              </a:ext>
            </a:extLst>
          </p:cNvPr>
          <p:cNvSpPr>
            <a:spLocks noGrp="1"/>
          </p:cNvSpPr>
          <p:nvPr>
            <p:ph type="body" sz="quarter" idx="11"/>
          </p:nvPr>
        </p:nvSpPr>
        <p:spPr/>
        <p:txBody>
          <a:bodyPr>
            <a:normAutofit fontScale="92500" lnSpcReduction="20000"/>
          </a:bodyPr>
          <a:lstStyle/>
          <a:p>
            <a:r>
              <a:rPr kumimoji="1" lang="ja-JP" altLang="en-US"/>
              <a:t>実験</a:t>
            </a:r>
            <a:r>
              <a:rPr kumimoji="1" lang="en-US" altLang="ja-JP" dirty="0"/>
              <a:t>1</a:t>
            </a:r>
            <a:r>
              <a:rPr kumimoji="1" lang="ja-JP" altLang="en-US"/>
              <a:t>：</a:t>
            </a:r>
            <a:r>
              <a:rPr kumimoji="1" lang="en-US" altLang="ja-JP" dirty="0"/>
              <a:t>LLM</a:t>
            </a:r>
            <a:r>
              <a:rPr kumimoji="1" lang="ja-JP" altLang="en-US"/>
              <a:t>による評価</a:t>
            </a:r>
            <a:endParaRPr kumimoji="1" lang="en" altLang="ja-JP" dirty="0"/>
          </a:p>
        </p:txBody>
      </p:sp>
    </p:spTree>
    <p:extLst>
      <p:ext uri="{BB962C8B-B14F-4D97-AF65-F5344CB8AC3E}">
        <p14:creationId xmlns:p14="http://schemas.microsoft.com/office/powerpoint/2010/main" val="2702714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20D020-2668-FABD-35DC-370AADE22555}"/>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BCE1CC8-F1B4-CDF3-CEAF-DFCAC4CE76AC}"/>
              </a:ext>
            </a:extLst>
          </p:cNvPr>
          <p:cNvSpPr>
            <a:spLocks noGrp="1"/>
          </p:cNvSpPr>
          <p:nvPr>
            <p:ph idx="1"/>
          </p:nvPr>
        </p:nvSpPr>
        <p:spPr>
          <a:xfrm>
            <a:off x="591070" y="1023078"/>
            <a:ext cx="11246873" cy="5182850"/>
          </a:xfrm>
        </p:spPr>
        <p:txBody>
          <a:bodyPr>
            <a:normAutofit fontScale="92500"/>
          </a:bodyPr>
          <a:lstStyle/>
          <a:p>
            <a:r>
              <a:rPr lang="en-US" altLang="ja-JP" dirty="0"/>
              <a:t>Claim </a:t>
            </a:r>
            <a:r>
              <a:rPr kumimoji="1" lang="en-US" altLang="ja-JP" dirty="0"/>
              <a:t>(</a:t>
            </a:r>
            <a:r>
              <a:rPr kumimoji="1" lang="ja-JP" altLang="en-US"/>
              <a:t>事実に基づく</a:t>
            </a:r>
            <a:r>
              <a:rPr lang="ja-JP" altLang="en-US"/>
              <a:t>主張</a:t>
            </a:r>
            <a:r>
              <a:rPr lang="en" altLang="ja-JP" dirty="0"/>
              <a:t>)</a:t>
            </a:r>
            <a:r>
              <a:rPr lang="ja-JP" altLang="en-US"/>
              <a:t>：</a:t>
            </a:r>
            <a:r>
              <a:rPr lang="ja-JP" altLang="en-US">
                <a:solidFill>
                  <a:srgbClr val="C00000"/>
                </a:solidFill>
              </a:rPr>
              <a:t>検証可能な事実を明示的に示す</a:t>
            </a:r>
            <a:r>
              <a:rPr lang="ja-JP" altLang="en-US"/>
              <a:t>文のこと</a:t>
            </a:r>
            <a:endParaRPr lang="en-US" altLang="ja-JP" dirty="0"/>
          </a:p>
          <a:p>
            <a:pPr lvl="1"/>
            <a:r>
              <a:rPr kumimoji="1" lang="ja-JP" altLang="en-US">
                <a:latin typeface="Yu Gothic" panose="020B0400000000000000" pitchFamily="34" charset="-128"/>
                <a:ea typeface="Yu Gothic" panose="020B0400000000000000" pitchFamily="34" charset="-128"/>
              </a:rPr>
              <a:t>「カリフォルニア州とニューヨーク州は再生可能エネルギー導入のためのインセンティブを実施しており</a:t>
            </a:r>
            <a:r>
              <a:rPr kumimoji="1" lang="en-US" altLang="ja-JP" dirty="0">
                <a:latin typeface="Yu Gothic" panose="020B0400000000000000" pitchFamily="34" charset="-128"/>
                <a:ea typeface="Yu Gothic" panose="020B0400000000000000" pitchFamily="34" charset="-128"/>
              </a:rPr>
              <a:t>, </a:t>
            </a:r>
            <a:r>
              <a:rPr kumimoji="1" lang="ja-JP" altLang="en-US">
                <a:latin typeface="Yu Gothic" panose="020B0400000000000000" pitchFamily="34" charset="-128"/>
                <a:ea typeface="Yu Gothic" panose="020B0400000000000000" pitchFamily="34" charset="-128"/>
              </a:rPr>
              <a:t>政策決定における持続可能性の重要性を示している」の場合</a:t>
            </a:r>
            <a:r>
              <a:rPr kumimoji="1" lang="en-US" altLang="ja-JP" dirty="0">
                <a:latin typeface="Yu Gothic" panose="020B0400000000000000" pitchFamily="34" charset="-128"/>
                <a:ea typeface="Yu Gothic" panose="020B0400000000000000" pitchFamily="34" charset="-128"/>
              </a:rPr>
              <a:t>, </a:t>
            </a:r>
            <a:r>
              <a:rPr kumimoji="1" lang="ja-JP" altLang="en-US">
                <a:latin typeface="Yu Gothic" panose="020B0400000000000000" pitchFamily="34" charset="-128"/>
                <a:ea typeface="Yu Gothic" panose="020B0400000000000000" pitchFamily="34" charset="-128"/>
              </a:rPr>
              <a:t>主張は以下の</a:t>
            </a:r>
            <a:r>
              <a:rPr kumimoji="1" lang="en-US" altLang="ja-JP" dirty="0">
                <a:latin typeface="Yu Gothic" panose="020B0400000000000000" pitchFamily="34" charset="-128"/>
                <a:ea typeface="Yu Gothic" panose="020B0400000000000000" pitchFamily="34" charset="-128"/>
              </a:rPr>
              <a:t>2</a:t>
            </a:r>
            <a:r>
              <a:rPr kumimoji="1" lang="ja-JP" altLang="en-US">
                <a:latin typeface="Yu Gothic" panose="020B0400000000000000" pitchFamily="34" charset="-128"/>
                <a:ea typeface="Yu Gothic" panose="020B0400000000000000" pitchFamily="34" charset="-128"/>
              </a:rPr>
              <a:t>つ</a:t>
            </a:r>
            <a:endParaRPr kumimoji="1" lang="en-US" altLang="ja-JP" dirty="0">
              <a:latin typeface="Yu Gothic" panose="020B0400000000000000" pitchFamily="34" charset="-128"/>
              <a:ea typeface="Yu Gothic" panose="020B0400000000000000" pitchFamily="34" charset="-128"/>
            </a:endParaRPr>
          </a:p>
          <a:p>
            <a:pPr lvl="2"/>
            <a:r>
              <a:rPr kumimoji="1" lang="ja-JP" altLang="en-US">
                <a:latin typeface="Yu Gothic" panose="020B0400000000000000" pitchFamily="34" charset="-128"/>
                <a:ea typeface="Yu Gothic" panose="020B0400000000000000" pitchFamily="34" charset="-128"/>
              </a:rPr>
              <a:t>カリフォルニア州は再生可能エネルギー導入のためのインセンティブを実施した</a:t>
            </a:r>
            <a:r>
              <a:rPr kumimoji="1" lang="en-US" altLang="ja-JP" dirty="0">
                <a:latin typeface="Yu Gothic" panose="020B0400000000000000" pitchFamily="34" charset="-128"/>
                <a:ea typeface="Yu Gothic" panose="020B0400000000000000" pitchFamily="34" charset="-128"/>
              </a:rPr>
              <a:t>.</a:t>
            </a:r>
          </a:p>
          <a:p>
            <a:pPr lvl="2"/>
            <a:r>
              <a:rPr kumimoji="1" lang="ja-JP" altLang="en-US">
                <a:latin typeface="Yu Gothic" panose="020B0400000000000000" pitchFamily="34" charset="-128"/>
                <a:ea typeface="Yu Gothic" panose="020B0400000000000000" pitchFamily="34" charset="-128"/>
              </a:rPr>
              <a:t>ニューヨーク州は再生可能エネルギー導入のためのインセンティブを実施した</a:t>
            </a:r>
            <a:r>
              <a:rPr kumimoji="1" lang="en-US" altLang="ja-JP" dirty="0">
                <a:latin typeface="Yu Gothic" panose="020B0400000000000000" pitchFamily="34" charset="-128"/>
                <a:ea typeface="Yu Gothic" panose="020B0400000000000000" pitchFamily="34" charset="-128"/>
              </a:rPr>
              <a:t>.</a:t>
            </a:r>
          </a:p>
          <a:p>
            <a:pPr lvl="1"/>
            <a:r>
              <a:rPr kumimoji="1" lang="ja-JP" altLang="en-US">
                <a:latin typeface="Yu Gothic" panose="020B0400000000000000" pitchFamily="34" charset="-128"/>
                <a:ea typeface="Yu Gothic" panose="020B0400000000000000" pitchFamily="34" charset="-128"/>
              </a:rPr>
              <a:t>事実に基づく主張の抽出には</a:t>
            </a:r>
            <a:r>
              <a:rPr kumimoji="1" lang="en-US" altLang="ja-JP" dirty="0">
                <a:latin typeface="Yu Gothic" panose="020B0400000000000000" pitchFamily="34" charset="-128"/>
                <a:ea typeface="Yu Gothic" panose="020B0400000000000000" pitchFamily="34" charset="-128"/>
              </a:rPr>
              <a:t>, </a:t>
            </a:r>
            <a:r>
              <a:rPr kumimoji="1" lang="en-US" altLang="ja-JP" dirty="0" err="1">
                <a:latin typeface="Yu Gothic" panose="020B0400000000000000" pitchFamily="34" charset="-128"/>
                <a:ea typeface="Yu Gothic" panose="020B0400000000000000" pitchFamily="34" charset="-128"/>
              </a:rPr>
              <a:t>Claimify</a:t>
            </a:r>
            <a:r>
              <a:rPr kumimoji="1" lang="en-US" altLang="ja-JP" baseline="30000" dirty="0">
                <a:latin typeface="Yu Gothic" panose="020B0400000000000000" pitchFamily="34" charset="-128"/>
                <a:ea typeface="Yu Gothic" panose="020B0400000000000000" pitchFamily="34" charset="-128"/>
              </a:rPr>
              <a:t>[1]</a:t>
            </a:r>
            <a:r>
              <a:rPr kumimoji="1" lang="ja-JP" altLang="en-US">
                <a:latin typeface="Yu Gothic" panose="020B0400000000000000" pitchFamily="34" charset="-128"/>
                <a:ea typeface="Yu Gothic" panose="020B0400000000000000" pitchFamily="34" charset="-128"/>
              </a:rPr>
              <a:t>という</a:t>
            </a:r>
            <a:r>
              <a:rPr kumimoji="1" lang="en-US" altLang="ja-JP" dirty="0">
                <a:latin typeface="Yu Gothic" panose="020B0400000000000000" pitchFamily="34" charset="-128"/>
                <a:ea typeface="Yu Gothic" panose="020B0400000000000000" pitchFamily="34" charset="-128"/>
              </a:rPr>
              <a:t>LLM</a:t>
            </a:r>
            <a:r>
              <a:rPr kumimoji="1" lang="ja-JP" altLang="en-US">
                <a:latin typeface="Yu Gothic" panose="020B0400000000000000" pitchFamily="34" charset="-128"/>
                <a:ea typeface="Yu Gothic" panose="020B0400000000000000" pitchFamily="34" charset="-128"/>
              </a:rPr>
              <a:t>ベースの手法を使用</a:t>
            </a:r>
            <a:endParaRPr kumimoji="1" lang="en-US" altLang="ja-JP" dirty="0">
              <a:latin typeface="Yu Gothic" panose="020B0400000000000000" pitchFamily="34" charset="-128"/>
              <a:ea typeface="Yu Gothic" panose="020B0400000000000000" pitchFamily="34" charset="-128"/>
            </a:endParaRPr>
          </a:p>
          <a:p>
            <a:r>
              <a:rPr lang="en-US" altLang="ja-JP" dirty="0"/>
              <a:t>2</a:t>
            </a:r>
            <a:r>
              <a:rPr lang="ja-JP" altLang="en-US"/>
              <a:t>つの客観指標で比較</a:t>
            </a:r>
            <a:endParaRPr lang="en-US" altLang="ja-JP" dirty="0"/>
          </a:p>
          <a:p>
            <a:pPr lvl="1"/>
            <a:r>
              <a:rPr lang="en" altLang="ja-JP" b="1" dirty="0">
                <a:solidFill>
                  <a:srgbClr val="C00000"/>
                </a:solidFill>
                <a:latin typeface="Yu Gothic" panose="020B0400000000000000" pitchFamily="34" charset="-128"/>
                <a:ea typeface="Yu Gothic" panose="020B0400000000000000" pitchFamily="34" charset="-128"/>
              </a:rPr>
              <a:t>Comprehensiveness</a:t>
            </a:r>
            <a:r>
              <a:rPr lang="en-US" altLang="ja-JP" b="1" dirty="0">
                <a:solidFill>
                  <a:srgbClr val="C00000"/>
                </a:solidFill>
                <a:latin typeface="Yu Gothic" panose="020B0400000000000000" pitchFamily="34" charset="-128"/>
                <a:ea typeface="Yu Gothic" panose="020B0400000000000000" pitchFamily="34" charset="-128"/>
              </a:rPr>
              <a:t> (</a:t>
            </a:r>
            <a:r>
              <a:rPr lang="ja-JP" altLang="en-US" b="1">
                <a:solidFill>
                  <a:srgbClr val="C00000"/>
                </a:solidFill>
                <a:latin typeface="Yu Gothic" panose="020B0400000000000000" pitchFamily="34" charset="-128"/>
                <a:ea typeface="Yu Gothic" panose="020B0400000000000000" pitchFamily="34" charset="-128"/>
              </a:rPr>
              <a:t>網羅性</a:t>
            </a:r>
            <a:r>
              <a:rPr lang="en-US" altLang="ja-JP" b="1" dirty="0">
                <a:solidFill>
                  <a:srgbClr val="C00000"/>
                </a:solidFill>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：各回答から抽出された主張数</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の平均値</a:t>
            </a:r>
            <a:r>
              <a:rPr lang="en-US" altLang="ja-JP" dirty="0">
                <a:latin typeface="Yu Gothic" panose="020B0400000000000000" pitchFamily="34" charset="-128"/>
                <a:ea typeface="Yu Gothic" panose="020B0400000000000000" pitchFamily="34" charset="-128"/>
              </a:rPr>
              <a:t>)</a:t>
            </a:r>
          </a:p>
          <a:p>
            <a:pPr lvl="1"/>
            <a:r>
              <a:rPr lang="en" altLang="ja-JP" b="1" dirty="0">
                <a:solidFill>
                  <a:srgbClr val="C00000"/>
                </a:solidFill>
                <a:latin typeface="Yu Gothic" panose="020B0400000000000000" pitchFamily="34" charset="-128"/>
                <a:ea typeface="Yu Gothic" panose="020B0400000000000000" pitchFamily="34" charset="-128"/>
              </a:rPr>
              <a:t>Diversity</a:t>
            </a:r>
            <a:r>
              <a:rPr lang="en-US" altLang="ja-JP" b="1" dirty="0">
                <a:solidFill>
                  <a:srgbClr val="C00000"/>
                </a:solidFill>
                <a:latin typeface="Yu Gothic" panose="020B0400000000000000" pitchFamily="34" charset="-128"/>
                <a:ea typeface="Yu Gothic" panose="020B0400000000000000" pitchFamily="34" charset="-128"/>
              </a:rPr>
              <a:t> (</a:t>
            </a:r>
            <a:r>
              <a:rPr lang="ja-JP" altLang="en-US" b="1">
                <a:solidFill>
                  <a:srgbClr val="C00000"/>
                </a:solidFill>
                <a:latin typeface="Yu Gothic" panose="020B0400000000000000" pitchFamily="34" charset="-128"/>
                <a:ea typeface="Yu Gothic" panose="020B0400000000000000" pitchFamily="34" charset="-128"/>
              </a:rPr>
              <a:t>多様性</a:t>
            </a:r>
            <a:r>
              <a:rPr lang="en-US" altLang="ja-JP" b="1" dirty="0">
                <a:solidFill>
                  <a:srgbClr val="C00000"/>
                </a:solidFill>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：各回答における主張をクラスタリングしたときのクラスタ数</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の平均値</a:t>
            </a:r>
            <a:r>
              <a:rPr lang="en-US" altLang="ja-JP" dirty="0">
                <a:latin typeface="Yu Gothic" panose="020B0400000000000000" pitchFamily="34" charset="-128"/>
                <a:ea typeface="Yu Gothic" panose="020B0400000000000000" pitchFamily="34" charset="-128"/>
              </a:rPr>
              <a:t>)</a:t>
            </a:r>
          </a:p>
          <a:p>
            <a:pPr lvl="2"/>
            <a:r>
              <a:rPr lang="ja-JP" altLang="en-US">
                <a:effectLst/>
                <a:latin typeface="Yu Gothic" panose="020B0400000000000000" pitchFamily="34" charset="-128"/>
                <a:ea typeface="Yu Gothic" panose="020B0400000000000000" pitchFamily="34" charset="-128"/>
              </a:rPr>
              <a:t>クラスタリングには</a:t>
            </a:r>
            <a:r>
              <a:rPr lang="en" altLang="ja-JP" dirty="0" err="1">
                <a:effectLst/>
                <a:latin typeface="Yu Gothic" panose="020B0400000000000000" pitchFamily="34" charset="-128"/>
                <a:ea typeface="Yu Gothic" panose="020B0400000000000000" pitchFamily="34" charset="-128"/>
              </a:rPr>
              <a:t>Padmakumar</a:t>
            </a:r>
            <a:r>
              <a:rPr lang="en" altLang="ja-JP" dirty="0">
                <a:effectLst/>
                <a:latin typeface="Yu Gothic" panose="020B0400000000000000" pitchFamily="34" charset="-128"/>
                <a:ea typeface="Yu Gothic" panose="020B0400000000000000" pitchFamily="34" charset="-128"/>
              </a:rPr>
              <a:t> and He</a:t>
            </a:r>
            <a:r>
              <a:rPr lang="en-US" altLang="ja-JP" dirty="0">
                <a:effectLst/>
                <a:latin typeface="Yu Gothic" panose="020B0400000000000000" pitchFamily="34" charset="-128"/>
                <a:ea typeface="Yu Gothic" panose="020B0400000000000000" pitchFamily="34" charset="-128"/>
              </a:rPr>
              <a:t> (</a:t>
            </a:r>
            <a:r>
              <a:rPr lang="en" altLang="ja-JP" dirty="0">
                <a:effectLst/>
                <a:latin typeface="Yu Gothic" panose="020B0400000000000000" pitchFamily="34" charset="-128"/>
                <a:ea typeface="Yu Gothic" panose="020B0400000000000000" pitchFamily="34" charset="-128"/>
              </a:rPr>
              <a:t>2024</a:t>
            </a:r>
            <a:r>
              <a:rPr lang="en-US" altLang="ja-JP" dirty="0">
                <a:latin typeface="Yu Gothic" panose="020B0400000000000000" pitchFamily="34" charset="-128"/>
                <a:ea typeface="Yu Gothic" panose="020B0400000000000000" pitchFamily="34" charset="-128"/>
              </a:rPr>
              <a:t>)</a:t>
            </a:r>
            <a:r>
              <a:rPr lang="en-US" altLang="ja-JP" baseline="30000" dirty="0">
                <a:latin typeface="Yu Gothic" panose="020B0400000000000000" pitchFamily="34" charset="-128"/>
                <a:ea typeface="Yu Gothic" panose="020B0400000000000000" pitchFamily="34" charset="-128"/>
              </a:rPr>
              <a:t>[2]</a:t>
            </a:r>
            <a:r>
              <a:rPr lang="en" altLang="ja-JP" dirty="0">
                <a:latin typeface="Yu Gothic" panose="020B0400000000000000" pitchFamily="34" charset="-128"/>
                <a:ea typeface="Yu Gothic" panose="020B0400000000000000" pitchFamily="34" charset="-128"/>
              </a:rPr>
              <a:t> </a:t>
            </a:r>
            <a:r>
              <a:rPr lang="ja-JP" altLang="en-US">
                <a:effectLst/>
                <a:latin typeface="Yu Gothic" panose="020B0400000000000000" pitchFamily="34" charset="-128"/>
                <a:ea typeface="Yu Gothic" panose="020B0400000000000000" pitchFamily="34" charset="-128"/>
              </a:rPr>
              <a:t>によって記述されたアプローチに従い</a:t>
            </a:r>
            <a:r>
              <a:rPr lang="en-US" altLang="ja-JP" dirty="0">
                <a:effectLst/>
                <a:latin typeface="Yu Gothic" panose="020B0400000000000000" pitchFamily="34" charset="-128"/>
                <a:ea typeface="Yu Gothic" panose="020B0400000000000000" pitchFamily="34" charset="-128"/>
              </a:rPr>
              <a:t>, Scikit-learn</a:t>
            </a:r>
            <a:r>
              <a:rPr lang="ja-JP" altLang="en-US">
                <a:effectLst/>
                <a:latin typeface="Yu Gothic" panose="020B0400000000000000" pitchFamily="34" charset="-128"/>
                <a:ea typeface="Yu Gothic" panose="020B0400000000000000" pitchFamily="34" charset="-128"/>
              </a:rPr>
              <a:t>の凝集型クラスタリング</a:t>
            </a:r>
            <a:r>
              <a:rPr lang="en-US" altLang="ja-JP" dirty="0">
                <a:effectLst/>
                <a:latin typeface="Yu Gothic" panose="020B0400000000000000" pitchFamily="34" charset="-128"/>
                <a:ea typeface="Yu Gothic" panose="020B0400000000000000" pitchFamily="34" charset="-128"/>
              </a:rPr>
              <a:t> (agglomerative clustering</a:t>
            </a:r>
            <a:r>
              <a:rPr lang="en-US" altLang="ja-JP" dirty="0">
                <a:latin typeface="Yu Gothic" panose="020B0400000000000000" pitchFamily="34" charset="-128"/>
                <a:ea typeface="Yu Gothic" panose="020B0400000000000000" pitchFamily="34" charset="-128"/>
              </a:rPr>
              <a:t>)</a:t>
            </a:r>
            <a:r>
              <a:rPr lang="en-US" altLang="ja-JP" baseline="30000" dirty="0">
                <a:latin typeface="Yu Gothic" panose="020B0400000000000000" pitchFamily="34" charset="-128"/>
                <a:ea typeface="Yu Gothic" panose="020B0400000000000000" pitchFamily="34" charset="-128"/>
              </a:rPr>
              <a:t>[3]</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の実装を使用</a:t>
            </a:r>
            <a:endParaRPr lang="en-US" altLang="ja-JP" dirty="0">
              <a:effectLst/>
              <a:latin typeface="Yu Gothic" panose="020B0400000000000000" pitchFamily="34" charset="-128"/>
              <a:ea typeface="Yu Gothic" panose="020B0400000000000000" pitchFamily="34" charset="-128"/>
            </a:endParaRPr>
          </a:p>
        </p:txBody>
      </p:sp>
      <p:sp>
        <p:nvSpPr>
          <p:cNvPr id="4" name="テキスト プレースホルダー 3">
            <a:extLst>
              <a:ext uri="{FF2B5EF4-FFF2-40B4-BE49-F238E27FC236}">
                <a16:creationId xmlns:a16="http://schemas.microsoft.com/office/drawing/2014/main" id="{56C3134F-A630-9897-CECE-DA5C71601DCB}"/>
              </a:ext>
            </a:extLst>
          </p:cNvPr>
          <p:cNvSpPr>
            <a:spLocks noGrp="1"/>
          </p:cNvSpPr>
          <p:nvPr>
            <p:ph type="body" sz="quarter" idx="11"/>
          </p:nvPr>
        </p:nvSpPr>
        <p:spPr/>
        <p:txBody>
          <a:bodyPr>
            <a:normAutofit fontScale="92500" lnSpcReduction="20000"/>
          </a:bodyPr>
          <a:lstStyle/>
          <a:p>
            <a:r>
              <a:rPr lang="ja-JP" altLang="en-US"/>
              <a:t>実験</a:t>
            </a:r>
            <a:r>
              <a:rPr lang="en-US" altLang="ja-JP" dirty="0"/>
              <a:t>2</a:t>
            </a:r>
            <a:r>
              <a:rPr lang="ja-JP" altLang="en-US"/>
              <a:t>：</a:t>
            </a:r>
            <a:r>
              <a:rPr lang="en" altLang="ja-JP" dirty="0"/>
              <a:t>Claim</a:t>
            </a:r>
            <a:r>
              <a:rPr lang="ja-JP" altLang="en-US"/>
              <a:t>ベースの評価</a:t>
            </a:r>
            <a:endParaRPr kumimoji="1" lang="en" altLang="ja-JP" dirty="0"/>
          </a:p>
        </p:txBody>
      </p:sp>
      <p:sp>
        <p:nvSpPr>
          <p:cNvPr id="2" name="テキスト ボックス 1">
            <a:extLst>
              <a:ext uri="{FF2B5EF4-FFF2-40B4-BE49-F238E27FC236}">
                <a16:creationId xmlns:a16="http://schemas.microsoft.com/office/drawing/2014/main" id="{EB259680-6465-1D60-4C40-92CF2E2BEDFD}"/>
              </a:ext>
            </a:extLst>
          </p:cNvPr>
          <p:cNvSpPr txBox="1"/>
          <p:nvPr/>
        </p:nvSpPr>
        <p:spPr>
          <a:xfrm>
            <a:off x="591070" y="5933826"/>
            <a:ext cx="12192000" cy="954107"/>
          </a:xfrm>
          <a:prstGeom prst="rect">
            <a:avLst/>
          </a:prstGeom>
          <a:noFill/>
        </p:spPr>
        <p:txBody>
          <a:bodyPr wrap="square" rtlCol="0">
            <a:spAutoFit/>
          </a:bodyPr>
          <a:lstStyle/>
          <a:p>
            <a:r>
              <a:rPr kumimoji="1" lang="en" altLang="ja-JP" sz="1400" dirty="0">
                <a:solidFill>
                  <a:schemeClr val="bg2"/>
                </a:solidFill>
              </a:rPr>
              <a:t>[1] Dasha </a:t>
            </a:r>
            <a:r>
              <a:rPr kumimoji="1" lang="en" altLang="ja-JP" sz="1400" dirty="0" err="1">
                <a:solidFill>
                  <a:schemeClr val="bg2"/>
                </a:solidFill>
              </a:rPr>
              <a:t>Metropolitansky</a:t>
            </a:r>
            <a:r>
              <a:rPr kumimoji="1" lang="en" altLang="ja-JP" sz="1400" dirty="0">
                <a:solidFill>
                  <a:schemeClr val="bg2"/>
                </a:solidFill>
              </a:rPr>
              <a:t>, Jonathan Larson. 2025. Towards Effective Extraction and Evaluation of Factual Claims</a:t>
            </a:r>
          </a:p>
          <a:p>
            <a:r>
              <a:rPr lang="en" altLang="ja-JP" sz="1400" dirty="0">
                <a:solidFill>
                  <a:schemeClr val="bg2"/>
                </a:solidFill>
              </a:rPr>
              <a:t>[2] Vishakh </a:t>
            </a:r>
            <a:r>
              <a:rPr lang="en" altLang="ja-JP" sz="1400" dirty="0" err="1">
                <a:solidFill>
                  <a:schemeClr val="bg2"/>
                </a:solidFill>
              </a:rPr>
              <a:t>Padmakumar</a:t>
            </a:r>
            <a:r>
              <a:rPr lang="en" altLang="ja-JP" sz="1400" dirty="0">
                <a:solidFill>
                  <a:schemeClr val="bg2"/>
                </a:solidFill>
              </a:rPr>
              <a:t>, He He. 2024. DOES WRITING WITH LANGUAGE MODELS REDUCE CONTENT DIVERSITY?</a:t>
            </a:r>
          </a:p>
          <a:p>
            <a:r>
              <a:rPr kumimoji="1" lang="en" altLang="ja-JP" sz="1400" dirty="0">
                <a:solidFill>
                  <a:schemeClr val="bg2"/>
                </a:solidFill>
              </a:rPr>
              <a:t>[3] </a:t>
            </a:r>
            <a:r>
              <a:rPr kumimoji="1" lang="en" altLang="ja-JP" sz="1400" dirty="0" err="1">
                <a:solidFill>
                  <a:schemeClr val="bg2"/>
                </a:solidFill>
              </a:rPr>
              <a:t>Pedregosa</a:t>
            </a:r>
            <a:r>
              <a:rPr kumimoji="1" lang="en" altLang="ja-JP" sz="1400" dirty="0">
                <a:solidFill>
                  <a:schemeClr val="bg2"/>
                </a:solidFill>
              </a:rPr>
              <a:t> F, </a:t>
            </a:r>
            <a:r>
              <a:rPr kumimoji="1" lang="en" altLang="ja-JP" sz="1400" dirty="0" err="1">
                <a:solidFill>
                  <a:schemeClr val="bg2"/>
                </a:solidFill>
              </a:rPr>
              <a:t>Varoquaux</a:t>
            </a:r>
            <a:r>
              <a:rPr kumimoji="1" lang="en" altLang="ja-JP" sz="1400" dirty="0">
                <a:solidFill>
                  <a:schemeClr val="bg2"/>
                </a:solidFill>
              </a:rPr>
              <a:t> G, </a:t>
            </a:r>
            <a:r>
              <a:rPr kumimoji="1" lang="en" altLang="ja-JP" sz="1400" dirty="0" err="1">
                <a:solidFill>
                  <a:schemeClr val="bg2"/>
                </a:solidFill>
              </a:rPr>
              <a:t>Gramfort</a:t>
            </a:r>
            <a:r>
              <a:rPr kumimoji="1" lang="en" altLang="ja-JP" sz="1400" dirty="0">
                <a:solidFill>
                  <a:schemeClr val="bg2"/>
                </a:solidFill>
              </a:rPr>
              <a:t> A, Michel V, </a:t>
            </a:r>
            <a:r>
              <a:rPr kumimoji="1" lang="en" altLang="ja-JP" sz="1400" dirty="0" err="1">
                <a:solidFill>
                  <a:schemeClr val="bg2"/>
                </a:solidFill>
              </a:rPr>
              <a:t>Thirion</a:t>
            </a:r>
            <a:r>
              <a:rPr kumimoji="1" lang="en" altLang="ja-JP" sz="1400" dirty="0">
                <a:solidFill>
                  <a:schemeClr val="bg2"/>
                </a:solidFill>
              </a:rPr>
              <a:t> B, Grisel O, Blondel M, </a:t>
            </a:r>
            <a:r>
              <a:rPr kumimoji="1" lang="en" altLang="ja-JP" sz="1400" dirty="0" err="1">
                <a:solidFill>
                  <a:schemeClr val="bg2"/>
                </a:solidFill>
              </a:rPr>
              <a:t>Prettenhofer</a:t>
            </a:r>
            <a:r>
              <a:rPr lang="en" altLang="ja-JP" sz="1400" dirty="0">
                <a:solidFill>
                  <a:schemeClr val="bg2"/>
                </a:solidFill>
              </a:rPr>
              <a:t> </a:t>
            </a:r>
            <a:r>
              <a:rPr kumimoji="1" lang="en" altLang="ja-JP" sz="1400" dirty="0">
                <a:solidFill>
                  <a:schemeClr val="bg2"/>
                </a:solidFill>
              </a:rPr>
              <a:t>P, Weiss R, </a:t>
            </a:r>
            <a:r>
              <a:rPr kumimoji="1" lang="en" altLang="ja-JP" sz="1400" dirty="0" err="1">
                <a:solidFill>
                  <a:schemeClr val="bg2"/>
                </a:solidFill>
              </a:rPr>
              <a:t>Dubourg</a:t>
            </a:r>
            <a:r>
              <a:rPr kumimoji="1" lang="en" altLang="ja-JP" sz="1400" dirty="0">
                <a:solidFill>
                  <a:schemeClr val="bg2"/>
                </a:solidFill>
              </a:rPr>
              <a:t> V, </a:t>
            </a:r>
            <a:r>
              <a:rPr kumimoji="1" lang="en" altLang="ja-JP" sz="1400" dirty="0" err="1">
                <a:solidFill>
                  <a:schemeClr val="bg2"/>
                </a:solidFill>
              </a:rPr>
              <a:t>Vanderplas</a:t>
            </a:r>
            <a:r>
              <a:rPr kumimoji="1" lang="en" altLang="ja-JP" sz="1400" dirty="0">
                <a:solidFill>
                  <a:schemeClr val="bg2"/>
                </a:solidFill>
              </a:rPr>
              <a:t> J, Passos A, </a:t>
            </a:r>
            <a:r>
              <a:rPr kumimoji="1" lang="en" altLang="ja-JP" sz="1400" dirty="0" err="1">
                <a:solidFill>
                  <a:schemeClr val="bg2"/>
                </a:solidFill>
              </a:rPr>
              <a:t>Cournapeau</a:t>
            </a:r>
            <a:r>
              <a:rPr kumimoji="1" lang="en" altLang="ja-JP" sz="1400" dirty="0">
                <a:solidFill>
                  <a:schemeClr val="bg2"/>
                </a:solidFill>
              </a:rPr>
              <a:t> D, </a:t>
            </a:r>
            <a:r>
              <a:rPr kumimoji="1" lang="en" altLang="ja-JP" sz="1400" dirty="0" err="1">
                <a:solidFill>
                  <a:schemeClr val="bg2"/>
                </a:solidFill>
              </a:rPr>
              <a:t>Brucher</a:t>
            </a:r>
            <a:r>
              <a:rPr kumimoji="1" lang="en" altLang="ja-JP" sz="1400" dirty="0">
                <a:solidFill>
                  <a:schemeClr val="bg2"/>
                </a:solidFill>
              </a:rPr>
              <a:t> M,</a:t>
            </a:r>
            <a:r>
              <a:rPr lang="en" altLang="ja-JP" sz="1400" dirty="0">
                <a:solidFill>
                  <a:schemeClr val="bg2"/>
                </a:solidFill>
              </a:rPr>
              <a:t> </a:t>
            </a:r>
            <a:r>
              <a:rPr kumimoji="1" lang="en" altLang="ja-JP" sz="1400" dirty="0">
                <a:solidFill>
                  <a:schemeClr val="bg2"/>
                </a:solidFill>
              </a:rPr>
              <a:t>Perrot M, </a:t>
            </a:r>
            <a:r>
              <a:rPr kumimoji="1" lang="en" altLang="ja-JP" sz="1400" dirty="0" err="1">
                <a:solidFill>
                  <a:schemeClr val="bg2"/>
                </a:solidFill>
              </a:rPr>
              <a:t>Duchesnay</a:t>
            </a:r>
            <a:r>
              <a:rPr kumimoji="1" lang="en" altLang="ja-JP" sz="1400" dirty="0">
                <a:solidFill>
                  <a:schemeClr val="bg2"/>
                </a:solidFill>
              </a:rPr>
              <a:t> E. 2011. Scikit-learn: Machine learning in python. Journal of Machine Learning Research</a:t>
            </a:r>
          </a:p>
        </p:txBody>
      </p:sp>
    </p:spTree>
    <p:extLst>
      <p:ext uri="{BB962C8B-B14F-4D97-AF65-F5344CB8AC3E}">
        <p14:creationId xmlns:p14="http://schemas.microsoft.com/office/powerpoint/2010/main" val="1054419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FD004EE-AAEB-7F22-67CF-1AD9B0DBE2B1}"/>
            </a:ext>
          </a:extLst>
        </p:cNvPr>
        <p:cNvGrpSpPr/>
        <p:nvPr/>
      </p:nvGrpSpPr>
      <p:grpSpPr>
        <a:xfrm>
          <a:off x="0" y="0"/>
          <a:ext cx="0" cy="0"/>
          <a:chOff x="0" y="0"/>
          <a:chExt cx="0" cy="0"/>
        </a:xfrm>
      </p:grpSpPr>
      <p:sp>
        <p:nvSpPr>
          <p:cNvPr id="10" name="円/楕円 9">
            <a:extLst>
              <a:ext uri="{FF2B5EF4-FFF2-40B4-BE49-F238E27FC236}">
                <a16:creationId xmlns:a16="http://schemas.microsoft.com/office/drawing/2014/main" id="{3A3D9588-F0A4-9827-EC54-2716AAC01A2F}"/>
              </a:ext>
            </a:extLst>
          </p:cNvPr>
          <p:cNvSpPr/>
          <p:nvPr/>
        </p:nvSpPr>
        <p:spPr>
          <a:xfrm rot="2473382">
            <a:off x="9606410" y="3234219"/>
            <a:ext cx="2275698" cy="1791455"/>
          </a:xfrm>
          <a:prstGeom prst="ellipse">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86EE961E-9B4B-4F29-AD29-F31F1C286DA9}"/>
              </a:ext>
            </a:extLst>
          </p:cNvPr>
          <p:cNvSpPr/>
          <p:nvPr/>
        </p:nvSpPr>
        <p:spPr>
          <a:xfrm rot="20524714">
            <a:off x="10706853" y="3355337"/>
            <a:ext cx="942042" cy="1582298"/>
          </a:xfrm>
          <a:prstGeom prst="ellipse">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21CC990E-F592-2393-12C1-1695906E1DE1}"/>
              </a:ext>
            </a:extLst>
          </p:cNvPr>
          <p:cNvSpPr>
            <a:spLocks noGrp="1"/>
          </p:cNvSpPr>
          <p:nvPr>
            <p:ph idx="1"/>
          </p:nvPr>
        </p:nvSpPr>
        <p:spPr>
          <a:xfrm>
            <a:off x="546099" y="1142999"/>
            <a:ext cx="11455400" cy="5580530"/>
          </a:xfrm>
        </p:spPr>
        <p:txBody>
          <a:bodyPr>
            <a:normAutofit/>
          </a:bodyPr>
          <a:lstStyle/>
          <a:p>
            <a:r>
              <a:rPr lang="ja-JP" altLang="en-US">
                <a:latin typeface="Yu Gothic" panose="020B0400000000000000" pitchFamily="34" charset="-128"/>
                <a:ea typeface="Yu Gothic" panose="020B0400000000000000" pitchFamily="34" charset="-128"/>
              </a:rPr>
              <a:t>ある単語の</a:t>
            </a:r>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値が閾値を超える文書</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ノード</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を</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その単語を</a:t>
            </a:r>
            <a:r>
              <a:rPr lang="ja-JP" altLang="en-US"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媒介とするハイパーエッジとして繋ぐ</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閾値は</a:t>
            </a:r>
            <a:r>
              <a:rPr lang="en-US" altLang="ja-JP" dirty="0">
                <a:latin typeface="Yu Gothic" panose="020B0400000000000000" pitchFamily="34" charset="-128"/>
                <a:ea typeface="Yu Gothic" panose="020B0400000000000000" pitchFamily="34" charset="-128"/>
              </a:rPr>
              <a:t>0.2, (apple, banana) </a:t>
            </a:r>
            <a:r>
              <a:rPr lang="ja-JP" altLang="en-US">
                <a:latin typeface="Yu Gothic" panose="020B0400000000000000" pitchFamily="34" charset="-128"/>
                <a:ea typeface="Yu Gothic" panose="020B0400000000000000" pitchFamily="34" charset="-128"/>
              </a:rPr>
              <a:t>の</a:t>
            </a:r>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値が文書</a:t>
            </a:r>
            <a:r>
              <a:rPr lang="en-US" altLang="ja-JP" dirty="0">
                <a:latin typeface="Yu Gothic" panose="020B0400000000000000" pitchFamily="34" charset="-128"/>
                <a:ea typeface="Yu Gothic" panose="020B0400000000000000" pitchFamily="34" charset="-128"/>
              </a:rPr>
              <a:t>A (0.1, 0.3) , </a:t>
            </a:r>
            <a:r>
              <a:rPr lang="ja-JP" altLang="en-US">
                <a:latin typeface="Yu Gothic" panose="020B0400000000000000" pitchFamily="34" charset="-128"/>
                <a:ea typeface="Yu Gothic" panose="020B0400000000000000" pitchFamily="34" charset="-128"/>
              </a:rPr>
              <a:t>文書</a:t>
            </a:r>
            <a:r>
              <a:rPr lang="en-US" altLang="ja-JP" dirty="0">
                <a:latin typeface="Yu Gothic" panose="020B0400000000000000" pitchFamily="34" charset="-128"/>
                <a:ea typeface="Yu Gothic" panose="020B0400000000000000" pitchFamily="34" charset="-128"/>
              </a:rPr>
              <a:t>B (0.5, 0.3) , </a:t>
            </a:r>
            <a:r>
              <a:rPr lang="ja-JP" altLang="en-US">
                <a:latin typeface="Yu Gothic" panose="020B0400000000000000" pitchFamily="34" charset="-128"/>
                <a:ea typeface="Yu Gothic" panose="020B0400000000000000" pitchFamily="34" charset="-128"/>
              </a:rPr>
              <a:t>文書</a:t>
            </a:r>
            <a:r>
              <a:rPr lang="en-US" altLang="ja-JP" dirty="0">
                <a:latin typeface="Yu Gothic" panose="020B0400000000000000" pitchFamily="34" charset="-128"/>
                <a:ea typeface="Yu Gothic" panose="020B0400000000000000" pitchFamily="34" charset="-128"/>
              </a:rPr>
              <a:t>C (0.1, 0) , </a:t>
            </a:r>
            <a:r>
              <a:rPr lang="ja-JP" altLang="en-US">
                <a:latin typeface="Yu Gothic" panose="020B0400000000000000" pitchFamily="34" charset="-128"/>
                <a:ea typeface="Yu Gothic" panose="020B0400000000000000" pitchFamily="34" charset="-128"/>
              </a:rPr>
              <a:t>文書</a:t>
            </a:r>
            <a:r>
              <a:rPr lang="en-US" altLang="ja-JP" dirty="0">
                <a:latin typeface="Yu Gothic" panose="020B0400000000000000" pitchFamily="34" charset="-128"/>
                <a:ea typeface="Yu Gothic" panose="020B0400000000000000" pitchFamily="34" charset="-128"/>
              </a:rPr>
              <a:t>D (0.3, 0.5) </a:t>
            </a:r>
            <a:r>
              <a:rPr lang="ja-JP" altLang="en-US">
                <a:latin typeface="Yu Gothic" panose="020B0400000000000000" pitchFamily="34" charset="-128"/>
                <a:ea typeface="Yu Gothic" panose="020B0400000000000000" pitchFamily="34" charset="-128"/>
              </a:rPr>
              <a:t>のとき</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図のようなハイパーグラフ</a:t>
            </a:r>
            <a:endParaRPr lang="en-US" altLang="ja-JP" dirty="0">
              <a:latin typeface="Yu Gothic" panose="020B0400000000000000" pitchFamily="34" charset="-128"/>
              <a:ea typeface="Yu Gothic" panose="020B0400000000000000" pitchFamily="34" charset="-128"/>
            </a:endParaRPr>
          </a:p>
          <a:p>
            <a:pPr lvl="2"/>
            <a:r>
              <a:rPr lang="ja-JP" altLang="en-US">
                <a:latin typeface="Yu Gothic" panose="020B0400000000000000" pitchFamily="34" charset="-128"/>
                <a:ea typeface="Yu Gothic" panose="020B0400000000000000" pitchFamily="34" charset="-128"/>
              </a:rPr>
              <a:t>エッジ</a:t>
            </a:r>
            <a:r>
              <a:rPr lang="en-US" altLang="ja-JP" dirty="0">
                <a:latin typeface="Yu Gothic" panose="020B0400000000000000" pitchFamily="34" charset="-128"/>
                <a:ea typeface="Yu Gothic" panose="020B0400000000000000" pitchFamily="34" charset="-128"/>
              </a:rPr>
              <a:t> ”banana” </a:t>
            </a:r>
            <a:r>
              <a:rPr lang="ja-JP" altLang="en-US">
                <a:latin typeface="Yu Gothic" panose="020B0400000000000000" pitchFamily="34" charset="-128"/>
                <a:ea typeface="Yu Gothic" panose="020B0400000000000000" pitchFamily="34" charset="-128"/>
              </a:rPr>
              <a:t>がノード</a:t>
            </a:r>
            <a:r>
              <a:rPr lang="en-US" altLang="ja-JP" dirty="0">
                <a:latin typeface="Yu Gothic" panose="020B0400000000000000" pitchFamily="34" charset="-128"/>
                <a:ea typeface="Yu Gothic" panose="020B0400000000000000" pitchFamily="34" charset="-128"/>
              </a:rPr>
              <a:t>A, B, D</a:t>
            </a:r>
            <a:r>
              <a:rPr lang="ja-JP" altLang="en-US">
                <a:latin typeface="Yu Gothic" panose="020B0400000000000000" pitchFamily="34" charset="-128"/>
                <a:ea typeface="Yu Gothic" panose="020B0400000000000000" pitchFamily="34" charset="-128"/>
              </a:rPr>
              <a:t>を接続</a:t>
            </a:r>
            <a:endParaRPr lang="en-US" altLang="ja-JP" dirty="0">
              <a:latin typeface="Yu Gothic" panose="020B0400000000000000" pitchFamily="34" charset="-128"/>
              <a:ea typeface="Yu Gothic" panose="020B0400000000000000" pitchFamily="34" charset="-128"/>
            </a:endParaRPr>
          </a:p>
          <a:p>
            <a:pPr lvl="2"/>
            <a:r>
              <a:rPr lang="ja-JP" altLang="en-US">
                <a:latin typeface="Yu Gothic" panose="020B0400000000000000" pitchFamily="34" charset="-128"/>
                <a:ea typeface="Yu Gothic" panose="020B0400000000000000" pitchFamily="34" charset="-128"/>
              </a:rPr>
              <a:t>エッジ</a:t>
            </a:r>
            <a:r>
              <a:rPr lang="en-US" altLang="ja-JP" dirty="0">
                <a:latin typeface="Yu Gothic" panose="020B0400000000000000" pitchFamily="34" charset="-128"/>
                <a:ea typeface="Yu Gothic" panose="020B0400000000000000" pitchFamily="34" charset="-128"/>
              </a:rPr>
              <a:t> ”apple” </a:t>
            </a:r>
            <a:r>
              <a:rPr lang="ja-JP" altLang="en-US">
                <a:latin typeface="Yu Gothic" panose="020B0400000000000000" pitchFamily="34" charset="-128"/>
                <a:ea typeface="Yu Gothic" panose="020B0400000000000000" pitchFamily="34" charset="-128"/>
              </a:rPr>
              <a:t>がノード</a:t>
            </a:r>
            <a:r>
              <a:rPr lang="en-US" altLang="ja-JP" dirty="0">
                <a:latin typeface="Yu Gothic" panose="020B0400000000000000" pitchFamily="34" charset="-128"/>
                <a:ea typeface="Yu Gothic" panose="020B0400000000000000" pitchFamily="34" charset="-128"/>
              </a:rPr>
              <a:t>B, D</a:t>
            </a:r>
            <a:r>
              <a:rPr lang="ja-JP" altLang="en-US">
                <a:latin typeface="Yu Gothic" panose="020B0400000000000000" pitchFamily="34" charset="-128"/>
                <a:ea typeface="Yu Gothic" panose="020B0400000000000000" pitchFamily="34" charset="-128"/>
              </a:rPr>
              <a:t>を接続</a:t>
            </a:r>
            <a:endParaRPr lang="en-US" altLang="ja-JP" dirty="0">
              <a:latin typeface="Yu Gothic" panose="020B0400000000000000" pitchFamily="34" charset="-128"/>
              <a:ea typeface="Yu Gothic" panose="020B0400000000000000" pitchFamily="34" charset="-128"/>
            </a:endParaRPr>
          </a:p>
          <a:p>
            <a:pPr lvl="1"/>
            <a:r>
              <a:rPr lang="ja-JP" altLang="en-US">
                <a:latin typeface="Yu Gothic" panose="020B0400000000000000" pitchFamily="34" charset="-128"/>
                <a:ea typeface="Yu Gothic" panose="020B0400000000000000" pitchFamily="34" charset="-128"/>
              </a:rPr>
              <a:t>全文書に出てくる各単語</a:t>
            </a:r>
            <a:r>
              <a:rPr lang="en-US" altLang="ja-JP" baseline="30000" dirty="0">
                <a:latin typeface="Yu Gothic" panose="020B0400000000000000" pitchFamily="34" charset="-128"/>
                <a:ea typeface="Yu Gothic" panose="020B0400000000000000" pitchFamily="34" charset="-128"/>
              </a:rPr>
              <a:t>※1, 2</a:t>
            </a:r>
            <a:r>
              <a:rPr lang="ja-JP" altLang="en-US">
                <a:latin typeface="Yu Gothic" panose="020B0400000000000000" pitchFamily="34" charset="-128"/>
                <a:ea typeface="Yu Gothic" panose="020B0400000000000000" pitchFamily="34" charset="-128"/>
              </a:rPr>
              <a:t>についてこの処理を行い</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　　　　　　　　　　　　グラフを生成</a:t>
            </a:r>
            <a:endParaRPr lang="en-US" altLang="ja-JP" dirty="0">
              <a:latin typeface="Yu Gothic" panose="020B0400000000000000" pitchFamily="34" charset="-128"/>
              <a:ea typeface="Yu Gothic" panose="020B0400000000000000" pitchFamily="34" charset="-128"/>
            </a:endParaRPr>
          </a:p>
          <a:p>
            <a:pPr marL="914400" lvl="2" indent="0">
              <a:buNone/>
            </a:pPr>
            <a:r>
              <a:rPr lang="en-US" altLang="ja-JP" dirty="0">
                <a:latin typeface="Yu Gothic" panose="020B0400000000000000" pitchFamily="34" charset="-128"/>
                <a:ea typeface="Yu Gothic" panose="020B0400000000000000" pitchFamily="34" charset="-128"/>
              </a:rPr>
              <a:t>※1 </a:t>
            </a:r>
            <a:r>
              <a:rPr lang="ja-JP" altLang="en-US">
                <a:latin typeface="Yu Gothic" panose="020B0400000000000000" pitchFamily="34" charset="-128"/>
                <a:ea typeface="Yu Gothic" panose="020B0400000000000000" pitchFamily="34" charset="-128"/>
              </a:rPr>
              <a:t>計算量削減のため</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出現頻度が</a:t>
            </a:r>
            <a:r>
              <a:rPr lang="en-US" altLang="ja-JP" dirty="0">
                <a:latin typeface="Yu Gothic" panose="020B0400000000000000" pitchFamily="34" charset="-128"/>
                <a:ea typeface="Yu Gothic" panose="020B0400000000000000" pitchFamily="34" charset="-128"/>
              </a:rPr>
              <a:t>max_df</a:t>
            </a:r>
            <a:r>
              <a:rPr lang="ja-JP" altLang="en-US">
                <a:latin typeface="Yu Gothic" panose="020B0400000000000000" pitchFamily="34" charset="-128"/>
                <a:ea typeface="Yu Gothic" panose="020B0400000000000000" pitchFamily="34" charset="-128"/>
              </a:rPr>
              <a:t>を超える単語はスキップ</a:t>
            </a:r>
            <a:endParaRPr lang="en-US" altLang="ja-JP" dirty="0">
              <a:latin typeface="Yu Gothic" panose="020B0400000000000000" pitchFamily="34" charset="-128"/>
              <a:ea typeface="Yu Gothic" panose="020B0400000000000000" pitchFamily="34" charset="-128"/>
            </a:endParaRPr>
          </a:p>
          <a:p>
            <a:pPr marL="914400" lvl="2" indent="0">
              <a:buNone/>
            </a:pPr>
            <a:r>
              <a:rPr lang="en-US" altLang="ja-JP" dirty="0">
                <a:latin typeface="Yu Gothic" panose="020B0400000000000000" pitchFamily="34" charset="-128"/>
                <a:ea typeface="Yu Gothic" panose="020B0400000000000000" pitchFamily="34" charset="-128"/>
              </a:rPr>
              <a:t>※2 </a:t>
            </a:r>
            <a:r>
              <a:rPr lang="ja-JP" altLang="en-US">
                <a:latin typeface="Yu Gothic" panose="020B0400000000000000" pitchFamily="34" charset="-128"/>
                <a:ea typeface="Yu Gothic" panose="020B0400000000000000" pitchFamily="34" charset="-128"/>
              </a:rPr>
              <a:t>計算量削減のため</a:t>
            </a:r>
            <a:r>
              <a:rPr lang="en-US" altLang="ja-JP" dirty="0">
                <a:latin typeface="Yu Gothic" panose="020B0400000000000000" pitchFamily="34" charset="-128"/>
                <a:ea typeface="Yu Gothic" panose="020B0400000000000000" pitchFamily="34" charset="-128"/>
              </a:rPr>
              <a:t>, </a:t>
            </a:r>
            <a:r>
              <a:rPr lang="ja-JP" altLang="en-US">
                <a:latin typeface="Yu Gothic" panose="020B0400000000000000" pitchFamily="34" charset="-128"/>
                <a:ea typeface="Yu Gothic" panose="020B0400000000000000" pitchFamily="34" charset="-128"/>
              </a:rPr>
              <a:t>出現する文書数が</a:t>
            </a:r>
            <a:r>
              <a:rPr lang="en-US" altLang="ja-JP" dirty="0">
                <a:latin typeface="Yu Gothic" panose="020B0400000000000000" pitchFamily="34" charset="-128"/>
                <a:ea typeface="Yu Gothic" panose="020B0400000000000000" pitchFamily="34" charset="-128"/>
              </a:rPr>
              <a:t>min_df</a:t>
            </a:r>
            <a:r>
              <a:rPr lang="ja-JP" altLang="en-US">
                <a:latin typeface="Yu Gothic" panose="020B0400000000000000" pitchFamily="34" charset="-128"/>
                <a:ea typeface="Yu Gothic" panose="020B0400000000000000" pitchFamily="34" charset="-128"/>
              </a:rPr>
              <a:t>以下の単語はスキップ</a:t>
            </a:r>
            <a:endParaRPr lang="en-US" altLang="ja-JP" dirty="0">
              <a:latin typeface="Yu Gothic" panose="020B0400000000000000" pitchFamily="34" charset="-128"/>
              <a:ea typeface="Yu Gothic" panose="020B0400000000000000" pitchFamily="34" charset="-128"/>
            </a:endParaRPr>
          </a:p>
          <a:p>
            <a:pPr marL="804862" lvl="1"/>
            <a:r>
              <a:rPr lang="en-US" altLang="ja-JP" dirty="0">
                <a:latin typeface="Yu Gothic" panose="020B0400000000000000" pitchFamily="34" charset="-128"/>
                <a:ea typeface="Yu Gothic" panose="020B0400000000000000" pitchFamily="34" charset="-128"/>
              </a:rPr>
              <a:t>TF-IDF</a:t>
            </a:r>
            <a:r>
              <a:rPr lang="ja-JP" altLang="en-US">
                <a:latin typeface="Yu Gothic" panose="020B0400000000000000" pitchFamily="34" charset="-128"/>
                <a:ea typeface="Yu Gothic" panose="020B0400000000000000" pitchFamily="34" charset="-128"/>
              </a:rPr>
              <a:t>値はエッジの重みとして格納</a:t>
            </a:r>
            <a:endParaRPr lang="en-US" altLang="ja-JP" dirty="0">
              <a:latin typeface="Yu Gothic" panose="020B0400000000000000" pitchFamily="34" charset="-128"/>
              <a:ea typeface="Yu Gothic" panose="020B0400000000000000" pitchFamily="34" charset="-128"/>
            </a:endParaRPr>
          </a:p>
          <a:p>
            <a:pPr marL="804862" lvl="1"/>
            <a:r>
              <a:rPr lang="ja-JP" altLang="en-US">
                <a:latin typeface="Yu Gothic" panose="020B0400000000000000" pitchFamily="34" charset="-128"/>
                <a:ea typeface="Yu Gothic" panose="020B0400000000000000" pitchFamily="34" charset="-128"/>
              </a:rPr>
              <a:t>計算量は</a:t>
            </a:r>
            <a:r>
              <a:rPr lang="en-US" altLang="ja-JP" dirty="0">
                <a:latin typeface="Yu Gothic" panose="020B0400000000000000" pitchFamily="34" charset="-128"/>
                <a:ea typeface="Yu Gothic" panose="020B0400000000000000" pitchFamily="34" charset="-128"/>
              </a:rPr>
              <a:t> O(N) (N = </a:t>
            </a:r>
            <a:r>
              <a:rPr lang="ja-JP" altLang="en-US">
                <a:latin typeface="Yu Gothic" panose="020B0400000000000000" pitchFamily="34" charset="-128"/>
                <a:ea typeface="Yu Gothic" panose="020B0400000000000000" pitchFamily="34" charset="-128"/>
              </a:rPr>
              <a:t>全文書に出現する単語数</a:t>
            </a:r>
            <a:r>
              <a:rPr lang="en-US" altLang="ja-JP" dirty="0">
                <a:latin typeface="Yu Gothic" panose="020B0400000000000000" pitchFamily="34" charset="-128"/>
                <a:ea typeface="Yu Gothic" panose="020B0400000000000000" pitchFamily="34" charset="-128"/>
              </a:rPr>
              <a:t>)</a:t>
            </a:r>
          </a:p>
        </p:txBody>
      </p:sp>
      <p:sp>
        <p:nvSpPr>
          <p:cNvPr id="4" name="テキスト プレースホルダー 3">
            <a:extLst>
              <a:ext uri="{FF2B5EF4-FFF2-40B4-BE49-F238E27FC236}">
                <a16:creationId xmlns:a16="http://schemas.microsoft.com/office/drawing/2014/main" id="{031ED3C2-D6FF-B4BF-C592-EA5F5A94AD5C}"/>
              </a:ext>
            </a:extLst>
          </p:cNvPr>
          <p:cNvSpPr>
            <a:spLocks noGrp="1"/>
          </p:cNvSpPr>
          <p:nvPr>
            <p:ph type="body" sz="quarter" idx="11"/>
          </p:nvPr>
        </p:nvSpPr>
        <p:spPr>
          <a:noFill/>
        </p:spPr>
        <p:txBody>
          <a:bodyPr>
            <a:normAutofit fontScale="92500" lnSpcReduction="20000"/>
          </a:bodyPr>
          <a:lstStyle/>
          <a:p>
            <a:r>
              <a:rPr kumimoji="1" lang="ja-JP" altLang="en-US"/>
              <a:t>変更箇所</a:t>
            </a:r>
            <a:r>
              <a:rPr lang="en-US" altLang="ja-JP" dirty="0"/>
              <a:t>②</a:t>
            </a:r>
            <a:r>
              <a:rPr kumimoji="1" lang="en-US" altLang="ja-JP" dirty="0"/>
              <a:t> </a:t>
            </a:r>
            <a:r>
              <a:rPr kumimoji="1" lang="en" altLang="ja-JP" dirty="0"/>
              <a:t>tfidf_extract_graph</a:t>
            </a:r>
            <a:r>
              <a:rPr lang="en-US" altLang="ja-JP" dirty="0"/>
              <a:t> (</a:t>
            </a:r>
            <a:r>
              <a:rPr kumimoji="1" lang="ja-JP" altLang="en-US" sz="2800"/>
              <a:t>エンティティ</a:t>
            </a:r>
            <a:r>
              <a:rPr kumimoji="1" lang="en-US" altLang="ja-JP" sz="2800" dirty="0"/>
              <a:t> </a:t>
            </a:r>
            <a:r>
              <a:rPr lang="en-US" altLang="ja-JP" sz="2800" dirty="0"/>
              <a:t>/ </a:t>
            </a:r>
            <a:r>
              <a:rPr kumimoji="1" lang="ja-JP" altLang="en-US" sz="2800"/>
              <a:t>関係抽出</a:t>
            </a:r>
            <a:r>
              <a:rPr lang="en-US" altLang="ja-JP" dirty="0"/>
              <a:t>)</a:t>
            </a:r>
            <a:endParaRPr kumimoji="1" lang="en" altLang="ja-JP" dirty="0"/>
          </a:p>
        </p:txBody>
      </p:sp>
      <p:sp>
        <p:nvSpPr>
          <p:cNvPr id="5" name="正方形/長方形 4">
            <a:extLst>
              <a:ext uri="{FF2B5EF4-FFF2-40B4-BE49-F238E27FC236}">
                <a16:creationId xmlns:a16="http://schemas.microsoft.com/office/drawing/2014/main" id="{614691BB-A252-F3A8-B1FD-2A08D9FEB640}"/>
              </a:ext>
            </a:extLst>
          </p:cNvPr>
          <p:cNvSpPr/>
          <p:nvPr/>
        </p:nvSpPr>
        <p:spPr>
          <a:xfrm>
            <a:off x="9853612" y="3543971"/>
            <a:ext cx="496564" cy="3630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A</a:t>
            </a:r>
            <a:endParaRPr kumimoji="1" lang="ja-JP" altLang="en-US"/>
          </a:p>
        </p:txBody>
      </p:sp>
      <p:sp>
        <p:nvSpPr>
          <p:cNvPr id="6" name="正方形/長方形 5">
            <a:extLst>
              <a:ext uri="{FF2B5EF4-FFF2-40B4-BE49-F238E27FC236}">
                <a16:creationId xmlns:a16="http://schemas.microsoft.com/office/drawing/2014/main" id="{A9553BBD-40D8-176D-5D60-F0CD307E989C}"/>
              </a:ext>
            </a:extLst>
          </p:cNvPr>
          <p:cNvSpPr/>
          <p:nvPr/>
        </p:nvSpPr>
        <p:spPr>
          <a:xfrm>
            <a:off x="10886404" y="3655607"/>
            <a:ext cx="492457" cy="377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B</a:t>
            </a:r>
            <a:endParaRPr kumimoji="1" lang="ja-JP" altLang="en-US"/>
          </a:p>
        </p:txBody>
      </p:sp>
      <p:sp>
        <p:nvSpPr>
          <p:cNvPr id="7" name="正方形/長方形 6">
            <a:extLst>
              <a:ext uri="{FF2B5EF4-FFF2-40B4-BE49-F238E27FC236}">
                <a16:creationId xmlns:a16="http://schemas.microsoft.com/office/drawing/2014/main" id="{2CB1AAAF-B1CC-DD87-632D-CA2578DE19A7}"/>
              </a:ext>
            </a:extLst>
          </p:cNvPr>
          <p:cNvSpPr/>
          <p:nvPr/>
        </p:nvSpPr>
        <p:spPr>
          <a:xfrm>
            <a:off x="9022461" y="3708697"/>
            <a:ext cx="493059" cy="3966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C</a:t>
            </a:r>
            <a:endParaRPr kumimoji="1" lang="ja-JP" altLang="en-US"/>
          </a:p>
        </p:txBody>
      </p:sp>
      <p:sp>
        <p:nvSpPr>
          <p:cNvPr id="8" name="正方形/長方形 7">
            <a:extLst>
              <a:ext uri="{FF2B5EF4-FFF2-40B4-BE49-F238E27FC236}">
                <a16:creationId xmlns:a16="http://schemas.microsoft.com/office/drawing/2014/main" id="{6A51EBE0-E4D8-E01B-A380-75E794357F35}"/>
              </a:ext>
            </a:extLst>
          </p:cNvPr>
          <p:cNvSpPr/>
          <p:nvPr/>
        </p:nvSpPr>
        <p:spPr>
          <a:xfrm>
            <a:off x="11056573" y="4323235"/>
            <a:ext cx="492457" cy="3775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D</a:t>
            </a:r>
            <a:endParaRPr kumimoji="1" lang="ja-JP" altLang="en-US"/>
          </a:p>
        </p:txBody>
      </p:sp>
      <p:sp>
        <p:nvSpPr>
          <p:cNvPr id="11" name="テキスト ボックス 10">
            <a:extLst>
              <a:ext uri="{FF2B5EF4-FFF2-40B4-BE49-F238E27FC236}">
                <a16:creationId xmlns:a16="http://schemas.microsoft.com/office/drawing/2014/main" id="{39E18EC4-B3BA-A684-C070-B7117B1B2255}"/>
              </a:ext>
            </a:extLst>
          </p:cNvPr>
          <p:cNvSpPr txBox="1"/>
          <p:nvPr/>
        </p:nvSpPr>
        <p:spPr>
          <a:xfrm>
            <a:off x="9791207" y="4000986"/>
            <a:ext cx="942616" cy="369332"/>
          </a:xfrm>
          <a:prstGeom prst="rect">
            <a:avLst/>
          </a:prstGeom>
          <a:noFill/>
        </p:spPr>
        <p:txBody>
          <a:bodyPr wrap="square" rtlCol="0">
            <a:spAutoFit/>
          </a:bodyPr>
          <a:lstStyle/>
          <a:p>
            <a:r>
              <a:rPr kumimoji="1" lang="en-US" altLang="ja-JP" dirty="0">
                <a:solidFill>
                  <a:schemeClr val="bg1">
                    <a:lumMod val="10000"/>
                  </a:schemeClr>
                </a:solidFill>
              </a:rPr>
              <a:t>banana</a:t>
            </a:r>
            <a:endParaRPr kumimoji="1" lang="ja-JP" altLang="en-US">
              <a:solidFill>
                <a:schemeClr val="bg1">
                  <a:lumMod val="10000"/>
                </a:schemeClr>
              </a:solidFill>
            </a:endParaRPr>
          </a:p>
        </p:txBody>
      </p:sp>
      <p:sp>
        <p:nvSpPr>
          <p:cNvPr id="12" name="テキスト ボックス 11">
            <a:extLst>
              <a:ext uri="{FF2B5EF4-FFF2-40B4-BE49-F238E27FC236}">
                <a16:creationId xmlns:a16="http://schemas.microsoft.com/office/drawing/2014/main" id="{58195A2D-C24F-3EDF-CD7D-763383E645BC}"/>
              </a:ext>
            </a:extLst>
          </p:cNvPr>
          <p:cNvSpPr txBox="1"/>
          <p:nvPr/>
        </p:nvSpPr>
        <p:spPr>
          <a:xfrm>
            <a:off x="10792138" y="3942468"/>
            <a:ext cx="942616" cy="369332"/>
          </a:xfrm>
          <a:prstGeom prst="rect">
            <a:avLst/>
          </a:prstGeom>
          <a:noFill/>
        </p:spPr>
        <p:txBody>
          <a:bodyPr wrap="square" rtlCol="0">
            <a:spAutoFit/>
          </a:bodyPr>
          <a:lstStyle/>
          <a:p>
            <a:r>
              <a:rPr kumimoji="1" lang="en-US" altLang="ja-JP" dirty="0">
                <a:solidFill>
                  <a:schemeClr val="bg1"/>
                </a:solidFill>
              </a:rPr>
              <a:t>apple</a:t>
            </a:r>
            <a:endParaRPr kumimoji="1" lang="ja-JP" altLang="en-US">
              <a:solidFill>
                <a:schemeClr val="bg1"/>
              </a:solidFill>
            </a:endParaRPr>
          </a:p>
        </p:txBody>
      </p:sp>
    </p:spTree>
    <p:extLst>
      <p:ext uri="{BB962C8B-B14F-4D97-AF65-F5344CB8AC3E}">
        <p14:creationId xmlns:p14="http://schemas.microsoft.com/office/powerpoint/2010/main" val="2000036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AD0958-4E6E-EE3C-F5E0-D68F69E94342}"/>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FF5FCA09-9026-891A-2388-65011022E8CA}"/>
              </a:ext>
            </a:extLst>
          </p:cNvPr>
          <p:cNvSpPr>
            <a:spLocks noGrp="1"/>
          </p:cNvSpPr>
          <p:nvPr>
            <p:ph type="body" sz="quarter" idx="11"/>
          </p:nvPr>
        </p:nvSpPr>
        <p:spPr/>
        <p:txBody>
          <a:bodyPr>
            <a:normAutofit fontScale="92500" lnSpcReduction="20000"/>
          </a:bodyPr>
          <a:lstStyle/>
          <a:p>
            <a:r>
              <a:rPr lang="en" altLang="ja-JP" dirty="0"/>
              <a:t>graphrag index</a:t>
            </a:r>
            <a:r>
              <a:rPr lang="ja-JP" altLang="en-US"/>
              <a:t>時の流れ</a:t>
            </a:r>
            <a:r>
              <a:rPr lang="en-US" altLang="ja-JP" dirty="0"/>
              <a:t> (</a:t>
            </a:r>
            <a:r>
              <a:rPr lang="ja-JP" altLang="en-US"/>
              <a:t>元の</a:t>
            </a:r>
            <a:r>
              <a:rPr lang="en-US" altLang="ja-JP" dirty="0"/>
              <a:t>GraphRAG)</a:t>
            </a:r>
            <a:endParaRPr kumimoji="1" lang="ja-JP" altLang="en-US"/>
          </a:p>
        </p:txBody>
      </p:sp>
      <p:sp>
        <p:nvSpPr>
          <p:cNvPr id="9" name="テキスト ボックス 8">
            <a:extLst>
              <a:ext uri="{FF2B5EF4-FFF2-40B4-BE49-F238E27FC236}">
                <a16:creationId xmlns:a16="http://schemas.microsoft.com/office/drawing/2014/main" id="{F369014B-6F65-069E-C9EE-E4F1C5C652DD}"/>
              </a:ext>
            </a:extLst>
          </p:cNvPr>
          <p:cNvSpPr txBox="1"/>
          <p:nvPr/>
        </p:nvSpPr>
        <p:spPr>
          <a:xfrm>
            <a:off x="2644365" y="1449070"/>
            <a:ext cx="2352261" cy="369332"/>
          </a:xfrm>
          <a:prstGeom prst="rect">
            <a:avLst/>
          </a:prstGeom>
          <a:noFill/>
          <a:ln>
            <a:solidFill>
              <a:schemeClr val="bg1">
                <a:lumMod val="10000"/>
              </a:schemeClr>
            </a:solidFill>
          </a:ln>
        </p:spPr>
        <p:txBody>
          <a:bodyPr wrap="square" rtlCol="0">
            <a:spAutoFit/>
          </a:bodyPr>
          <a:lstStyle/>
          <a:p>
            <a:pPr algn="ctr"/>
            <a:r>
              <a:rPr lang="en" altLang="ja-JP" dirty="0"/>
              <a:t>graphrag/cli/index.py</a:t>
            </a:r>
            <a:endParaRPr kumimoji="1" lang="ja-JP" altLang="en-US"/>
          </a:p>
        </p:txBody>
      </p:sp>
      <p:sp>
        <p:nvSpPr>
          <p:cNvPr id="10" name="テキスト ボックス 9">
            <a:extLst>
              <a:ext uri="{FF2B5EF4-FFF2-40B4-BE49-F238E27FC236}">
                <a16:creationId xmlns:a16="http://schemas.microsoft.com/office/drawing/2014/main" id="{D6D39BEA-6A38-2FC5-745E-45307D25C383}"/>
              </a:ext>
            </a:extLst>
          </p:cNvPr>
          <p:cNvSpPr txBox="1"/>
          <p:nvPr/>
        </p:nvSpPr>
        <p:spPr>
          <a:xfrm>
            <a:off x="397564" y="1310572"/>
            <a:ext cx="1959311" cy="646331"/>
          </a:xfrm>
          <a:prstGeom prst="rect">
            <a:avLst/>
          </a:prstGeom>
          <a:noFill/>
          <a:ln>
            <a:noFill/>
          </a:ln>
        </p:spPr>
        <p:txBody>
          <a:bodyPr wrap="square" rtlCol="0">
            <a:spAutoFit/>
          </a:bodyPr>
          <a:lstStyle/>
          <a:p>
            <a:pPr algn="ctr"/>
            <a:r>
              <a:rPr lang="ja-JP" altLang="en-US"/>
              <a:t>ユーザ</a:t>
            </a:r>
            <a:endParaRPr lang="en-US" altLang="ja-JP" dirty="0"/>
          </a:p>
          <a:p>
            <a:pPr algn="ctr"/>
            <a:r>
              <a:rPr lang="en" altLang="ja-JP" dirty="0"/>
              <a:t>“graphrag index”</a:t>
            </a:r>
            <a:endParaRPr kumimoji="1" lang="ja-JP" altLang="en-US"/>
          </a:p>
        </p:txBody>
      </p:sp>
      <p:sp>
        <p:nvSpPr>
          <p:cNvPr id="11" name="テキスト ボックス 10">
            <a:extLst>
              <a:ext uri="{FF2B5EF4-FFF2-40B4-BE49-F238E27FC236}">
                <a16:creationId xmlns:a16="http://schemas.microsoft.com/office/drawing/2014/main" id="{33114A69-30FC-1E82-0CBF-DE97C7A601AC}"/>
              </a:ext>
            </a:extLst>
          </p:cNvPr>
          <p:cNvSpPr txBox="1"/>
          <p:nvPr/>
        </p:nvSpPr>
        <p:spPr>
          <a:xfrm>
            <a:off x="5253711" y="1310572"/>
            <a:ext cx="2458278" cy="646331"/>
          </a:xfrm>
          <a:prstGeom prst="rect">
            <a:avLst/>
          </a:prstGeom>
          <a:noFill/>
          <a:ln>
            <a:solidFill>
              <a:schemeClr val="bg1">
                <a:lumMod val="10000"/>
              </a:schemeClr>
            </a:solidFill>
          </a:ln>
        </p:spPr>
        <p:txBody>
          <a:bodyPr wrap="square" rtlCol="0">
            <a:spAutoFit/>
          </a:bodyPr>
          <a:lstStyle/>
          <a:p>
            <a:pPr algn="ctr"/>
            <a:r>
              <a:rPr lang="en" altLang="ja-JP" dirty="0"/>
              <a:t>graphrag/api/index.py</a:t>
            </a:r>
            <a:br>
              <a:rPr lang="en" altLang="ja-JP" dirty="0"/>
            </a:br>
            <a:r>
              <a:rPr lang="en" altLang="ja-JP" b="1" dirty="0"/>
              <a:t>build_index</a:t>
            </a:r>
            <a:endParaRPr kumimoji="1" lang="ja-JP" altLang="en-US" b="1"/>
          </a:p>
        </p:txBody>
      </p:sp>
      <p:cxnSp>
        <p:nvCxnSpPr>
          <p:cNvPr id="13" name="直線矢印コネクタ 12">
            <a:extLst>
              <a:ext uri="{FF2B5EF4-FFF2-40B4-BE49-F238E27FC236}">
                <a16:creationId xmlns:a16="http://schemas.microsoft.com/office/drawing/2014/main" id="{FE8C6A5E-E90E-8D52-9AE0-3009823FC8D5}"/>
              </a:ext>
            </a:extLst>
          </p:cNvPr>
          <p:cNvCxnSpPr>
            <a:cxnSpLocks/>
            <a:stCxn id="10" idx="3"/>
            <a:endCxn id="9" idx="1"/>
          </p:cNvCxnSpPr>
          <p:nvPr/>
        </p:nvCxnSpPr>
        <p:spPr>
          <a:xfrm flipV="1">
            <a:off x="2356875" y="1633736"/>
            <a:ext cx="287490"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C2D59538-DE13-A71F-1F48-CF65F83D0A50}"/>
              </a:ext>
            </a:extLst>
          </p:cNvPr>
          <p:cNvCxnSpPr>
            <a:cxnSpLocks/>
            <a:stCxn id="9" idx="3"/>
            <a:endCxn id="11" idx="1"/>
          </p:cNvCxnSpPr>
          <p:nvPr/>
        </p:nvCxnSpPr>
        <p:spPr>
          <a:xfrm>
            <a:off x="4996626" y="1633736"/>
            <a:ext cx="257085"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550BEFF9-D788-9215-B8BC-55535C59672D}"/>
              </a:ext>
            </a:extLst>
          </p:cNvPr>
          <p:cNvSpPr txBox="1"/>
          <p:nvPr/>
        </p:nvSpPr>
        <p:spPr>
          <a:xfrm>
            <a:off x="2901450" y="1818402"/>
            <a:ext cx="1838089" cy="461665"/>
          </a:xfrm>
          <a:prstGeom prst="rect">
            <a:avLst/>
          </a:prstGeom>
          <a:noFill/>
          <a:ln>
            <a:noFill/>
          </a:ln>
        </p:spPr>
        <p:txBody>
          <a:bodyPr wrap="square" rtlCol="0">
            <a:spAutoFit/>
          </a:bodyPr>
          <a:lstStyle/>
          <a:p>
            <a:pPr algn="ctr"/>
            <a:r>
              <a:rPr lang="en-US" altLang="ja-JP" sz="1200" dirty="0"/>
              <a:t>1. </a:t>
            </a:r>
            <a:r>
              <a:rPr lang="ja-JP" altLang="en-US" sz="1200"/>
              <a:t>設定の読み込み</a:t>
            </a:r>
            <a:endParaRPr lang="en-US" altLang="ja-JP" sz="1200" dirty="0"/>
          </a:p>
          <a:p>
            <a:pPr algn="ctr"/>
            <a:endParaRPr kumimoji="1" lang="ja-JP" altLang="en-US" sz="1200"/>
          </a:p>
        </p:txBody>
      </p:sp>
      <p:sp>
        <p:nvSpPr>
          <p:cNvPr id="21" name="テキスト ボックス 20">
            <a:extLst>
              <a:ext uri="{FF2B5EF4-FFF2-40B4-BE49-F238E27FC236}">
                <a16:creationId xmlns:a16="http://schemas.microsoft.com/office/drawing/2014/main" id="{6394B9BB-7B2B-AEE8-A08D-27E88BFF6739}"/>
              </a:ext>
            </a:extLst>
          </p:cNvPr>
          <p:cNvSpPr txBox="1"/>
          <p:nvPr/>
        </p:nvSpPr>
        <p:spPr>
          <a:xfrm>
            <a:off x="7983422" y="1172070"/>
            <a:ext cx="3966427" cy="923330"/>
          </a:xfrm>
          <a:prstGeom prst="rect">
            <a:avLst/>
          </a:prstGeom>
          <a:noFill/>
          <a:ln>
            <a:solidFill>
              <a:schemeClr val="bg1">
                <a:lumMod val="10000"/>
              </a:schemeClr>
            </a:solidFill>
          </a:ln>
        </p:spPr>
        <p:txBody>
          <a:bodyPr wrap="square" rtlCol="0">
            <a:spAutoFit/>
          </a:bodyPr>
          <a:lstStyle/>
          <a:p>
            <a:pPr algn="ctr"/>
            <a:r>
              <a:rPr lang="en" altLang="ja-JP" dirty="0"/>
              <a:t>graphrag/index/workflows/factory.py</a:t>
            </a:r>
          </a:p>
          <a:p>
            <a:pPr algn="ctr"/>
            <a:r>
              <a:rPr lang="en" altLang="ja-JP" b="1" dirty="0"/>
              <a:t>PipelineFactory</a:t>
            </a:r>
            <a:r>
              <a:rPr lang="ja-JP" altLang="en-US" b="1"/>
              <a:t>クラス</a:t>
            </a:r>
            <a:br>
              <a:rPr lang="en" altLang="ja-JP" dirty="0"/>
            </a:br>
            <a:r>
              <a:rPr lang="en" altLang="ja-JP" b="1" dirty="0"/>
              <a:t>create_pipeline</a:t>
            </a:r>
            <a:r>
              <a:rPr lang="ja-JP" altLang="en-US" b="1"/>
              <a:t>メソッド</a:t>
            </a:r>
            <a:endParaRPr kumimoji="1" lang="ja-JP" altLang="en-US" b="1"/>
          </a:p>
        </p:txBody>
      </p:sp>
      <p:sp>
        <p:nvSpPr>
          <p:cNvPr id="27" name="テキスト ボックス 26">
            <a:extLst>
              <a:ext uri="{FF2B5EF4-FFF2-40B4-BE49-F238E27FC236}">
                <a16:creationId xmlns:a16="http://schemas.microsoft.com/office/drawing/2014/main" id="{BEDF4A72-D9A9-8C6A-CF73-94D2C3BCEFEE}"/>
              </a:ext>
            </a:extLst>
          </p:cNvPr>
          <p:cNvSpPr txBox="1"/>
          <p:nvPr/>
        </p:nvSpPr>
        <p:spPr>
          <a:xfrm>
            <a:off x="9047589" y="2090979"/>
            <a:ext cx="1838089" cy="276999"/>
          </a:xfrm>
          <a:prstGeom prst="rect">
            <a:avLst/>
          </a:prstGeom>
          <a:noFill/>
          <a:ln>
            <a:noFill/>
          </a:ln>
        </p:spPr>
        <p:txBody>
          <a:bodyPr wrap="square" rtlCol="0">
            <a:spAutoFit/>
          </a:bodyPr>
          <a:lstStyle/>
          <a:p>
            <a:pPr algn="ctr"/>
            <a:r>
              <a:rPr lang="en-US" altLang="ja-JP" sz="1200" dirty="0"/>
              <a:t>2. </a:t>
            </a:r>
            <a:r>
              <a:rPr lang="ja-JP" altLang="en-US" sz="1200"/>
              <a:t>パイプライン構築</a:t>
            </a:r>
            <a:endParaRPr kumimoji="1" lang="ja-JP" altLang="en-US" sz="1200"/>
          </a:p>
        </p:txBody>
      </p:sp>
      <p:sp>
        <p:nvSpPr>
          <p:cNvPr id="28" name="テキスト ボックス 27">
            <a:extLst>
              <a:ext uri="{FF2B5EF4-FFF2-40B4-BE49-F238E27FC236}">
                <a16:creationId xmlns:a16="http://schemas.microsoft.com/office/drawing/2014/main" id="{DADDF1C0-A751-9B88-7759-267FDC130B9E}"/>
              </a:ext>
            </a:extLst>
          </p:cNvPr>
          <p:cNvSpPr txBox="1"/>
          <p:nvPr/>
        </p:nvSpPr>
        <p:spPr>
          <a:xfrm>
            <a:off x="4499636" y="2172347"/>
            <a:ext cx="3966427" cy="923330"/>
          </a:xfrm>
          <a:prstGeom prst="rect">
            <a:avLst/>
          </a:prstGeom>
          <a:noFill/>
          <a:ln>
            <a:solidFill>
              <a:schemeClr val="bg1">
                <a:lumMod val="10000"/>
              </a:schemeClr>
            </a:solidFill>
          </a:ln>
        </p:spPr>
        <p:txBody>
          <a:bodyPr wrap="square" rtlCol="0">
            <a:spAutoFit/>
          </a:bodyPr>
          <a:lstStyle/>
          <a:p>
            <a:pPr algn="ctr"/>
            <a:r>
              <a:rPr lang="en" altLang="ja-JP" dirty="0"/>
              <a:t>graphrag/index/run/run_pipeline.py</a:t>
            </a:r>
            <a:br>
              <a:rPr lang="en" altLang="ja-JP" dirty="0"/>
            </a:br>
            <a:r>
              <a:rPr lang="en" altLang="ja-JP" b="1" dirty="0"/>
              <a:t>run_pipeline</a:t>
            </a:r>
            <a:endParaRPr lang="en-US" altLang="ja-JP" b="1" dirty="0"/>
          </a:p>
          <a:p>
            <a:pPr algn="ctr"/>
            <a:r>
              <a:rPr lang="en" altLang="ja-JP" b="1" dirty="0"/>
              <a:t>_run_pipeline</a:t>
            </a:r>
            <a:endParaRPr kumimoji="1" lang="ja-JP" altLang="en-US" b="1"/>
          </a:p>
        </p:txBody>
      </p:sp>
      <p:cxnSp>
        <p:nvCxnSpPr>
          <p:cNvPr id="29" name="直線矢印コネクタ 28">
            <a:extLst>
              <a:ext uri="{FF2B5EF4-FFF2-40B4-BE49-F238E27FC236}">
                <a16:creationId xmlns:a16="http://schemas.microsoft.com/office/drawing/2014/main" id="{4E78257E-7923-D38F-C7B7-5E96D56E06E0}"/>
              </a:ext>
            </a:extLst>
          </p:cNvPr>
          <p:cNvCxnSpPr>
            <a:cxnSpLocks/>
            <a:stCxn id="11" idx="2"/>
            <a:endCxn id="28" idx="0"/>
          </p:cNvCxnSpPr>
          <p:nvPr/>
        </p:nvCxnSpPr>
        <p:spPr>
          <a:xfrm>
            <a:off x="6482850" y="1956903"/>
            <a:ext cx="0" cy="215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2EBE8CC0-A851-21D6-623D-BF763B4C39D2}"/>
              </a:ext>
            </a:extLst>
          </p:cNvPr>
          <p:cNvSpPr txBox="1"/>
          <p:nvPr/>
        </p:nvSpPr>
        <p:spPr>
          <a:xfrm>
            <a:off x="4426800" y="3108716"/>
            <a:ext cx="4112098" cy="276999"/>
          </a:xfrm>
          <a:prstGeom prst="rect">
            <a:avLst/>
          </a:prstGeom>
          <a:noFill/>
          <a:ln>
            <a:noFill/>
          </a:ln>
        </p:spPr>
        <p:txBody>
          <a:bodyPr wrap="square" rtlCol="0">
            <a:spAutoFit/>
          </a:bodyPr>
          <a:lstStyle/>
          <a:p>
            <a:pPr algn="ctr"/>
            <a:r>
              <a:rPr lang="en-US" altLang="ja-JP" sz="1200" dirty="0"/>
              <a:t>3. </a:t>
            </a:r>
            <a:r>
              <a:rPr lang="ja-JP" altLang="en-US" sz="1200"/>
              <a:t>パイプライン実行</a:t>
            </a:r>
            <a:r>
              <a:rPr lang="en-US" altLang="ja-JP" sz="1200" dirty="0"/>
              <a:t> </a:t>
            </a:r>
            <a:r>
              <a:rPr kumimoji="1" lang="ja-JP" altLang="en-US" sz="1200"/>
              <a:t>各ワークフローを順番に取り出し</a:t>
            </a:r>
          </a:p>
        </p:txBody>
      </p:sp>
      <p:cxnSp>
        <p:nvCxnSpPr>
          <p:cNvPr id="48" name="直線矢印コネクタ 47">
            <a:extLst>
              <a:ext uri="{FF2B5EF4-FFF2-40B4-BE49-F238E27FC236}">
                <a16:creationId xmlns:a16="http://schemas.microsoft.com/office/drawing/2014/main" id="{84B48467-76D0-EFC1-B942-7D2A80896F8D}"/>
              </a:ext>
            </a:extLst>
          </p:cNvPr>
          <p:cNvCxnSpPr>
            <a:cxnSpLocks/>
            <a:stCxn id="11" idx="3"/>
            <a:endCxn id="21" idx="1"/>
          </p:cNvCxnSpPr>
          <p:nvPr/>
        </p:nvCxnSpPr>
        <p:spPr>
          <a:xfrm flipV="1">
            <a:off x="7711989" y="1633735"/>
            <a:ext cx="27143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0493612F-9DA7-A9EF-847B-609DE27FFD38}"/>
              </a:ext>
            </a:extLst>
          </p:cNvPr>
          <p:cNvSpPr txBox="1"/>
          <p:nvPr/>
        </p:nvSpPr>
        <p:spPr>
          <a:xfrm>
            <a:off x="210574" y="3762324"/>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/load_input_documents</a:t>
            </a:r>
            <a:br>
              <a:rPr lang="en" altLang="ja-JP" sz="1400" dirty="0"/>
            </a:br>
            <a:r>
              <a:rPr lang="en" altLang="ja-JP" sz="1400" b="1" dirty="0"/>
              <a:t>run_workflow</a:t>
            </a:r>
            <a:endParaRPr lang="en-US" altLang="ja-JP" sz="1400" b="1" dirty="0"/>
          </a:p>
          <a:p>
            <a:pPr algn="ctr"/>
            <a:r>
              <a:rPr kumimoji="1" lang="en" altLang="ja-JP" sz="1400" b="1" dirty="0"/>
              <a:t>load_input_documents</a:t>
            </a:r>
            <a:endParaRPr kumimoji="1" lang="ja-JP" altLang="en-US" sz="1400" b="1"/>
          </a:p>
        </p:txBody>
      </p:sp>
      <p:sp>
        <p:nvSpPr>
          <p:cNvPr id="53" name="テキスト ボックス 52">
            <a:extLst>
              <a:ext uri="{FF2B5EF4-FFF2-40B4-BE49-F238E27FC236}">
                <a16:creationId xmlns:a16="http://schemas.microsoft.com/office/drawing/2014/main" id="{915C3987-A458-F258-4F49-581BCB40F230}"/>
              </a:ext>
            </a:extLst>
          </p:cNvPr>
          <p:cNvSpPr txBox="1"/>
          <p:nvPr/>
        </p:nvSpPr>
        <p:spPr>
          <a:xfrm>
            <a:off x="339352" y="4716431"/>
            <a:ext cx="2006261" cy="276999"/>
          </a:xfrm>
          <a:prstGeom prst="rect">
            <a:avLst/>
          </a:prstGeom>
          <a:noFill/>
          <a:ln>
            <a:noFill/>
          </a:ln>
        </p:spPr>
        <p:txBody>
          <a:bodyPr wrap="square" rtlCol="0">
            <a:spAutoFit/>
          </a:bodyPr>
          <a:lstStyle/>
          <a:p>
            <a:pPr algn="ctr"/>
            <a:r>
              <a:rPr lang="en-US" altLang="ja-JP" sz="1200" dirty="0"/>
              <a:t>4</a:t>
            </a:r>
            <a:r>
              <a:rPr kumimoji="1" lang="en-US" altLang="ja-JP" sz="1200" dirty="0"/>
              <a:t>.1 </a:t>
            </a:r>
            <a:r>
              <a:rPr kumimoji="1" lang="ja-JP" altLang="en-US" sz="1200"/>
              <a:t>ドキュメント読み込み</a:t>
            </a:r>
          </a:p>
        </p:txBody>
      </p:sp>
      <p:sp>
        <p:nvSpPr>
          <p:cNvPr id="54" name="テキスト ボックス 53">
            <a:extLst>
              <a:ext uri="{FF2B5EF4-FFF2-40B4-BE49-F238E27FC236}">
                <a16:creationId xmlns:a16="http://schemas.microsoft.com/office/drawing/2014/main" id="{45BA2785-7C0B-C729-A1EE-E70B54F78065}"/>
              </a:ext>
            </a:extLst>
          </p:cNvPr>
          <p:cNvSpPr txBox="1"/>
          <p:nvPr/>
        </p:nvSpPr>
        <p:spPr>
          <a:xfrm>
            <a:off x="2571494" y="3762324"/>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/create_base_text_units</a:t>
            </a:r>
            <a:br>
              <a:rPr lang="en" altLang="ja-JP" sz="1400" dirty="0"/>
            </a:br>
            <a:r>
              <a:rPr lang="en" altLang="ja-JP" sz="1400" b="1" dirty="0"/>
              <a:t>run_workflow</a:t>
            </a:r>
            <a:endParaRPr lang="en-US" altLang="ja-JP" sz="1400" b="1" dirty="0"/>
          </a:p>
          <a:p>
            <a:pPr algn="ctr"/>
            <a:r>
              <a:rPr kumimoji="1" lang="en" altLang="ja-JP" sz="1400" b="1" dirty="0"/>
              <a:t>create_base_text_units</a:t>
            </a:r>
            <a:endParaRPr kumimoji="1" lang="ja-JP" altLang="en-US" sz="1400" b="1"/>
          </a:p>
        </p:txBody>
      </p:sp>
      <p:sp>
        <p:nvSpPr>
          <p:cNvPr id="55" name="テキスト ボックス 54">
            <a:extLst>
              <a:ext uri="{FF2B5EF4-FFF2-40B4-BE49-F238E27FC236}">
                <a16:creationId xmlns:a16="http://schemas.microsoft.com/office/drawing/2014/main" id="{F3CE527E-D622-DFBD-4083-3DBC826C49CF}"/>
              </a:ext>
            </a:extLst>
          </p:cNvPr>
          <p:cNvSpPr txBox="1"/>
          <p:nvPr/>
        </p:nvSpPr>
        <p:spPr>
          <a:xfrm>
            <a:off x="2794271" y="4716431"/>
            <a:ext cx="1818263" cy="276999"/>
          </a:xfrm>
          <a:prstGeom prst="rect">
            <a:avLst/>
          </a:prstGeom>
          <a:noFill/>
          <a:ln>
            <a:noFill/>
          </a:ln>
        </p:spPr>
        <p:txBody>
          <a:bodyPr wrap="square" rtlCol="0">
            <a:spAutoFit/>
          </a:bodyPr>
          <a:lstStyle/>
          <a:p>
            <a:pPr algn="ctr"/>
            <a:r>
              <a:rPr lang="en-US" altLang="ja-JP" sz="1200" dirty="0"/>
              <a:t>4</a:t>
            </a:r>
            <a:r>
              <a:rPr kumimoji="1" lang="en-US" altLang="ja-JP" sz="1200" dirty="0"/>
              <a:t>.2 </a:t>
            </a:r>
            <a:r>
              <a:rPr kumimoji="1" lang="ja-JP" altLang="en-US" sz="1200"/>
              <a:t>チャンク分割</a:t>
            </a:r>
          </a:p>
        </p:txBody>
      </p:sp>
      <p:sp>
        <p:nvSpPr>
          <p:cNvPr id="56" name="テキスト ボックス 55">
            <a:extLst>
              <a:ext uri="{FF2B5EF4-FFF2-40B4-BE49-F238E27FC236}">
                <a16:creationId xmlns:a16="http://schemas.microsoft.com/office/drawing/2014/main" id="{0F5C603C-43DA-0B1F-DCBD-EB2FAB209C09}"/>
              </a:ext>
            </a:extLst>
          </p:cNvPr>
          <p:cNvSpPr txBox="1"/>
          <p:nvPr/>
        </p:nvSpPr>
        <p:spPr>
          <a:xfrm>
            <a:off x="4964091" y="3762323"/>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/create_final_documents</a:t>
            </a:r>
            <a:br>
              <a:rPr lang="en" altLang="ja-JP" sz="1400" dirty="0"/>
            </a:br>
            <a:r>
              <a:rPr lang="en" altLang="ja-JP" sz="1400" b="1" dirty="0"/>
              <a:t>run_workflow</a:t>
            </a:r>
            <a:endParaRPr lang="en-US" altLang="ja-JP" sz="1400" b="1" dirty="0"/>
          </a:p>
          <a:p>
            <a:pPr algn="ctr"/>
            <a:r>
              <a:rPr kumimoji="1" lang="en" altLang="ja-JP" sz="1400" b="1" dirty="0"/>
              <a:t>create_final_documents</a:t>
            </a:r>
            <a:endParaRPr kumimoji="1" lang="ja-JP" altLang="en-US" sz="1400" b="1"/>
          </a:p>
        </p:txBody>
      </p:sp>
      <p:sp>
        <p:nvSpPr>
          <p:cNvPr id="57" name="テキスト ボックス 56">
            <a:extLst>
              <a:ext uri="{FF2B5EF4-FFF2-40B4-BE49-F238E27FC236}">
                <a16:creationId xmlns:a16="http://schemas.microsoft.com/office/drawing/2014/main" id="{61AC40E5-5F54-E94C-5F19-A3EF76429B21}"/>
              </a:ext>
            </a:extLst>
          </p:cNvPr>
          <p:cNvSpPr txBox="1"/>
          <p:nvPr/>
        </p:nvSpPr>
        <p:spPr>
          <a:xfrm>
            <a:off x="5216877" y="4716431"/>
            <a:ext cx="1758245" cy="276999"/>
          </a:xfrm>
          <a:prstGeom prst="rect">
            <a:avLst/>
          </a:prstGeom>
          <a:noFill/>
          <a:ln>
            <a:noFill/>
          </a:ln>
        </p:spPr>
        <p:txBody>
          <a:bodyPr wrap="square" rtlCol="0">
            <a:spAutoFit/>
          </a:bodyPr>
          <a:lstStyle/>
          <a:p>
            <a:pPr algn="ctr"/>
            <a:r>
              <a:rPr lang="en-US" altLang="ja-JP" sz="1200" dirty="0"/>
              <a:t>4</a:t>
            </a:r>
            <a:r>
              <a:rPr kumimoji="1" lang="en-US" altLang="ja-JP" sz="1200" dirty="0"/>
              <a:t>.3 </a:t>
            </a:r>
            <a:r>
              <a:rPr kumimoji="1" lang="ja-JP" altLang="en-US" sz="1200"/>
              <a:t>情報の結合・整理</a:t>
            </a:r>
          </a:p>
        </p:txBody>
      </p:sp>
      <p:sp>
        <p:nvSpPr>
          <p:cNvPr id="60" name="テキスト ボックス 59">
            <a:extLst>
              <a:ext uri="{FF2B5EF4-FFF2-40B4-BE49-F238E27FC236}">
                <a16:creationId xmlns:a16="http://schemas.microsoft.com/office/drawing/2014/main" id="{20AA6E3E-F8EB-5B51-D913-4872C7B51B0E}"/>
              </a:ext>
            </a:extLst>
          </p:cNvPr>
          <p:cNvSpPr txBox="1"/>
          <p:nvPr/>
        </p:nvSpPr>
        <p:spPr>
          <a:xfrm>
            <a:off x="7356687" y="3750364"/>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/extract_graph</a:t>
            </a:r>
            <a:br>
              <a:rPr lang="en" altLang="ja-JP" sz="1400" dirty="0"/>
            </a:br>
            <a:r>
              <a:rPr lang="en" altLang="ja-JP" sz="1400" b="1" dirty="0"/>
              <a:t>run_workflow</a:t>
            </a:r>
            <a:endParaRPr lang="en-US" altLang="ja-JP" sz="1400" b="1" dirty="0"/>
          </a:p>
          <a:p>
            <a:pPr algn="ctr"/>
            <a:r>
              <a:rPr kumimoji="1" lang="en" altLang="ja-JP" sz="1400" b="1" dirty="0"/>
              <a:t>extract_graph</a:t>
            </a:r>
            <a:endParaRPr kumimoji="1" lang="ja-JP" altLang="en-US" sz="1400" b="1"/>
          </a:p>
        </p:txBody>
      </p:sp>
      <p:sp>
        <p:nvSpPr>
          <p:cNvPr id="61" name="テキスト ボックス 60">
            <a:extLst>
              <a:ext uri="{FF2B5EF4-FFF2-40B4-BE49-F238E27FC236}">
                <a16:creationId xmlns:a16="http://schemas.microsoft.com/office/drawing/2014/main" id="{23067F84-24E5-948A-0906-6F08C5FEF16C}"/>
              </a:ext>
            </a:extLst>
          </p:cNvPr>
          <p:cNvSpPr txBox="1"/>
          <p:nvPr/>
        </p:nvSpPr>
        <p:spPr>
          <a:xfrm>
            <a:off x="7354956" y="4692512"/>
            <a:ext cx="2267279" cy="276999"/>
          </a:xfrm>
          <a:prstGeom prst="rect">
            <a:avLst/>
          </a:prstGeom>
          <a:noFill/>
          <a:ln>
            <a:noFill/>
          </a:ln>
        </p:spPr>
        <p:txBody>
          <a:bodyPr wrap="square" rtlCol="0">
            <a:spAutoFit/>
          </a:bodyPr>
          <a:lstStyle/>
          <a:p>
            <a:pPr algn="ctr"/>
            <a:r>
              <a:rPr lang="en-US" altLang="ja-JP" sz="1200" dirty="0"/>
              <a:t>4</a:t>
            </a:r>
            <a:r>
              <a:rPr kumimoji="1" lang="en-US" altLang="ja-JP" sz="1200" dirty="0"/>
              <a:t>.4</a:t>
            </a:r>
            <a:r>
              <a:rPr lang="en-US" altLang="ja-JP" sz="1200" dirty="0"/>
              <a:t> </a:t>
            </a:r>
            <a:r>
              <a:rPr kumimoji="1" lang="ja-JP" altLang="en-US" sz="1200"/>
              <a:t>エンティティ</a:t>
            </a:r>
            <a:r>
              <a:rPr kumimoji="1" lang="en-US" altLang="ja-JP" sz="1200" dirty="0"/>
              <a:t> </a:t>
            </a:r>
            <a:r>
              <a:rPr lang="en-US" altLang="ja-JP" sz="1200" dirty="0"/>
              <a:t>/ </a:t>
            </a:r>
            <a:r>
              <a:rPr kumimoji="1" lang="ja-JP" altLang="en-US" sz="1200"/>
              <a:t>関係抽出</a:t>
            </a:r>
          </a:p>
        </p:txBody>
      </p:sp>
      <p:sp>
        <p:nvSpPr>
          <p:cNvPr id="62" name="テキスト ボックス 61">
            <a:extLst>
              <a:ext uri="{FF2B5EF4-FFF2-40B4-BE49-F238E27FC236}">
                <a16:creationId xmlns:a16="http://schemas.microsoft.com/office/drawing/2014/main" id="{870063B6-3533-E2F8-0208-2E5D77F5A46E}"/>
              </a:ext>
            </a:extLst>
          </p:cNvPr>
          <p:cNvSpPr txBox="1"/>
          <p:nvPr/>
        </p:nvSpPr>
        <p:spPr>
          <a:xfrm>
            <a:off x="9749282" y="3738405"/>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/finalize_graph</a:t>
            </a:r>
            <a:br>
              <a:rPr lang="en" altLang="ja-JP" sz="1400" dirty="0"/>
            </a:br>
            <a:r>
              <a:rPr lang="en" altLang="ja-JP" sz="1400" b="1" dirty="0"/>
              <a:t>run_workflow</a:t>
            </a:r>
            <a:endParaRPr lang="en-US" altLang="ja-JP" sz="1400" b="1" dirty="0"/>
          </a:p>
          <a:p>
            <a:pPr algn="ctr"/>
            <a:r>
              <a:rPr kumimoji="1" lang="en" altLang="ja-JP" sz="1400" b="1" dirty="0"/>
              <a:t>finalize_graph</a:t>
            </a:r>
            <a:endParaRPr kumimoji="1" lang="ja-JP" altLang="en-US" sz="1400" b="1"/>
          </a:p>
        </p:txBody>
      </p:sp>
      <p:sp>
        <p:nvSpPr>
          <p:cNvPr id="63" name="テキスト ボックス 62">
            <a:extLst>
              <a:ext uri="{FF2B5EF4-FFF2-40B4-BE49-F238E27FC236}">
                <a16:creationId xmlns:a16="http://schemas.microsoft.com/office/drawing/2014/main" id="{584BA151-D823-5E4F-1FDB-C516CE721D71}"/>
              </a:ext>
            </a:extLst>
          </p:cNvPr>
          <p:cNvSpPr txBox="1"/>
          <p:nvPr/>
        </p:nvSpPr>
        <p:spPr>
          <a:xfrm>
            <a:off x="9855862" y="4646732"/>
            <a:ext cx="2047198" cy="461665"/>
          </a:xfrm>
          <a:prstGeom prst="rect">
            <a:avLst/>
          </a:prstGeom>
          <a:noFill/>
          <a:ln>
            <a:noFill/>
          </a:ln>
        </p:spPr>
        <p:txBody>
          <a:bodyPr wrap="square" rtlCol="0">
            <a:spAutoFit/>
          </a:bodyPr>
          <a:lstStyle/>
          <a:p>
            <a:pPr algn="ctr"/>
            <a:r>
              <a:rPr lang="en-US" altLang="ja-JP" sz="1200" dirty="0"/>
              <a:t>4</a:t>
            </a:r>
            <a:r>
              <a:rPr kumimoji="1" lang="en-US" altLang="ja-JP" sz="1200" dirty="0"/>
              <a:t>.5</a:t>
            </a:r>
            <a:r>
              <a:rPr lang="en-US" altLang="ja-JP" sz="1200" dirty="0"/>
              <a:t> </a:t>
            </a:r>
            <a:r>
              <a:rPr kumimoji="1" lang="ja-JP" altLang="en-US" sz="1200"/>
              <a:t>エンティティ</a:t>
            </a:r>
            <a:r>
              <a:rPr kumimoji="1" lang="en-US" altLang="ja-JP" sz="1200" dirty="0"/>
              <a:t> </a:t>
            </a:r>
            <a:r>
              <a:rPr lang="en-US" altLang="ja-JP" sz="1200" dirty="0"/>
              <a:t>/ </a:t>
            </a:r>
            <a:r>
              <a:rPr kumimoji="1" lang="ja-JP" altLang="en-US" sz="1200"/>
              <a:t>関係の</a:t>
            </a:r>
            <a:endParaRPr kumimoji="1" lang="en-US" altLang="ja-JP" sz="1200" dirty="0"/>
          </a:p>
          <a:p>
            <a:pPr algn="ctr"/>
            <a:r>
              <a:rPr kumimoji="1" lang="ja-JP" altLang="en-US" sz="1200"/>
              <a:t>整理</a:t>
            </a:r>
            <a:r>
              <a:rPr lang="ja-JP" altLang="en-US" sz="1200"/>
              <a:t>・正規化</a:t>
            </a:r>
            <a:endParaRPr kumimoji="1" lang="ja-JP" altLang="en-US" sz="1200"/>
          </a:p>
        </p:txBody>
      </p:sp>
      <p:sp>
        <p:nvSpPr>
          <p:cNvPr id="64" name="テキスト ボックス 63">
            <a:extLst>
              <a:ext uri="{FF2B5EF4-FFF2-40B4-BE49-F238E27FC236}">
                <a16:creationId xmlns:a16="http://schemas.microsoft.com/office/drawing/2014/main" id="{A91D22A4-5004-7BAB-94D8-D247EA665181}"/>
              </a:ext>
            </a:extLst>
          </p:cNvPr>
          <p:cNvSpPr txBox="1"/>
          <p:nvPr/>
        </p:nvSpPr>
        <p:spPr>
          <a:xfrm>
            <a:off x="208845" y="5085768"/>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/extract_covariates</a:t>
            </a:r>
            <a:br>
              <a:rPr lang="en" altLang="ja-JP" sz="1400" dirty="0"/>
            </a:br>
            <a:r>
              <a:rPr lang="en" altLang="ja-JP" sz="1400" b="1" dirty="0"/>
              <a:t>run_workflow</a:t>
            </a:r>
            <a:endParaRPr lang="en-US" altLang="ja-JP" sz="1400" b="1" dirty="0"/>
          </a:p>
          <a:p>
            <a:pPr algn="ctr"/>
            <a:r>
              <a:rPr kumimoji="1" lang="en" altLang="ja-JP" sz="1400" b="1" dirty="0"/>
              <a:t>extract_covariates</a:t>
            </a:r>
            <a:endParaRPr kumimoji="1" lang="ja-JP" altLang="en-US" sz="1400" b="1"/>
          </a:p>
        </p:txBody>
      </p:sp>
      <p:sp>
        <p:nvSpPr>
          <p:cNvPr id="65" name="テキスト ボックス 64">
            <a:extLst>
              <a:ext uri="{FF2B5EF4-FFF2-40B4-BE49-F238E27FC236}">
                <a16:creationId xmlns:a16="http://schemas.microsoft.com/office/drawing/2014/main" id="{963B35C6-605E-EBBD-F24F-0356D2798367}"/>
              </a:ext>
            </a:extLst>
          </p:cNvPr>
          <p:cNvSpPr txBox="1"/>
          <p:nvPr/>
        </p:nvSpPr>
        <p:spPr>
          <a:xfrm>
            <a:off x="94851" y="6039875"/>
            <a:ext cx="2486597" cy="276999"/>
          </a:xfrm>
          <a:prstGeom prst="rect">
            <a:avLst/>
          </a:prstGeom>
          <a:noFill/>
          <a:ln>
            <a:noFill/>
          </a:ln>
        </p:spPr>
        <p:txBody>
          <a:bodyPr wrap="square" rtlCol="0">
            <a:spAutoFit/>
          </a:bodyPr>
          <a:lstStyle/>
          <a:p>
            <a:pPr algn="ctr"/>
            <a:r>
              <a:rPr lang="en-US" altLang="ja-JP" sz="1200" dirty="0"/>
              <a:t>4</a:t>
            </a:r>
            <a:r>
              <a:rPr kumimoji="1" lang="en-US" altLang="ja-JP" sz="1200" dirty="0"/>
              <a:t>.6 </a:t>
            </a:r>
            <a:r>
              <a:rPr lang="en-US" altLang="ja-JP" sz="1200" dirty="0"/>
              <a:t>claim (</a:t>
            </a:r>
            <a:r>
              <a:rPr lang="ja-JP" altLang="en-US" sz="1200"/>
              <a:t>主張・事実・疑惑</a:t>
            </a:r>
            <a:r>
              <a:rPr lang="en-US" altLang="ja-JP" sz="1200" dirty="0"/>
              <a:t>) </a:t>
            </a:r>
            <a:r>
              <a:rPr kumimoji="1" lang="ja-JP" altLang="en-US" sz="1200"/>
              <a:t>抽出</a:t>
            </a:r>
          </a:p>
        </p:txBody>
      </p:sp>
      <p:sp>
        <p:nvSpPr>
          <p:cNvPr id="66" name="テキスト ボックス 65">
            <a:extLst>
              <a:ext uri="{FF2B5EF4-FFF2-40B4-BE49-F238E27FC236}">
                <a16:creationId xmlns:a16="http://schemas.microsoft.com/office/drawing/2014/main" id="{DCAB1170-46DC-6E76-7543-EA236053D990}"/>
              </a:ext>
            </a:extLst>
          </p:cNvPr>
          <p:cNvSpPr txBox="1"/>
          <p:nvPr/>
        </p:nvSpPr>
        <p:spPr>
          <a:xfrm>
            <a:off x="2569765" y="5085768"/>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/create_communities</a:t>
            </a:r>
            <a:br>
              <a:rPr lang="en" altLang="ja-JP" sz="1400" dirty="0"/>
            </a:br>
            <a:r>
              <a:rPr lang="en" altLang="ja-JP" sz="1400" b="1" dirty="0"/>
              <a:t>run_workflow</a:t>
            </a:r>
            <a:endParaRPr lang="en-US" altLang="ja-JP" sz="1400" b="1" dirty="0"/>
          </a:p>
          <a:p>
            <a:pPr algn="ctr"/>
            <a:r>
              <a:rPr kumimoji="1" lang="en" altLang="ja-JP" sz="1400" b="1" dirty="0"/>
              <a:t>create_communities</a:t>
            </a:r>
            <a:endParaRPr kumimoji="1" lang="ja-JP" altLang="en-US" sz="1400" b="1"/>
          </a:p>
        </p:txBody>
      </p:sp>
      <p:sp>
        <p:nvSpPr>
          <p:cNvPr id="67" name="テキスト ボックス 66">
            <a:extLst>
              <a:ext uri="{FF2B5EF4-FFF2-40B4-BE49-F238E27FC236}">
                <a16:creationId xmlns:a16="http://schemas.microsoft.com/office/drawing/2014/main" id="{3C16909E-3B95-C060-CF6A-C27DCFD67C74}"/>
              </a:ext>
            </a:extLst>
          </p:cNvPr>
          <p:cNvSpPr txBox="1"/>
          <p:nvPr/>
        </p:nvSpPr>
        <p:spPr>
          <a:xfrm>
            <a:off x="2792542" y="6039875"/>
            <a:ext cx="1818263" cy="461665"/>
          </a:xfrm>
          <a:prstGeom prst="rect">
            <a:avLst/>
          </a:prstGeom>
          <a:noFill/>
          <a:ln>
            <a:noFill/>
          </a:ln>
        </p:spPr>
        <p:txBody>
          <a:bodyPr wrap="square" rtlCol="0">
            <a:spAutoFit/>
          </a:bodyPr>
          <a:lstStyle/>
          <a:p>
            <a:pPr algn="ctr"/>
            <a:r>
              <a:rPr lang="en-US" altLang="ja-JP" sz="1200" dirty="0"/>
              <a:t>4.7 </a:t>
            </a:r>
            <a:r>
              <a:rPr lang="ja-JP" altLang="en-US" sz="1200"/>
              <a:t>クラスタリング・</a:t>
            </a:r>
            <a:endParaRPr lang="en-US" altLang="ja-JP" sz="1200" dirty="0"/>
          </a:p>
          <a:p>
            <a:pPr algn="ctr"/>
            <a:r>
              <a:rPr lang="ja-JP" altLang="en-US" sz="1200"/>
              <a:t>コミュニティ検出</a:t>
            </a:r>
            <a:endParaRPr kumimoji="1" lang="ja-JP" altLang="en-US" sz="1200"/>
          </a:p>
        </p:txBody>
      </p:sp>
      <p:sp>
        <p:nvSpPr>
          <p:cNvPr id="68" name="テキスト ボックス 67">
            <a:extLst>
              <a:ext uri="{FF2B5EF4-FFF2-40B4-BE49-F238E27FC236}">
                <a16:creationId xmlns:a16="http://schemas.microsoft.com/office/drawing/2014/main" id="{FDE9745D-8993-79C5-81A3-E4E2DADA7E0D}"/>
              </a:ext>
            </a:extLst>
          </p:cNvPr>
          <p:cNvSpPr txBox="1"/>
          <p:nvPr/>
        </p:nvSpPr>
        <p:spPr>
          <a:xfrm>
            <a:off x="4962362" y="5085767"/>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/create_final_text_units</a:t>
            </a:r>
            <a:br>
              <a:rPr lang="en" altLang="ja-JP" sz="1400" dirty="0"/>
            </a:br>
            <a:r>
              <a:rPr lang="en" altLang="ja-JP" sz="1400" b="1" dirty="0"/>
              <a:t>run_workflow</a:t>
            </a:r>
            <a:endParaRPr lang="en-US" altLang="ja-JP" sz="1400" b="1" dirty="0"/>
          </a:p>
          <a:p>
            <a:pPr algn="ctr"/>
            <a:r>
              <a:rPr kumimoji="1" lang="en" altLang="ja-JP" sz="1400" b="1" dirty="0"/>
              <a:t>create_final_text_units</a:t>
            </a:r>
            <a:endParaRPr kumimoji="1" lang="ja-JP" altLang="en-US" sz="1400" b="1"/>
          </a:p>
        </p:txBody>
      </p:sp>
      <p:sp>
        <p:nvSpPr>
          <p:cNvPr id="69" name="テキスト ボックス 68">
            <a:extLst>
              <a:ext uri="{FF2B5EF4-FFF2-40B4-BE49-F238E27FC236}">
                <a16:creationId xmlns:a16="http://schemas.microsoft.com/office/drawing/2014/main" id="{3C4E8EAE-700F-263B-B36F-66517196F81A}"/>
              </a:ext>
            </a:extLst>
          </p:cNvPr>
          <p:cNvSpPr txBox="1"/>
          <p:nvPr/>
        </p:nvSpPr>
        <p:spPr>
          <a:xfrm>
            <a:off x="4962362" y="6039875"/>
            <a:ext cx="2263818" cy="276999"/>
          </a:xfrm>
          <a:prstGeom prst="rect">
            <a:avLst/>
          </a:prstGeom>
          <a:noFill/>
          <a:ln>
            <a:noFill/>
          </a:ln>
        </p:spPr>
        <p:txBody>
          <a:bodyPr wrap="square" rtlCol="0">
            <a:spAutoFit/>
          </a:bodyPr>
          <a:lstStyle/>
          <a:p>
            <a:pPr algn="ctr"/>
            <a:r>
              <a:rPr lang="en-US" altLang="ja-JP" sz="1200" dirty="0"/>
              <a:t>4</a:t>
            </a:r>
            <a:r>
              <a:rPr kumimoji="1" lang="en-US" altLang="ja-JP" sz="1200" dirty="0"/>
              <a:t>.8 </a:t>
            </a:r>
            <a:r>
              <a:rPr kumimoji="1" lang="ja-JP" altLang="en-US" sz="1200"/>
              <a:t>最終テーブル生成</a:t>
            </a:r>
            <a:r>
              <a:rPr kumimoji="1" lang="en-US" altLang="ja-JP" sz="1200" dirty="0"/>
              <a:t> (</a:t>
            </a:r>
            <a:r>
              <a:rPr kumimoji="1" lang="ja-JP" altLang="en-US" sz="1200"/>
              <a:t>整形</a:t>
            </a:r>
            <a:r>
              <a:rPr kumimoji="1" lang="en-US" altLang="ja-JP" sz="1200" dirty="0"/>
              <a:t>)</a:t>
            </a:r>
            <a:endParaRPr kumimoji="1" lang="ja-JP" altLang="en-US" sz="1200"/>
          </a:p>
        </p:txBody>
      </p:sp>
      <p:sp>
        <p:nvSpPr>
          <p:cNvPr id="70" name="テキスト ボックス 69">
            <a:extLst>
              <a:ext uri="{FF2B5EF4-FFF2-40B4-BE49-F238E27FC236}">
                <a16:creationId xmlns:a16="http://schemas.microsoft.com/office/drawing/2014/main" id="{24E8DACF-B87F-BC9D-6DF4-71DB56D3C8AC}"/>
              </a:ext>
            </a:extLst>
          </p:cNvPr>
          <p:cNvSpPr txBox="1"/>
          <p:nvPr/>
        </p:nvSpPr>
        <p:spPr>
          <a:xfrm>
            <a:off x="7354958" y="5073808"/>
            <a:ext cx="2263818" cy="907941"/>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300" dirty="0"/>
              <a:t>/create_community_reports</a:t>
            </a:r>
            <a:br>
              <a:rPr lang="en" altLang="ja-JP" sz="1400" dirty="0"/>
            </a:br>
            <a:r>
              <a:rPr lang="en" altLang="ja-JP" sz="1400" b="1" dirty="0"/>
              <a:t>run_workflow</a:t>
            </a:r>
            <a:endParaRPr lang="en-US" altLang="ja-JP" sz="1400" b="1" dirty="0"/>
          </a:p>
          <a:p>
            <a:pPr algn="ctr"/>
            <a:r>
              <a:rPr kumimoji="1" lang="en" altLang="ja-JP" sz="1200" b="1" dirty="0"/>
              <a:t>create_community_reports</a:t>
            </a:r>
            <a:endParaRPr kumimoji="1" lang="ja-JP" altLang="en-US" sz="1200" b="1"/>
          </a:p>
        </p:txBody>
      </p:sp>
      <p:sp>
        <p:nvSpPr>
          <p:cNvPr id="71" name="テキスト ボックス 70">
            <a:extLst>
              <a:ext uri="{FF2B5EF4-FFF2-40B4-BE49-F238E27FC236}">
                <a16:creationId xmlns:a16="http://schemas.microsoft.com/office/drawing/2014/main" id="{7C421A54-9BA1-748B-381F-D6BC2C13F148}"/>
              </a:ext>
            </a:extLst>
          </p:cNvPr>
          <p:cNvSpPr txBox="1"/>
          <p:nvPr/>
        </p:nvSpPr>
        <p:spPr>
          <a:xfrm>
            <a:off x="7607744" y="5981749"/>
            <a:ext cx="1758245" cy="276999"/>
          </a:xfrm>
          <a:prstGeom prst="rect">
            <a:avLst/>
          </a:prstGeom>
          <a:noFill/>
          <a:ln>
            <a:noFill/>
          </a:ln>
        </p:spPr>
        <p:txBody>
          <a:bodyPr wrap="square" rtlCol="0">
            <a:spAutoFit/>
          </a:bodyPr>
          <a:lstStyle/>
          <a:p>
            <a:pPr algn="ctr"/>
            <a:r>
              <a:rPr lang="en-US" altLang="ja-JP" sz="1200" dirty="0"/>
              <a:t>4.9 </a:t>
            </a:r>
            <a:r>
              <a:rPr lang="ja-JP" altLang="en-US" sz="1200"/>
              <a:t>要約レポート生成</a:t>
            </a:r>
            <a:endParaRPr kumimoji="1" lang="ja-JP" altLang="en-US" sz="1200"/>
          </a:p>
        </p:txBody>
      </p:sp>
      <p:sp>
        <p:nvSpPr>
          <p:cNvPr id="72" name="テキスト ボックス 71">
            <a:extLst>
              <a:ext uri="{FF2B5EF4-FFF2-40B4-BE49-F238E27FC236}">
                <a16:creationId xmlns:a16="http://schemas.microsoft.com/office/drawing/2014/main" id="{CED8EEB8-3805-F346-E7BF-86355827BFF8}"/>
              </a:ext>
            </a:extLst>
          </p:cNvPr>
          <p:cNvSpPr txBox="1"/>
          <p:nvPr/>
        </p:nvSpPr>
        <p:spPr>
          <a:xfrm>
            <a:off x="9747552" y="5061849"/>
            <a:ext cx="2265547" cy="907941"/>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300" dirty="0"/>
              <a:t>/generate_text_embeddings</a:t>
            </a:r>
            <a:br>
              <a:rPr lang="en" altLang="ja-JP" sz="1400" dirty="0"/>
            </a:br>
            <a:r>
              <a:rPr lang="en" altLang="ja-JP" sz="1400" b="1" dirty="0"/>
              <a:t>run_workflow</a:t>
            </a:r>
            <a:endParaRPr lang="en-US" altLang="ja-JP" sz="1400" b="1" dirty="0"/>
          </a:p>
          <a:p>
            <a:pPr algn="ctr"/>
            <a:r>
              <a:rPr kumimoji="1" lang="en" altLang="ja-JP" sz="1200" b="1" dirty="0"/>
              <a:t>generate_text_embeddings</a:t>
            </a:r>
            <a:endParaRPr kumimoji="1" lang="ja-JP" altLang="en-US" sz="1200" b="1"/>
          </a:p>
        </p:txBody>
      </p:sp>
      <p:sp>
        <p:nvSpPr>
          <p:cNvPr id="73" name="テキスト ボックス 72">
            <a:extLst>
              <a:ext uri="{FF2B5EF4-FFF2-40B4-BE49-F238E27FC236}">
                <a16:creationId xmlns:a16="http://schemas.microsoft.com/office/drawing/2014/main" id="{D9987238-6B3E-EB77-7E1C-89C6EEB8CF06}"/>
              </a:ext>
            </a:extLst>
          </p:cNvPr>
          <p:cNvSpPr txBox="1"/>
          <p:nvPr/>
        </p:nvSpPr>
        <p:spPr>
          <a:xfrm>
            <a:off x="9928100" y="5981749"/>
            <a:ext cx="1902722" cy="276999"/>
          </a:xfrm>
          <a:prstGeom prst="rect">
            <a:avLst/>
          </a:prstGeom>
          <a:noFill/>
          <a:ln>
            <a:noFill/>
          </a:ln>
        </p:spPr>
        <p:txBody>
          <a:bodyPr wrap="square" rtlCol="0">
            <a:spAutoFit/>
          </a:bodyPr>
          <a:lstStyle/>
          <a:p>
            <a:pPr algn="ctr"/>
            <a:r>
              <a:rPr lang="en-US" altLang="ja-JP" sz="1200" dirty="0"/>
              <a:t>4</a:t>
            </a:r>
            <a:r>
              <a:rPr kumimoji="1" lang="en-US" altLang="ja-JP" sz="1200" dirty="0"/>
              <a:t>.10 </a:t>
            </a:r>
            <a:r>
              <a:rPr kumimoji="1" lang="ja-JP" altLang="en-US" sz="1200"/>
              <a:t>埋め込みベクトル化</a:t>
            </a:r>
          </a:p>
        </p:txBody>
      </p:sp>
      <p:sp>
        <p:nvSpPr>
          <p:cNvPr id="74" name="テキスト ボックス 73">
            <a:extLst>
              <a:ext uri="{FF2B5EF4-FFF2-40B4-BE49-F238E27FC236}">
                <a16:creationId xmlns:a16="http://schemas.microsoft.com/office/drawing/2014/main" id="{8ECDD51F-6E18-705C-45A2-1BB4724233E0}"/>
              </a:ext>
            </a:extLst>
          </p:cNvPr>
          <p:cNvSpPr txBox="1"/>
          <p:nvPr/>
        </p:nvSpPr>
        <p:spPr>
          <a:xfrm>
            <a:off x="318819" y="3192013"/>
            <a:ext cx="3966426" cy="461665"/>
          </a:xfrm>
          <a:prstGeom prst="rect">
            <a:avLst/>
          </a:prstGeom>
          <a:noFill/>
          <a:ln>
            <a:noFill/>
          </a:ln>
        </p:spPr>
        <p:txBody>
          <a:bodyPr wrap="square" rtlCol="0">
            <a:spAutoFit/>
          </a:bodyPr>
          <a:lstStyle/>
          <a:p>
            <a:r>
              <a:rPr kumimoji="1" lang="en-US" altLang="ja-JP" sz="1200" dirty="0"/>
              <a:t>※</a:t>
            </a:r>
            <a:r>
              <a:rPr kumimoji="1" lang="ja-JP" altLang="en-US" sz="1200"/>
              <a:t>太字は関数</a:t>
            </a:r>
            <a:endParaRPr kumimoji="1" lang="en-US" altLang="ja-JP" sz="1200" dirty="0"/>
          </a:p>
          <a:p>
            <a:r>
              <a:rPr kumimoji="1" lang="en-US" altLang="ja-JP" sz="1200" dirty="0"/>
              <a:t>※</a:t>
            </a:r>
            <a:r>
              <a:rPr kumimoji="1" lang="ja-JP" altLang="en-US" sz="1200"/>
              <a:t>パイプライン：</a:t>
            </a:r>
            <a:r>
              <a:rPr lang="ja-JP" altLang="en-US" sz="1200"/>
              <a:t>何をどの順番でやるかの計画</a:t>
            </a:r>
            <a:endParaRPr kumimoji="1" lang="ja-JP" altLang="en-US" sz="1200"/>
          </a:p>
        </p:txBody>
      </p:sp>
      <p:sp>
        <p:nvSpPr>
          <p:cNvPr id="77" name="テキスト ボックス 76">
            <a:extLst>
              <a:ext uri="{FF2B5EF4-FFF2-40B4-BE49-F238E27FC236}">
                <a16:creationId xmlns:a16="http://schemas.microsoft.com/office/drawing/2014/main" id="{9097EEB9-189A-BD76-D5D5-4AFD25A6B62C}"/>
              </a:ext>
            </a:extLst>
          </p:cNvPr>
          <p:cNvSpPr txBox="1"/>
          <p:nvPr/>
        </p:nvSpPr>
        <p:spPr>
          <a:xfrm>
            <a:off x="3955061" y="6495780"/>
            <a:ext cx="3966426" cy="276999"/>
          </a:xfrm>
          <a:prstGeom prst="rect">
            <a:avLst/>
          </a:prstGeom>
          <a:noFill/>
          <a:ln>
            <a:noFill/>
          </a:ln>
        </p:spPr>
        <p:txBody>
          <a:bodyPr wrap="square" rtlCol="0">
            <a:spAutoFit/>
          </a:bodyPr>
          <a:lstStyle/>
          <a:p>
            <a:pPr algn="ctr"/>
            <a:r>
              <a:rPr kumimoji="1" lang="en-US" altLang="ja-JP" sz="1200" dirty="0"/>
              <a:t>4. </a:t>
            </a:r>
            <a:r>
              <a:rPr kumimoji="1" lang="ja-JP" altLang="en-US" sz="1200"/>
              <a:t>各ワークフロー実行</a:t>
            </a:r>
          </a:p>
        </p:txBody>
      </p:sp>
    </p:spTree>
    <p:extLst>
      <p:ext uri="{BB962C8B-B14F-4D97-AF65-F5344CB8AC3E}">
        <p14:creationId xmlns:p14="http://schemas.microsoft.com/office/powerpoint/2010/main" val="874038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39708F9-A27D-2A6B-DA37-5FB2CDA75FDB}"/>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815A0BF6-2E6F-16DF-616E-7F0CA307DC4A}"/>
              </a:ext>
            </a:extLst>
          </p:cNvPr>
          <p:cNvSpPr>
            <a:spLocks noGrp="1"/>
          </p:cNvSpPr>
          <p:nvPr>
            <p:ph type="body" sz="quarter" idx="11"/>
          </p:nvPr>
        </p:nvSpPr>
        <p:spPr/>
        <p:txBody>
          <a:bodyPr>
            <a:normAutofit fontScale="92500" lnSpcReduction="20000"/>
          </a:bodyPr>
          <a:lstStyle/>
          <a:p>
            <a:r>
              <a:rPr lang="en" altLang="ja-JP" dirty="0"/>
              <a:t>graphrag index</a:t>
            </a:r>
            <a:r>
              <a:rPr lang="ja-JP" altLang="en-US"/>
              <a:t>時の流れ</a:t>
            </a:r>
            <a:r>
              <a:rPr lang="en-US" altLang="ja-JP" dirty="0"/>
              <a:t> (</a:t>
            </a:r>
            <a:r>
              <a:rPr lang="ja-JP" altLang="en-US"/>
              <a:t>作成した</a:t>
            </a:r>
            <a:r>
              <a:rPr lang="en-US" altLang="ja-JP" dirty="0"/>
              <a:t>TF-IDF</a:t>
            </a:r>
            <a:r>
              <a:rPr lang="ja-JP" altLang="en-US"/>
              <a:t>版の</a:t>
            </a:r>
            <a:r>
              <a:rPr lang="en-US" altLang="ja-JP" dirty="0"/>
              <a:t>GraphRAG)</a:t>
            </a:r>
            <a:endParaRPr kumimoji="1" lang="ja-JP" altLang="en-US"/>
          </a:p>
        </p:txBody>
      </p:sp>
      <p:sp>
        <p:nvSpPr>
          <p:cNvPr id="9" name="テキスト ボックス 8">
            <a:extLst>
              <a:ext uri="{FF2B5EF4-FFF2-40B4-BE49-F238E27FC236}">
                <a16:creationId xmlns:a16="http://schemas.microsoft.com/office/drawing/2014/main" id="{AB395216-D747-C37A-F1E0-50FEE3CACDAB}"/>
              </a:ext>
            </a:extLst>
          </p:cNvPr>
          <p:cNvSpPr txBox="1"/>
          <p:nvPr/>
        </p:nvSpPr>
        <p:spPr>
          <a:xfrm>
            <a:off x="2644365" y="1449070"/>
            <a:ext cx="2352261" cy="369332"/>
          </a:xfrm>
          <a:prstGeom prst="rect">
            <a:avLst/>
          </a:prstGeom>
          <a:noFill/>
          <a:ln>
            <a:solidFill>
              <a:schemeClr val="bg1">
                <a:lumMod val="10000"/>
              </a:schemeClr>
            </a:solidFill>
          </a:ln>
        </p:spPr>
        <p:txBody>
          <a:bodyPr wrap="square" rtlCol="0">
            <a:spAutoFit/>
          </a:bodyPr>
          <a:lstStyle/>
          <a:p>
            <a:pPr algn="ctr"/>
            <a:r>
              <a:rPr lang="en" altLang="ja-JP" dirty="0"/>
              <a:t>graphrag/cli/index.py</a:t>
            </a:r>
            <a:endParaRPr kumimoji="1" lang="ja-JP" altLang="en-US"/>
          </a:p>
        </p:txBody>
      </p:sp>
      <p:sp>
        <p:nvSpPr>
          <p:cNvPr id="10" name="テキスト ボックス 9">
            <a:extLst>
              <a:ext uri="{FF2B5EF4-FFF2-40B4-BE49-F238E27FC236}">
                <a16:creationId xmlns:a16="http://schemas.microsoft.com/office/drawing/2014/main" id="{2149C1A5-215D-8809-A2CA-1A2EE216595A}"/>
              </a:ext>
            </a:extLst>
          </p:cNvPr>
          <p:cNvSpPr txBox="1"/>
          <p:nvPr/>
        </p:nvSpPr>
        <p:spPr>
          <a:xfrm>
            <a:off x="397564" y="1310572"/>
            <a:ext cx="1959311" cy="646331"/>
          </a:xfrm>
          <a:prstGeom prst="rect">
            <a:avLst/>
          </a:prstGeom>
          <a:noFill/>
          <a:ln>
            <a:noFill/>
          </a:ln>
        </p:spPr>
        <p:txBody>
          <a:bodyPr wrap="square" rtlCol="0">
            <a:spAutoFit/>
          </a:bodyPr>
          <a:lstStyle/>
          <a:p>
            <a:pPr algn="ctr"/>
            <a:r>
              <a:rPr lang="ja-JP" altLang="en-US"/>
              <a:t>ユーザ</a:t>
            </a:r>
            <a:endParaRPr lang="en-US" altLang="ja-JP" dirty="0"/>
          </a:p>
          <a:p>
            <a:pPr algn="ctr"/>
            <a:r>
              <a:rPr lang="en" altLang="ja-JP" dirty="0"/>
              <a:t>“graphrag index”</a:t>
            </a:r>
            <a:endParaRPr kumimoji="1" lang="ja-JP" altLang="en-US"/>
          </a:p>
        </p:txBody>
      </p:sp>
      <p:sp>
        <p:nvSpPr>
          <p:cNvPr id="11" name="テキスト ボックス 10">
            <a:extLst>
              <a:ext uri="{FF2B5EF4-FFF2-40B4-BE49-F238E27FC236}">
                <a16:creationId xmlns:a16="http://schemas.microsoft.com/office/drawing/2014/main" id="{61FBF423-B22D-3318-4E98-2769F94BD9DB}"/>
              </a:ext>
            </a:extLst>
          </p:cNvPr>
          <p:cNvSpPr txBox="1"/>
          <p:nvPr/>
        </p:nvSpPr>
        <p:spPr>
          <a:xfrm>
            <a:off x="5253711" y="1310572"/>
            <a:ext cx="2458278" cy="646331"/>
          </a:xfrm>
          <a:prstGeom prst="rect">
            <a:avLst/>
          </a:prstGeom>
          <a:noFill/>
          <a:ln>
            <a:solidFill>
              <a:schemeClr val="bg1">
                <a:lumMod val="10000"/>
              </a:schemeClr>
            </a:solidFill>
          </a:ln>
        </p:spPr>
        <p:txBody>
          <a:bodyPr wrap="square" rtlCol="0">
            <a:spAutoFit/>
          </a:bodyPr>
          <a:lstStyle/>
          <a:p>
            <a:pPr algn="ctr"/>
            <a:r>
              <a:rPr lang="en" altLang="ja-JP" dirty="0"/>
              <a:t>graphrag/api/index.py</a:t>
            </a:r>
            <a:br>
              <a:rPr lang="en" altLang="ja-JP" dirty="0"/>
            </a:br>
            <a:r>
              <a:rPr lang="en" altLang="ja-JP" b="1" dirty="0"/>
              <a:t>build_index</a:t>
            </a:r>
            <a:endParaRPr kumimoji="1" lang="ja-JP" altLang="en-US" b="1"/>
          </a:p>
        </p:txBody>
      </p:sp>
      <p:cxnSp>
        <p:nvCxnSpPr>
          <p:cNvPr id="13" name="直線矢印コネクタ 12">
            <a:extLst>
              <a:ext uri="{FF2B5EF4-FFF2-40B4-BE49-F238E27FC236}">
                <a16:creationId xmlns:a16="http://schemas.microsoft.com/office/drawing/2014/main" id="{E50375A0-409C-6077-B229-4E12E5B8CC35}"/>
              </a:ext>
            </a:extLst>
          </p:cNvPr>
          <p:cNvCxnSpPr>
            <a:cxnSpLocks/>
            <a:stCxn id="10" idx="3"/>
            <a:endCxn id="9" idx="1"/>
          </p:cNvCxnSpPr>
          <p:nvPr/>
        </p:nvCxnSpPr>
        <p:spPr>
          <a:xfrm flipV="1">
            <a:off x="2356875" y="1633736"/>
            <a:ext cx="287490"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BC41D3CF-C359-A585-98B4-67ADB8229303}"/>
              </a:ext>
            </a:extLst>
          </p:cNvPr>
          <p:cNvCxnSpPr>
            <a:cxnSpLocks/>
            <a:stCxn id="9" idx="3"/>
            <a:endCxn id="11" idx="1"/>
          </p:cNvCxnSpPr>
          <p:nvPr/>
        </p:nvCxnSpPr>
        <p:spPr>
          <a:xfrm>
            <a:off x="4996626" y="1633736"/>
            <a:ext cx="257085"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6BB3BC3E-51FA-EDC8-F7B6-391A990F45F1}"/>
              </a:ext>
            </a:extLst>
          </p:cNvPr>
          <p:cNvSpPr txBox="1"/>
          <p:nvPr/>
        </p:nvSpPr>
        <p:spPr>
          <a:xfrm>
            <a:off x="2901450" y="1818402"/>
            <a:ext cx="1838089" cy="461665"/>
          </a:xfrm>
          <a:prstGeom prst="rect">
            <a:avLst/>
          </a:prstGeom>
          <a:noFill/>
          <a:ln>
            <a:noFill/>
          </a:ln>
        </p:spPr>
        <p:txBody>
          <a:bodyPr wrap="square" rtlCol="0">
            <a:spAutoFit/>
          </a:bodyPr>
          <a:lstStyle/>
          <a:p>
            <a:pPr algn="ctr"/>
            <a:r>
              <a:rPr lang="en-US" altLang="ja-JP" sz="1200" dirty="0"/>
              <a:t>1. </a:t>
            </a:r>
            <a:r>
              <a:rPr lang="ja-JP" altLang="en-US" sz="1200"/>
              <a:t>設定の読み込み</a:t>
            </a:r>
            <a:endParaRPr lang="en-US" altLang="ja-JP" sz="1200" dirty="0"/>
          </a:p>
          <a:p>
            <a:pPr algn="ctr"/>
            <a:endParaRPr kumimoji="1" lang="ja-JP" altLang="en-US" sz="1200"/>
          </a:p>
        </p:txBody>
      </p:sp>
      <p:sp>
        <p:nvSpPr>
          <p:cNvPr id="21" name="テキスト ボックス 20">
            <a:extLst>
              <a:ext uri="{FF2B5EF4-FFF2-40B4-BE49-F238E27FC236}">
                <a16:creationId xmlns:a16="http://schemas.microsoft.com/office/drawing/2014/main" id="{AAD674DE-4B08-0B20-AC35-44293F69D43C}"/>
              </a:ext>
            </a:extLst>
          </p:cNvPr>
          <p:cNvSpPr txBox="1"/>
          <p:nvPr/>
        </p:nvSpPr>
        <p:spPr>
          <a:xfrm>
            <a:off x="7983422" y="1172070"/>
            <a:ext cx="3966427" cy="923330"/>
          </a:xfrm>
          <a:prstGeom prst="rect">
            <a:avLst/>
          </a:prstGeom>
          <a:noFill/>
          <a:ln>
            <a:solidFill>
              <a:schemeClr val="bg1">
                <a:lumMod val="10000"/>
              </a:schemeClr>
            </a:solidFill>
          </a:ln>
        </p:spPr>
        <p:txBody>
          <a:bodyPr wrap="square" rtlCol="0">
            <a:spAutoFit/>
          </a:bodyPr>
          <a:lstStyle/>
          <a:p>
            <a:pPr algn="ctr"/>
            <a:r>
              <a:rPr lang="en" altLang="ja-JP" dirty="0"/>
              <a:t>graphrag/index/workflows/factory.py</a:t>
            </a:r>
          </a:p>
          <a:p>
            <a:pPr algn="ctr"/>
            <a:r>
              <a:rPr lang="en" altLang="ja-JP" b="1" dirty="0"/>
              <a:t>PipelineFactory</a:t>
            </a:r>
            <a:r>
              <a:rPr lang="ja-JP" altLang="en-US" b="1"/>
              <a:t>クラス</a:t>
            </a:r>
            <a:br>
              <a:rPr lang="en" altLang="ja-JP" dirty="0"/>
            </a:br>
            <a:r>
              <a:rPr lang="en" altLang="ja-JP" b="1" dirty="0"/>
              <a:t>create_pipeline</a:t>
            </a:r>
            <a:r>
              <a:rPr lang="ja-JP" altLang="en-US" b="1"/>
              <a:t>メソッド</a:t>
            </a:r>
            <a:endParaRPr kumimoji="1" lang="ja-JP" altLang="en-US" b="1"/>
          </a:p>
        </p:txBody>
      </p:sp>
      <p:sp>
        <p:nvSpPr>
          <p:cNvPr id="27" name="テキスト ボックス 26">
            <a:extLst>
              <a:ext uri="{FF2B5EF4-FFF2-40B4-BE49-F238E27FC236}">
                <a16:creationId xmlns:a16="http://schemas.microsoft.com/office/drawing/2014/main" id="{34F9856F-1437-8A74-3761-CE6004F70FFE}"/>
              </a:ext>
            </a:extLst>
          </p:cNvPr>
          <p:cNvSpPr txBox="1"/>
          <p:nvPr/>
        </p:nvSpPr>
        <p:spPr>
          <a:xfrm>
            <a:off x="9047589" y="2090979"/>
            <a:ext cx="1838089" cy="276999"/>
          </a:xfrm>
          <a:prstGeom prst="rect">
            <a:avLst/>
          </a:prstGeom>
          <a:noFill/>
          <a:ln>
            <a:noFill/>
          </a:ln>
        </p:spPr>
        <p:txBody>
          <a:bodyPr wrap="square" rtlCol="0">
            <a:spAutoFit/>
          </a:bodyPr>
          <a:lstStyle/>
          <a:p>
            <a:pPr algn="ctr"/>
            <a:r>
              <a:rPr lang="en-US" altLang="ja-JP" sz="1200" dirty="0"/>
              <a:t>2. </a:t>
            </a:r>
            <a:r>
              <a:rPr lang="ja-JP" altLang="en-US" sz="1200"/>
              <a:t>パイプライン構築</a:t>
            </a:r>
            <a:endParaRPr kumimoji="1" lang="ja-JP" altLang="en-US" sz="1200"/>
          </a:p>
        </p:txBody>
      </p:sp>
      <p:sp>
        <p:nvSpPr>
          <p:cNvPr id="28" name="テキスト ボックス 27">
            <a:extLst>
              <a:ext uri="{FF2B5EF4-FFF2-40B4-BE49-F238E27FC236}">
                <a16:creationId xmlns:a16="http://schemas.microsoft.com/office/drawing/2014/main" id="{1DDB0F2A-248D-0434-09CC-378AE924668B}"/>
              </a:ext>
            </a:extLst>
          </p:cNvPr>
          <p:cNvSpPr txBox="1"/>
          <p:nvPr/>
        </p:nvSpPr>
        <p:spPr>
          <a:xfrm>
            <a:off x="4499636" y="2172347"/>
            <a:ext cx="3966427" cy="923330"/>
          </a:xfrm>
          <a:prstGeom prst="rect">
            <a:avLst/>
          </a:prstGeom>
          <a:noFill/>
          <a:ln>
            <a:solidFill>
              <a:schemeClr val="bg1">
                <a:lumMod val="10000"/>
              </a:schemeClr>
            </a:solidFill>
          </a:ln>
        </p:spPr>
        <p:txBody>
          <a:bodyPr wrap="square" rtlCol="0">
            <a:spAutoFit/>
          </a:bodyPr>
          <a:lstStyle/>
          <a:p>
            <a:pPr algn="ctr"/>
            <a:r>
              <a:rPr lang="en" altLang="ja-JP" dirty="0"/>
              <a:t>graphrag/index/run/run_pipeline.py</a:t>
            </a:r>
            <a:br>
              <a:rPr lang="en" altLang="ja-JP" dirty="0"/>
            </a:br>
            <a:r>
              <a:rPr lang="en" altLang="ja-JP" b="1" dirty="0"/>
              <a:t>run_pipeline</a:t>
            </a:r>
            <a:endParaRPr lang="en-US" altLang="ja-JP" b="1" dirty="0"/>
          </a:p>
          <a:p>
            <a:pPr algn="ctr"/>
            <a:r>
              <a:rPr lang="en" altLang="ja-JP" b="1" dirty="0"/>
              <a:t>_run_pipeline</a:t>
            </a:r>
            <a:endParaRPr kumimoji="1" lang="ja-JP" altLang="en-US" b="1"/>
          </a:p>
        </p:txBody>
      </p:sp>
      <p:cxnSp>
        <p:nvCxnSpPr>
          <p:cNvPr id="29" name="直線矢印コネクタ 28">
            <a:extLst>
              <a:ext uri="{FF2B5EF4-FFF2-40B4-BE49-F238E27FC236}">
                <a16:creationId xmlns:a16="http://schemas.microsoft.com/office/drawing/2014/main" id="{ABA820BD-3F8D-BC65-C335-DA80783FE9E2}"/>
              </a:ext>
            </a:extLst>
          </p:cNvPr>
          <p:cNvCxnSpPr>
            <a:cxnSpLocks/>
            <a:stCxn id="11" idx="2"/>
            <a:endCxn id="28" idx="0"/>
          </p:cNvCxnSpPr>
          <p:nvPr/>
        </p:nvCxnSpPr>
        <p:spPr>
          <a:xfrm>
            <a:off x="6482850" y="1956903"/>
            <a:ext cx="0" cy="215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C20C85F5-1E1A-C028-14E6-88E41E4E514E}"/>
              </a:ext>
            </a:extLst>
          </p:cNvPr>
          <p:cNvSpPr txBox="1"/>
          <p:nvPr/>
        </p:nvSpPr>
        <p:spPr>
          <a:xfrm>
            <a:off x="4426800" y="3108716"/>
            <a:ext cx="4112098" cy="276999"/>
          </a:xfrm>
          <a:prstGeom prst="rect">
            <a:avLst/>
          </a:prstGeom>
          <a:noFill/>
          <a:ln>
            <a:noFill/>
          </a:ln>
        </p:spPr>
        <p:txBody>
          <a:bodyPr wrap="square" rtlCol="0">
            <a:spAutoFit/>
          </a:bodyPr>
          <a:lstStyle/>
          <a:p>
            <a:pPr algn="ctr"/>
            <a:r>
              <a:rPr lang="en-US" altLang="ja-JP" sz="1200" dirty="0"/>
              <a:t>3. </a:t>
            </a:r>
            <a:r>
              <a:rPr lang="ja-JP" altLang="en-US" sz="1200"/>
              <a:t>パイプライン実行</a:t>
            </a:r>
            <a:r>
              <a:rPr lang="en-US" altLang="ja-JP" sz="1200" dirty="0"/>
              <a:t> </a:t>
            </a:r>
            <a:r>
              <a:rPr kumimoji="1" lang="ja-JP" altLang="en-US" sz="1200"/>
              <a:t>各ワークフローを順番に取り出し</a:t>
            </a:r>
          </a:p>
        </p:txBody>
      </p:sp>
      <p:cxnSp>
        <p:nvCxnSpPr>
          <p:cNvPr id="48" name="直線矢印コネクタ 47">
            <a:extLst>
              <a:ext uri="{FF2B5EF4-FFF2-40B4-BE49-F238E27FC236}">
                <a16:creationId xmlns:a16="http://schemas.microsoft.com/office/drawing/2014/main" id="{F9E0D95C-46EB-84B4-08C4-0F23F818D4A4}"/>
              </a:ext>
            </a:extLst>
          </p:cNvPr>
          <p:cNvCxnSpPr>
            <a:cxnSpLocks/>
            <a:stCxn id="11" idx="3"/>
            <a:endCxn id="21" idx="1"/>
          </p:cNvCxnSpPr>
          <p:nvPr/>
        </p:nvCxnSpPr>
        <p:spPr>
          <a:xfrm flipV="1">
            <a:off x="7711989" y="1633735"/>
            <a:ext cx="27143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E8FC729D-8CB9-ABFF-7292-69D844A4C200}"/>
              </a:ext>
            </a:extLst>
          </p:cNvPr>
          <p:cNvSpPr txBox="1"/>
          <p:nvPr/>
        </p:nvSpPr>
        <p:spPr>
          <a:xfrm>
            <a:off x="210574" y="3762324"/>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/load_input_documents</a:t>
            </a:r>
            <a:br>
              <a:rPr lang="en" altLang="ja-JP" sz="1400" dirty="0"/>
            </a:br>
            <a:r>
              <a:rPr lang="en" altLang="ja-JP" sz="1400" b="1" dirty="0"/>
              <a:t>run_workflow</a:t>
            </a:r>
            <a:endParaRPr lang="en-US" altLang="ja-JP" sz="1400" b="1" dirty="0"/>
          </a:p>
          <a:p>
            <a:pPr algn="ctr"/>
            <a:r>
              <a:rPr kumimoji="1" lang="en" altLang="ja-JP" sz="1400" b="1" dirty="0"/>
              <a:t>load_input_documents</a:t>
            </a:r>
            <a:endParaRPr kumimoji="1" lang="ja-JP" altLang="en-US" sz="1400" b="1"/>
          </a:p>
        </p:txBody>
      </p:sp>
      <p:sp>
        <p:nvSpPr>
          <p:cNvPr id="53" name="テキスト ボックス 52">
            <a:extLst>
              <a:ext uri="{FF2B5EF4-FFF2-40B4-BE49-F238E27FC236}">
                <a16:creationId xmlns:a16="http://schemas.microsoft.com/office/drawing/2014/main" id="{3D766BEC-2AD2-D544-308B-48544E7200FF}"/>
              </a:ext>
            </a:extLst>
          </p:cNvPr>
          <p:cNvSpPr txBox="1"/>
          <p:nvPr/>
        </p:nvSpPr>
        <p:spPr>
          <a:xfrm>
            <a:off x="339352" y="4716431"/>
            <a:ext cx="2006261" cy="276999"/>
          </a:xfrm>
          <a:prstGeom prst="rect">
            <a:avLst/>
          </a:prstGeom>
          <a:noFill/>
          <a:ln>
            <a:noFill/>
          </a:ln>
        </p:spPr>
        <p:txBody>
          <a:bodyPr wrap="square" rtlCol="0">
            <a:spAutoFit/>
          </a:bodyPr>
          <a:lstStyle/>
          <a:p>
            <a:pPr algn="ctr"/>
            <a:r>
              <a:rPr lang="en-US" altLang="ja-JP" sz="1200" dirty="0"/>
              <a:t>4</a:t>
            </a:r>
            <a:r>
              <a:rPr kumimoji="1" lang="en-US" altLang="ja-JP" sz="1200" dirty="0"/>
              <a:t>.1 </a:t>
            </a:r>
            <a:r>
              <a:rPr kumimoji="1" lang="ja-JP" altLang="en-US" sz="1200"/>
              <a:t>ドキュメント読み込み</a:t>
            </a:r>
          </a:p>
        </p:txBody>
      </p:sp>
      <p:sp>
        <p:nvSpPr>
          <p:cNvPr id="54" name="テキスト ボックス 53">
            <a:extLst>
              <a:ext uri="{FF2B5EF4-FFF2-40B4-BE49-F238E27FC236}">
                <a16:creationId xmlns:a16="http://schemas.microsoft.com/office/drawing/2014/main" id="{9004DB00-F0F8-4EDD-E15D-D4A06B1E9CC3}"/>
              </a:ext>
            </a:extLst>
          </p:cNvPr>
          <p:cNvSpPr txBox="1"/>
          <p:nvPr/>
        </p:nvSpPr>
        <p:spPr>
          <a:xfrm>
            <a:off x="2571494" y="3762324"/>
            <a:ext cx="2263818" cy="954107"/>
          </a:xfrm>
          <a:prstGeom prst="rect">
            <a:avLst/>
          </a:prstGeom>
          <a:noFill/>
          <a:ln>
            <a:solidFill>
              <a:schemeClr val="bg1">
                <a:lumMod val="10000"/>
              </a:schemeClr>
            </a:solidFill>
          </a:ln>
        </p:spPr>
        <p:txBody>
          <a:bodyPr wrap="square" rtlCol="0">
            <a:spAutoFit/>
          </a:bodyPr>
          <a:lstStyle/>
          <a:p>
            <a:pPr algn="ctr"/>
            <a:r>
              <a:rPr lang="en" altLang="ja-JP" sz="1400" dirty="0">
                <a:solidFill>
                  <a:srgbClr val="C00000"/>
                </a:solidFill>
              </a:rPr>
              <a:t>graphrag/index/workflows</a:t>
            </a:r>
          </a:p>
          <a:p>
            <a:pPr algn="ctr"/>
            <a:r>
              <a:rPr lang="en" altLang="ja-JP" sz="1400" dirty="0">
                <a:solidFill>
                  <a:srgbClr val="C00000"/>
                </a:solidFill>
              </a:rPr>
              <a:t>/create_doc_text_units</a:t>
            </a:r>
            <a:br>
              <a:rPr lang="en" altLang="ja-JP" sz="1400" dirty="0">
                <a:solidFill>
                  <a:srgbClr val="C00000"/>
                </a:solidFill>
              </a:rPr>
            </a:br>
            <a:r>
              <a:rPr lang="en" altLang="ja-JP" sz="1400" b="1" dirty="0">
                <a:solidFill>
                  <a:srgbClr val="C00000"/>
                </a:solidFill>
              </a:rPr>
              <a:t>run_workflow</a:t>
            </a:r>
            <a:endParaRPr lang="en-US" altLang="ja-JP" sz="1400" b="1" dirty="0">
              <a:solidFill>
                <a:srgbClr val="C00000"/>
              </a:solidFill>
            </a:endParaRPr>
          </a:p>
          <a:p>
            <a:pPr algn="ctr"/>
            <a:r>
              <a:rPr kumimoji="1" lang="en" altLang="ja-JP" sz="1400" b="1" dirty="0">
                <a:solidFill>
                  <a:srgbClr val="C00000"/>
                </a:solidFill>
              </a:rPr>
              <a:t>create_doc_text_units</a:t>
            </a:r>
            <a:endParaRPr kumimoji="1" lang="ja-JP" altLang="en-US" sz="1400" b="1">
              <a:solidFill>
                <a:srgbClr val="C00000"/>
              </a:solidFill>
            </a:endParaRPr>
          </a:p>
        </p:txBody>
      </p:sp>
      <p:sp>
        <p:nvSpPr>
          <p:cNvPr id="55" name="テキスト ボックス 54">
            <a:extLst>
              <a:ext uri="{FF2B5EF4-FFF2-40B4-BE49-F238E27FC236}">
                <a16:creationId xmlns:a16="http://schemas.microsoft.com/office/drawing/2014/main" id="{1456F7D1-A1DC-2A3C-CEED-67F64F0B1A54}"/>
              </a:ext>
            </a:extLst>
          </p:cNvPr>
          <p:cNvSpPr txBox="1"/>
          <p:nvPr/>
        </p:nvSpPr>
        <p:spPr>
          <a:xfrm>
            <a:off x="2794271" y="4716431"/>
            <a:ext cx="1818263" cy="276999"/>
          </a:xfrm>
          <a:prstGeom prst="rect">
            <a:avLst/>
          </a:prstGeom>
          <a:noFill/>
          <a:ln>
            <a:noFill/>
          </a:ln>
        </p:spPr>
        <p:txBody>
          <a:bodyPr wrap="square" rtlCol="0">
            <a:spAutoFit/>
          </a:bodyPr>
          <a:lstStyle/>
          <a:p>
            <a:pPr algn="ctr"/>
            <a:r>
              <a:rPr lang="en-US" altLang="ja-JP" sz="1200" dirty="0"/>
              <a:t>4</a:t>
            </a:r>
            <a:r>
              <a:rPr kumimoji="1" lang="en-US" altLang="ja-JP" sz="1200" dirty="0"/>
              <a:t>.2 </a:t>
            </a:r>
            <a:r>
              <a:rPr kumimoji="1" lang="ja-JP" altLang="en-US" sz="1200"/>
              <a:t>チャンク分割</a:t>
            </a:r>
          </a:p>
        </p:txBody>
      </p:sp>
      <p:sp>
        <p:nvSpPr>
          <p:cNvPr id="56" name="テキスト ボックス 55">
            <a:extLst>
              <a:ext uri="{FF2B5EF4-FFF2-40B4-BE49-F238E27FC236}">
                <a16:creationId xmlns:a16="http://schemas.microsoft.com/office/drawing/2014/main" id="{61EF7FD1-B337-4B21-6E78-A732BE56EAB5}"/>
              </a:ext>
            </a:extLst>
          </p:cNvPr>
          <p:cNvSpPr txBox="1"/>
          <p:nvPr/>
        </p:nvSpPr>
        <p:spPr>
          <a:xfrm>
            <a:off x="4964091" y="3762323"/>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/create_final_documents</a:t>
            </a:r>
            <a:br>
              <a:rPr lang="en" altLang="ja-JP" sz="1400" dirty="0"/>
            </a:br>
            <a:r>
              <a:rPr lang="en" altLang="ja-JP" sz="1400" b="1" dirty="0"/>
              <a:t>run_workflow</a:t>
            </a:r>
            <a:endParaRPr lang="en-US" altLang="ja-JP" sz="1400" b="1" dirty="0"/>
          </a:p>
          <a:p>
            <a:pPr algn="ctr"/>
            <a:r>
              <a:rPr kumimoji="1" lang="en" altLang="ja-JP" sz="1400" b="1" dirty="0"/>
              <a:t>create_final_documents</a:t>
            </a:r>
            <a:endParaRPr kumimoji="1" lang="ja-JP" altLang="en-US" sz="1400" b="1"/>
          </a:p>
        </p:txBody>
      </p:sp>
      <p:sp>
        <p:nvSpPr>
          <p:cNvPr id="57" name="テキスト ボックス 56">
            <a:extLst>
              <a:ext uri="{FF2B5EF4-FFF2-40B4-BE49-F238E27FC236}">
                <a16:creationId xmlns:a16="http://schemas.microsoft.com/office/drawing/2014/main" id="{E7EEA4FF-421E-E2BA-985C-50836F86A431}"/>
              </a:ext>
            </a:extLst>
          </p:cNvPr>
          <p:cNvSpPr txBox="1"/>
          <p:nvPr/>
        </p:nvSpPr>
        <p:spPr>
          <a:xfrm>
            <a:off x="5216877" y="4716431"/>
            <a:ext cx="1758245" cy="276999"/>
          </a:xfrm>
          <a:prstGeom prst="rect">
            <a:avLst/>
          </a:prstGeom>
          <a:noFill/>
          <a:ln>
            <a:noFill/>
          </a:ln>
        </p:spPr>
        <p:txBody>
          <a:bodyPr wrap="square" rtlCol="0">
            <a:spAutoFit/>
          </a:bodyPr>
          <a:lstStyle/>
          <a:p>
            <a:pPr algn="ctr"/>
            <a:r>
              <a:rPr lang="en-US" altLang="ja-JP" sz="1200" dirty="0"/>
              <a:t>4</a:t>
            </a:r>
            <a:r>
              <a:rPr kumimoji="1" lang="en-US" altLang="ja-JP" sz="1200" dirty="0"/>
              <a:t>.3 </a:t>
            </a:r>
            <a:r>
              <a:rPr kumimoji="1" lang="ja-JP" altLang="en-US" sz="1200"/>
              <a:t>情報の結合・整理</a:t>
            </a:r>
          </a:p>
        </p:txBody>
      </p:sp>
      <p:sp>
        <p:nvSpPr>
          <p:cNvPr id="60" name="テキスト ボックス 59">
            <a:extLst>
              <a:ext uri="{FF2B5EF4-FFF2-40B4-BE49-F238E27FC236}">
                <a16:creationId xmlns:a16="http://schemas.microsoft.com/office/drawing/2014/main" id="{19624078-E95C-7D56-025C-275855AC2807}"/>
              </a:ext>
            </a:extLst>
          </p:cNvPr>
          <p:cNvSpPr txBox="1"/>
          <p:nvPr/>
        </p:nvSpPr>
        <p:spPr>
          <a:xfrm>
            <a:off x="7356687" y="3750364"/>
            <a:ext cx="2263818" cy="954107"/>
          </a:xfrm>
          <a:prstGeom prst="rect">
            <a:avLst/>
          </a:prstGeom>
          <a:noFill/>
          <a:ln>
            <a:solidFill>
              <a:schemeClr val="bg1">
                <a:lumMod val="10000"/>
              </a:schemeClr>
            </a:solidFill>
          </a:ln>
        </p:spPr>
        <p:txBody>
          <a:bodyPr wrap="square" rtlCol="0">
            <a:spAutoFit/>
          </a:bodyPr>
          <a:lstStyle/>
          <a:p>
            <a:pPr algn="ctr"/>
            <a:r>
              <a:rPr lang="en" altLang="ja-JP" sz="1400" dirty="0">
                <a:solidFill>
                  <a:srgbClr val="C00000"/>
                </a:solidFill>
              </a:rPr>
              <a:t>graphrag/index/workflows</a:t>
            </a:r>
          </a:p>
          <a:p>
            <a:pPr algn="ctr"/>
            <a:r>
              <a:rPr lang="en" altLang="ja-JP" sz="1400" dirty="0">
                <a:solidFill>
                  <a:srgbClr val="C00000"/>
                </a:solidFill>
              </a:rPr>
              <a:t>/tfidf_extract_graph</a:t>
            </a:r>
            <a:br>
              <a:rPr lang="en" altLang="ja-JP" sz="1400" dirty="0">
                <a:solidFill>
                  <a:srgbClr val="C00000"/>
                </a:solidFill>
              </a:rPr>
            </a:br>
            <a:r>
              <a:rPr lang="en" altLang="ja-JP" sz="1400" b="1" dirty="0">
                <a:solidFill>
                  <a:srgbClr val="C00000"/>
                </a:solidFill>
              </a:rPr>
              <a:t>run_workflow</a:t>
            </a:r>
            <a:endParaRPr lang="en-US" altLang="ja-JP" sz="1400" b="1" dirty="0">
              <a:solidFill>
                <a:srgbClr val="C00000"/>
              </a:solidFill>
            </a:endParaRPr>
          </a:p>
          <a:p>
            <a:pPr algn="ctr"/>
            <a:r>
              <a:rPr kumimoji="1" lang="en" altLang="ja-JP" sz="1400" b="1" dirty="0">
                <a:solidFill>
                  <a:srgbClr val="C00000"/>
                </a:solidFill>
              </a:rPr>
              <a:t>tfidf_extract_graph</a:t>
            </a:r>
            <a:endParaRPr kumimoji="1" lang="ja-JP" altLang="en-US" sz="1400" b="1">
              <a:solidFill>
                <a:srgbClr val="C00000"/>
              </a:solidFill>
            </a:endParaRPr>
          </a:p>
        </p:txBody>
      </p:sp>
      <p:sp>
        <p:nvSpPr>
          <p:cNvPr id="61" name="テキスト ボックス 60">
            <a:extLst>
              <a:ext uri="{FF2B5EF4-FFF2-40B4-BE49-F238E27FC236}">
                <a16:creationId xmlns:a16="http://schemas.microsoft.com/office/drawing/2014/main" id="{63882193-B3B4-378B-0C2B-9CDAF196BEA9}"/>
              </a:ext>
            </a:extLst>
          </p:cNvPr>
          <p:cNvSpPr txBox="1"/>
          <p:nvPr/>
        </p:nvSpPr>
        <p:spPr>
          <a:xfrm>
            <a:off x="7354956" y="4692512"/>
            <a:ext cx="2267279" cy="276999"/>
          </a:xfrm>
          <a:prstGeom prst="rect">
            <a:avLst/>
          </a:prstGeom>
          <a:noFill/>
          <a:ln>
            <a:noFill/>
          </a:ln>
        </p:spPr>
        <p:txBody>
          <a:bodyPr wrap="square" rtlCol="0">
            <a:spAutoFit/>
          </a:bodyPr>
          <a:lstStyle/>
          <a:p>
            <a:pPr algn="ctr"/>
            <a:r>
              <a:rPr lang="en-US" altLang="ja-JP" sz="1200" dirty="0"/>
              <a:t>4</a:t>
            </a:r>
            <a:r>
              <a:rPr kumimoji="1" lang="en-US" altLang="ja-JP" sz="1200" dirty="0"/>
              <a:t>.4</a:t>
            </a:r>
            <a:r>
              <a:rPr lang="en-US" altLang="ja-JP" sz="1200" dirty="0"/>
              <a:t> </a:t>
            </a:r>
            <a:r>
              <a:rPr kumimoji="1" lang="ja-JP" altLang="en-US" sz="1200"/>
              <a:t>エンティティ</a:t>
            </a:r>
            <a:r>
              <a:rPr kumimoji="1" lang="en-US" altLang="ja-JP" sz="1200" dirty="0"/>
              <a:t> </a:t>
            </a:r>
            <a:r>
              <a:rPr lang="en-US" altLang="ja-JP" sz="1200" dirty="0"/>
              <a:t>/ </a:t>
            </a:r>
            <a:r>
              <a:rPr kumimoji="1" lang="ja-JP" altLang="en-US" sz="1200"/>
              <a:t>関係抽出</a:t>
            </a:r>
          </a:p>
        </p:txBody>
      </p:sp>
      <p:sp>
        <p:nvSpPr>
          <p:cNvPr id="62" name="テキスト ボックス 61">
            <a:extLst>
              <a:ext uri="{FF2B5EF4-FFF2-40B4-BE49-F238E27FC236}">
                <a16:creationId xmlns:a16="http://schemas.microsoft.com/office/drawing/2014/main" id="{34533899-629A-F036-F59C-47DC6AC53EAC}"/>
              </a:ext>
            </a:extLst>
          </p:cNvPr>
          <p:cNvSpPr txBox="1"/>
          <p:nvPr/>
        </p:nvSpPr>
        <p:spPr>
          <a:xfrm>
            <a:off x="9749282" y="3738405"/>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/finalize_graph</a:t>
            </a:r>
            <a:br>
              <a:rPr lang="en" altLang="ja-JP" sz="1400" dirty="0"/>
            </a:br>
            <a:r>
              <a:rPr lang="en" altLang="ja-JP" sz="1400" b="1" dirty="0"/>
              <a:t>run_workflow</a:t>
            </a:r>
            <a:endParaRPr lang="en-US" altLang="ja-JP" sz="1400" b="1" dirty="0"/>
          </a:p>
          <a:p>
            <a:pPr algn="ctr"/>
            <a:r>
              <a:rPr kumimoji="1" lang="en" altLang="ja-JP" sz="1400" b="1" dirty="0"/>
              <a:t>finalize_graph</a:t>
            </a:r>
            <a:endParaRPr kumimoji="1" lang="ja-JP" altLang="en-US" sz="1400" b="1"/>
          </a:p>
        </p:txBody>
      </p:sp>
      <p:sp>
        <p:nvSpPr>
          <p:cNvPr id="63" name="テキスト ボックス 62">
            <a:extLst>
              <a:ext uri="{FF2B5EF4-FFF2-40B4-BE49-F238E27FC236}">
                <a16:creationId xmlns:a16="http://schemas.microsoft.com/office/drawing/2014/main" id="{8D8C88FA-6110-EF42-72C7-05E6965BE3CE}"/>
              </a:ext>
            </a:extLst>
          </p:cNvPr>
          <p:cNvSpPr txBox="1"/>
          <p:nvPr/>
        </p:nvSpPr>
        <p:spPr>
          <a:xfrm>
            <a:off x="9855862" y="4646732"/>
            <a:ext cx="2047198" cy="461665"/>
          </a:xfrm>
          <a:prstGeom prst="rect">
            <a:avLst/>
          </a:prstGeom>
          <a:noFill/>
          <a:ln>
            <a:noFill/>
          </a:ln>
        </p:spPr>
        <p:txBody>
          <a:bodyPr wrap="square" rtlCol="0">
            <a:spAutoFit/>
          </a:bodyPr>
          <a:lstStyle/>
          <a:p>
            <a:pPr algn="ctr"/>
            <a:r>
              <a:rPr lang="en-US" altLang="ja-JP" sz="1200" dirty="0"/>
              <a:t>4</a:t>
            </a:r>
            <a:r>
              <a:rPr kumimoji="1" lang="en-US" altLang="ja-JP" sz="1200" dirty="0"/>
              <a:t>.5</a:t>
            </a:r>
            <a:r>
              <a:rPr lang="en-US" altLang="ja-JP" sz="1200" dirty="0"/>
              <a:t> </a:t>
            </a:r>
            <a:r>
              <a:rPr kumimoji="1" lang="ja-JP" altLang="en-US" sz="1200"/>
              <a:t>エンティティ</a:t>
            </a:r>
            <a:r>
              <a:rPr kumimoji="1" lang="en-US" altLang="ja-JP" sz="1200" dirty="0"/>
              <a:t> </a:t>
            </a:r>
            <a:r>
              <a:rPr lang="en-US" altLang="ja-JP" sz="1200" dirty="0"/>
              <a:t>/ </a:t>
            </a:r>
            <a:r>
              <a:rPr kumimoji="1" lang="ja-JP" altLang="en-US" sz="1200"/>
              <a:t>関係の</a:t>
            </a:r>
            <a:endParaRPr kumimoji="1" lang="en-US" altLang="ja-JP" sz="1200" dirty="0"/>
          </a:p>
          <a:p>
            <a:pPr algn="ctr"/>
            <a:r>
              <a:rPr kumimoji="1" lang="ja-JP" altLang="en-US" sz="1200"/>
              <a:t>整理</a:t>
            </a:r>
            <a:r>
              <a:rPr lang="ja-JP" altLang="en-US" sz="1200"/>
              <a:t>・正規化</a:t>
            </a:r>
            <a:endParaRPr kumimoji="1" lang="ja-JP" altLang="en-US" sz="1200"/>
          </a:p>
        </p:txBody>
      </p:sp>
      <p:sp>
        <p:nvSpPr>
          <p:cNvPr id="64" name="テキスト ボックス 63">
            <a:extLst>
              <a:ext uri="{FF2B5EF4-FFF2-40B4-BE49-F238E27FC236}">
                <a16:creationId xmlns:a16="http://schemas.microsoft.com/office/drawing/2014/main" id="{8305DB78-22CB-DA1D-78C3-3D20CE7438E3}"/>
              </a:ext>
            </a:extLst>
          </p:cNvPr>
          <p:cNvSpPr txBox="1"/>
          <p:nvPr/>
        </p:nvSpPr>
        <p:spPr>
          <a:xfrm>
            <a:off x="208845" y="5085768"/>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/extract_covariates</a:t>
            </a:r>
            <a:br>
              <a:rPr lang="en" altLang="ja-JP" sz="1400" dirty="0"/>
            </a:br>
            <a:r>
              <a:rPr lang="en" altLang="ja-JP" sz="1400" b="1" dirty="0"/>
              <a:t>run_workflow</a:t>
            </a:r>
            <a:endParaRPr lang="en-US" altLang="ja-JP" sz="1400" b="1" dirty="0"/>
          </a:p>
          <a:p>
            <a:pPr algn="ctr"/>
            <a:r>
              <a:rPr kumimoji="1" lang="en" altLang="ja-JP" sz="1400" b="1" dirty="0"/>
              <a:t>extract_covariates</a:t>
            </a:r>
            <a:endParaRPr kumimoji="1" lang="ja-JP" altLang="en-US" sz="1400" b="1"/>
          </a:p>
        </p:txBody>
      </p:sp>
      <p:sp>
        <p:nvSpPr>
          <p:cNvPr id="65" name="テキスト ボックス 64">
            <a:extLst>
              <a:ext uri="{FF2B5EF4-FFF2-40B4-BE49-F238E27FC236}">
                <a16:creationId xmlns:a16="http://schemas.microsoft.com/office/drawing/2014/main" id="{682A5626-4AF9-94F7-D454-5EE11A4C1AD3}"/>
              </a:ext>
            </a:extLst>
          </p:cNvPr>
          <p:cNvSpPr txBox="1"/>
          <p:nvPr/>
        </p:nvSpPr>
        <p:spPr>
          <a:xfrm>
            <a:off x="94851" y="6039875"/>
            <a:ext cx="2486597" cy="276999"/>
          </a:xfrm>
          <a:prstGeom prst="rect">
            <a:avLst/>
          </a:prstGeom>
          <a:noFill/>
          <a:ln>
            <a:noFill/>
          </a:ln>
        </p:spPr>
        <p:txBody>
          <a:bodyPr wrap="square" rtlCol="0">
            <a:spAutoFit/>
          </a:bodyPr>
          <a:lstStyle/>
          <a:p>
            <a:pPr algn="ctr"/>
            <a:r>
              <a:rPr lang="en-US" altLang="ja-JP" sz="1200" dirty="0"/>
              <a:t>4</a:t>
            </a:r>
            <a:r>
              <a:rPr kumimoji="1" lang="en-US" altLang="ja-JP" sz="1200" dirty="0"/>
              <a:t>.6 </a:t>
            </a:r>
            <a:r>
              <a:rPr lang="en-US" altLang="ja-JP" sz="1200" dirty="0"/>
              <a:t>claim (</a:t>
            </a:r>
            <a:r>
              <a:rPr lang="ja-JP" altLang="en-US" sz="1200"/>
              <a:t>主張・事実・疑惑</a:t>
            </a:r>
            <a:r>
              <a:rPr lang="en-US" altLang="ja-JP" sz="1200" dirty="0"/>
              <a:t>) </a:t>
            </a:r>
            <a:r>
              <a:rPr kumimoji="1" lang="ja-JP" altLang="en-US" sz="1200"/>
              <a:t>抽出</a:t>
            </a:r>
            <a:endParaRPr kumimoji="1" lang="en-US" altLang="ja-JP" sz="1200" dirty="0"/>
          </a:p>
        </p:txBody>
      </p:sp>
      <p:sp>
        <p:nvSpPr>
          <p:cNvPr id="66" name="テキスト ボックス 65">
            <a:extLst>
              <a:ext uri="{FF2B5EF4-FFF2-40B4-BE49-F238E27FC236}">
                <a16:creationId xmlns:a16="http://schemas.microsoft.com/office/drawing/2014/main" id="{09710325-0EA6-A547-2586-022688CF5EF8}"/>
              </a:ext>
            </a:extLst>
          </p:cNvPr>
          <p:cNvSpPr txBox="1"/>
          <p:nvPr/>
        </p:nvSpPr>
        <p:spPr>
          <a:xfrm>
            <a:off x="2569765" y="5085768"/>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/create_communities</a:t>
            </a:r>
            <a:br>
              <a:rPr lang="en" altLang="ja-JP" sz="1400" dirty="0"/>
            </a:br>
            <a:r>
              <a:rPr lang="en" altLang="ja-JP" sz="1400" b="1" dirty="0"/>
              <a:t>run_workflow</a:t>
            </a:r>
            <a:endParaRPr lang="en-US" altLang="ja-JP" sz="1400" b="1" dirty="0"/>
          </a:p>
          <a:p>
            <a:pPr algn="ctr"/>
            <a:r>
              <a:rPr kumimoji="1" lang="en" altLang="ja-JP" sz="1400" b="1" dirty="0"/>
              <a:t>create_communities</a:t>
            </a:r>
            <a:endParaRPr kumimoji="1" lang="ja-JP" altLang="en-US" sz="1400" b="1"/>
          </a:p>
        </p:txBody>
      </p:sp>
      <p:sp>
        <p:nvSpPr>
          <p:cNvPr id="67" name="テキスト ボックス 66">
            <a:extLst>
              <a:ext uri="{FF2B5EF4-FFF2-40B4-BE49-F238E27FC236}">
                <a16:creationId xmlns:a16="http://schemas.microsoft.com/office/drawing/2014/main" id="{178ABF9F-8997-470F-4185-0A81EF08C413}"/>
              </a:ext>
            </a:extLst>
          </p:cNvPr>
          <p:cNvSpPr txBox="1"/>
          <p:nvPr/>
        </p:nvSpPr>
        <p:spPr>
          <a:xfrm>
            <a:off x="2792542" y="6039875"/>
            <a:ext cx="1818263" cy="461665"/>
          </a:xfrm>
          <a:prstGeom prst="rect">
            <a:avLst/>
          </a:prstGeom>
          <a:noFill/>
          <a:ln>
            <a:noFill/>
          </a:ln>
        </p:spPr>
        <p:txBody>
          <a:bodyPr wrap="square" rtlCol="0">
            <a:spAutoFit/>
          </a:bodyPr>
          <a:lstStyle/>
          <a:p>
            <a:pPr algn="ctr"/>
            <a:r>
              <a:rPr lang="en-US" altLang="ja-JP" sz="1200" dirty="0"/>
              <a:t>4.7 </a:t>
            </a:r>
            <a:r>
              <a:rPr lang="ja-JP" altLang="en-US" sz="1200"/>
              <a:t>クラスタリング・</a:t>
            </a:r>
            <a:endParaRPr lang="en-US" altLang="ja-JP" sz="1200" dirty="0"/>
          </a:p>
          <a:p>
            <a:pPr algn="ctr"/>
            <a:r>
              <a:rPr lang="ja-JP" altLang="en-US" sz="1200"/>
              <a:t>コミュニティ検出</a:t>
            </a:r>
            <a:endParaRPr kumimoji="1" lang="ja-JP" altLang="en-US" sz="1200"/>
          </a:p>
        </p:txBody>
      </p:sp>
      <p:sp>
        <p:nvSpPr>
          <p:cNvPr id="68" name="テキスト ボックス 67">
            <a:extLst>
              <a:ext uri="{FF2B5EF4-FFF2-40B4-BE49-F238E27FC236}">
                <a16:creationId xmlns:a16="http://schemas.microsoft.com/office/drawing/2014/main" id="{E578E538-2BE1-5378-E017-EF01C4FCAFAB}"/>
              </a:ext>
            </a:extLst>
          </p:cNvPr>
          <p:cNvSpPr txBox="1"/>
          <p:nvPr/>
        </p:nvSpPr>
        <p:spPr>
          <a:xfrm>
            <a:off x="4962362" y="5085767"/>
            <a:ext cx="2263818" cy="954107"/>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400" dirty="0"/>
              <a:t>/create_final_text_units</a:t>
            </a:r>
            <a:br>
              <a:rPr lang="en" altLang="ja-JP" sz="1400" dirty="0"/>
            </a:br>
            <a:r>
              <a:rPr lang="en" altLang="ja-JP" sz="1400" b="1" dirty="0"/>
              <a:t>run_workflow</a:t>
            </a:r>
            <a:endParaRPr lang="en-US" altLang="ja-JP" sz="1400" b="1" dirty="0"/>
          </a:p>
          <a:p>
            <a:pPr algn="ctr"/>
            <a:r>
              <a:rPr kumimoji="1" lang="en" altLang="ja-JP" sz="1400" b="1" dirty="0"/>
              <a:t>create_final_text_units</a:t>
            </a:r>
            <a:endParaRPr kumimoji="1" lang="ja-JP" altLang="en-US" sz="1400" b="1"/>
          </a:p>
        </p:txBody>
      </p:sp>
      <p:sp>
        <p:nvSpPr>
          <p:cNvPr id="69" name="テキスト ボックス 68">
            <a:extLst>
              <a:ext uri="{FF2B5EF4-FFF2-40B4-BE49-F238E27FC236}">
                <a16:creationId xmlns:a16="http://schemas.microsoft.com/office/drawing/2014/main" id="{CE63A0B9-DD25-6679-2CBE-9149176553F8}"/>
              </a:ext>
            </a:extLst>
          </p:cNvPr>
          <p:cNvSpPr txBox="1"/>
          <p:nvPr/>
        </p:nvSpPr>
        <p:spPr>
          <a:xfrm>
            <a:off x="4962362" y="6039875"/>
            <a:ext cx="2263818" cy="276999"/>
          </a:xfrm>
          <a:prstGeom prst="rect">
            <a:avLst/>
          </a:prstGeom>
          <a:noFill/>
          <a:ln>
            <a:noFill/>
          </a:ln>
        </p:spPr>
        <p:txBody>
          <a:bodyPr wrap="square" rtlCol="0">
            <a:spAutoFit/>
          </a:bodyPr>
          <a:lstStyle/>
          <a:p>
            <a:pPr algn="ctr"/>
            <a:r>
              <a:rPr lang="en-US" altLang="ja-JP" sz="1200" dirty="0"/>
              <a:t>4</a:t>
            </a:r>
            <a:r>
              <a:rPr kumimoji="1" lang="en-US" altLang="ja-JP" sz="1200" dirty="0"/>
              <a:t>.8 </a:t>
            </a:r>
            <a:r>
              <a:rPr kumimoji="1" lang="ja-JP" altLang="en-US" sz="1200"/>
              <a:t>最終テーブル生成</a:t>
            </a:r>
            <a:r>
              <a:rPr kumimoji="1" lang="en-US" altLang="ja-JP" sz="1200" dirty="0"/>
              <a:t> (</a:t>
            </a:r>
            <a:r>
              <a:rPr kumimoji="1" lang="ja-JP" altLang="en-US" sz="1200"/>
              <a:t>整形</a:t>
            </a:r>
            <a:r>
              <a:rPr kumimoji="1" lang="en-US" altLang="ja-JP" sz="1200" dirty="0"/>
              <a:t>)</a:t>
            </a:r>
            <a:endParaRPr kumimoji="1" lang="ja-JP" altLang="en-US" sz="1200"/>
          </a:p>
        </p:txBody>
      </p:sp>
      <p:sp>
        <p:nvSpPr>
          <p:cNvPr id="70" name="テキスト ボックス 69">
            <a:extLst>
              <a:ext uri="{FF2B5EF4-FFF2-40B4-BE49-F238E27FC236}">
                <a16:creationId xmlns:a16="http://schemas.microsoft.com/office/drawing/2014/main" id="{88DB0823-0F5A-0FA8-57C2-8736DAF2226E}"/>
              </a:ext>
            </a:extLst>
          </p:cNvPr>
          <p:cNvSpPr txBox="1"/>
          <p:nvPr/>
        </p:nvSpPr>
        <p:spPr>
          <a:xfrm>
            <a:off x="7354958" y="5073808"/>
            <a:ext cx="2263818" cy="907941"/>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300" dirty="0"/>
              <a:t>/create_community_reports</a:t>
            </a:r>
            <a:br>
              <a:rPr lang="en" altLang="ja-JP" sz="1400" dirty="0"/>
            </a:br>
            <a:r>
              <a:rPr lang="en" altLang="ja-JP" sz="1400" b="1" dirty="0"/>
              <a:t>run_workflow</a:t>
            </a:r>
            <a:endParaRPr lang="en-US" altLang="ja-JP" sz="1400" b="1" dirty="0"/>
          </a:p>
          <a:p>
            <a:pPr algn="ctr"/>
            <a:r>
              <a:rPr kumimoji="1" lang="en" altLang="ja-JP" sz="1200" b="1" dirty="0"/>
              <a:t>create_community_reports</a:t>
            </a:r>
            <a:endParaRPr kumimoji="1" lang="ja-JP" altLang="en-US" sz="1200" b="1"/>
          </a:p>
        </p:txBody>
      </p:sp>
      <p:sp>
        <p:nvSpPr>
          <p:cNvPr id="71" name="テキスト ボックス 70">
            <a:extLst>
              <a:ext uri="{FF2B5EF4-FFF2-40B4-BE49-F238E27FC236}">
                <a16:creationId xmlns:a16="http://schemas.microsoft.com/office/drawing/2014/main" id="{EBB085F8-ABD4-A29F-D6DD-358C82D1497D}"/>
              </a:ext>
            </a:extLst>
          </p:cNvPr>
          <p:cNvSpPr txBox="1"/>
          <p:nvPr/>
        </p:nvSpPr>
        <p:spPr>
          <a:xfrm>
            <a:off x="7615797" y="5981749"/>
            <a:ext cx="1758245" cy="276999"/>
          </a:xfrm>
          <a:prstGeom prst="rect">
            <a:avLst/>
          </a:prstGeom>
          <a:noFill/>
          <a:ln>
            <a:noFill/>
          </a:ln>
        </p:spPr>
        <p:txBody>
          <a:bodyPr wrap="square" rtlCol="0">
            <a:spAutoFit/>
          </a:bodyPr>
          <a:lstStyle/>
          <a:p>
            <a:pPr algn="ctr"/>
            <a:r>
              <a:rPr lang="en-US" altLang="ja-JP" sz="1200" dirty="0"/>
              <a:t>4.9 </a:t>
            </a:r>
            <a:r>
              <a:rPr lang="ja-JP" altLang="en-US" sz="1200"/>
              <a:t>要約レポート生成</a:t>
            </a:r>
            <a:endParaRPr kumimoji="1" lang="ja-JP" altLang="en-US" sz="1200"/>
          </a:p>
        </p:txBody>
      </p:sp>
      <p:sp>
        <p:nvSpPr>
          <p:cNvPr id="72" name="テキスト ボックス 71">
            <a:extLst>
              <a:ext uri="{FF2B5EF4-FFF2-40B4-BE49-F238E27FC236}">
                <a16:creationId xmlns:a16="http://schemas.microsoft.com/office/drawing/2014/main" id="{1C494892-D4DC-4999-D316-6C5C53415EF4}"/>
              </a:ext>
            </a:extLst>
          </p:cNvPr>
          <p:cNvSpPr txBox="1"/>
          <p:nvPr/>
        </p:nvSpPr>
        <p:spPr>
          <a:xfrm>
            <a:off x="9747552" y="5061849"/>
            <a:ext cx="2265547" cy="907941"/>
          </a:xfrm>
          <a:prstGeom prst="rect">
            <a:avLst/>
          </a:prstGeom>
          <a:noFill/>
          <a:ln>
            <a:solidFill>
              <a:schemeClr val="bg1">
                <a:lumMod val="10000"/>
              </a:schemeClr>
            </a:solidFill>
          </a:ln>
        </p:spPr>
        <p:txBody>
          <a:bodyPr wrap="square" rtlCol="0">
            <a:spAutoFit/>
          </a:bodyPr>
          <a:lstStyle/>
          <a:p>
            <a:pPr algn="ctr"/>
            <a:r>
              <a:rPr lang="en" altLang="ja-JP" sz="1400" dirty="0"/>
              <a:t>graphrag/index/workflows</a:t>
            </a:r>
          </a:p>
          <a:p>
            <a:pPr algn="ctr"/>
            <a:r>
              <a:rPr lang="en" altLang="ja-JP" sz="1300" dirty="0"/>
              <a:t>/generate_text_embeddings</a:t>
            </a:r>
            <a:br>
              <a:rPr lang="en" altLang="ja-JP" sz="1400" dirty="0"/>
            </a:br>
            <a:r>
              <a:rPr lang="en" altLang="ja-JP" sz="1400" b="1" dirty="0"/>
              <a:t>run_workflow</a:t>
            </a:r>
            <a:endParaRPr lang="en-US" altLang="ja-JP" sz="1400" b="1" dirty="0"/>
          </a:p>
          <a:p>
            <a:pPr algn="ctr"/>
            <a:r>
              <a:rPr kumimoji="1" lang="en" altLang="ja-JP" sz="1200" b="1" dirty="0"/>
              <a:t>generate_text_embeddings</a:t>
            </a:r>
            <a:endParaRPr kumimoji="1" lang="ja-JP" altLang="en-US" sz="1200" b="1"/>
          </a:p>
        </p:txBody>
      </p:sp>
      <p:sp>
        <p:nvSpPr>
          <p:cNvPr id="74" name="テキスト ボックス 73">
            <a:extLst>
              <a:ext uri="{FF2B5EF4-FFF2-40B4-BE49-F238E27FC236}">
                <a16:creationId xmlns:a16="http://schemas.microsoft.com/office/drawing/2014/main" id="{793193BF-CE81-2680-5C34-7719B20F6F05}"/>
              </a:ext>
            </a:extLst>
          </p:cNvPr>
          <p:cNvSpPr txBox="1"/>
          <p:nvPr/>
        </p:nvSpPr>
        <p:spPr>
          <a:xfrm>
            <a:off x="270495" y="3115995"/>
            <a:ext cx="3966426" cy="646331"/>
          </a:xfrm>
          <a:prstGeom prst="rect">
            <a:avLst/>
          </a:prstGeom>
          <a:noFill/>
          <a:ln>
            <a:noFill/>
          </a:ln>
        </p:spPr>
        <p:txBody>
          <a:bodyPr wrap="square" rtlCol="0">
            <a:spAutoFit/>
          </a:bodyPr>
          <a:lstStyle/>
          <a:p>
            <a:r>
              <a:rPr kumimoji="1" lang="en-US" altLang="ja-JP" sz="1200" dirty="0"/>
              <a:t>※</a:t>
            </a:r>
            <a:r>
              <a:rPr kumimoji="1" lang="ja-JP" altLang="en-US" sz="1200"/>
              <a:t>太字は関数</a:t>
            </a:r>
            <a:endParaRPr kumimoji="1" lang="en-US" altLang="ja-JP" sz="1200" dirty="0"/>
          </a:p>
          <a:p>
            <a:r>
              <a:rPr kumimoji="1" lang="en-US" altLang="ja-JP" sz="1200" dirty="0"/>
              <a:t>※</a:t>
            </a:r>
            <a:r>
              <a:rPr kumimoji="1" lang="ja-JP" altLang="en-US" sz="1200"/>
              <a:t>パイプライン：</a:t>
            </a:r>
            <a:r>
              <a:rPr lang="ja-JP" altLang="en-US" sz="1200"/>
              <a:t>何をどの順番でやるかの計画</a:t>
            </a:r>
            <a:endParaRPr lang="en-US" altLang="ja-JP" sz="1200" dirty="0"/>
          </a:p>
          <a:p>
            <a:r>
              <a:rPr kumimoji="1" lang="en-US" altLang="ja-JP" sz="1200" dirty="0">
                <a:solidFill>
                  <a:srgbClr val="C00000"/>
                </a:solidFill>
              </a:rPr>
              <a:t>※</a:t>
            </a:r>
            <a:r>
              <a:rPr kumimoji="1" lang="ja-JP" altLang="en-US" sz="1200">
                <a:solidFill>
                  <a:srgbClr val="C00000"/>
                </a:solidFill>
              </a:rPr>
              <a:t>赤字は変更した箇所</a:t>
            </a:r>
            <a:endParaRPr kumimoji="1" lang="en-US" altLang="ja-JP" sz="1200" dirty="0">
              <a:solidFill>
                <a:srgbClr val="C00000"/>
              </a:solidFill>
            </a:endParaRPr>
          </a:p>
        </p:txBody>
      </p:sp>
      <p:sp>
        <p:nvSpPr>
          <p:cNvPr id="77" name="テキスト ボックス 76">
            <a:extLst>
              <a:ext uri="{FF2B5EF4-FFF2-40B4-BE49-F238E27FC236}">
                <a16:creationId xmlns:a16="http://schemas.microsoft.com/office/drawing/2014/main" id="{6397AECD-DFE6-FEB4-8875-112996CC9CA7}"/>
              </a:ext>
            </a:extLst>
          </p:cNvPr>
          <p:cNvSpPr txBox="1"/>
          <p:nvPr/>
        </p:nvSpPr>
        <p:spPr>
          <a:xfrm>
            <a:off x="3955061" y="6495780"/>
            <a:ext cx="3966426" cy="276999"/>
          </a:xfrm>
          <a:prstGeom prst="rect">
            <a:avLst/>
          </a:prstGeom>
          <a:noFill/>
          <a:ln>
            <a:noFill/>
          </a:ln>
        </p:spPr>
        <p:txBody>
          <a:bodyPr wrap="square" rtlCol="0">
            <a:spAutoFit/>
          </a:bodyPr>
          <a:lstStyle/>
          <a:p>
            <a:pPr algn="ctr"/>
            <a:r>
              <a:rPr kumimoji="1" lang="en-US" altLang="ja-JP" sz="1200" dirty="0"/>
              <a:t>4. </a:t>
            </a:r>
            <a:r>
              <a:rPr kumimoji="1" lang="ja-JP" altLang="en-US" sz="1200"/>
              <a:t>各ワークフロー実行</a:t>
            </a:r>
          </a:p>
        </p:txBody>
      </p:sp>
      <p:sp>
        <p:nvSpPr>
          <p:cNvPr id="5" name="十字形 4">
            <a:extLst>
              <a:ext uri="{FF2B5EF4-FFF2-40B4-BE49-F238E27FC236}">
                <a16:creationId xmlns:a16="http://schemas.microsoft.com/office/drawing/2014/main" id="{F8F84A7A-FBEE-7DE1-026C-68674D8A407E}"/>
              </a:ext>
            </a:extLst>
          </p:cNvPr>
          <p:cNvSpPr/>
          <p:nvPr/>
        </p:nvSpPr>
        <p:spPr>
          <a:xfrm rot="2724874">
            <a:off x="3054800" y="4919460"/>
            <a:ext cx="1283544" cy="1286721"/>
          </a:xfrm>
          <a:prstGeom prst="plus">
            <a:avLst>
              <a:gd name="adj" fmla="val 4809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十字形 6">
            <a:extLst>
              <a:ext uri="{FF2B5EF4-FFF2-40B4-BE49-F238E27FC236}">
                <a16:creationId xmlns:a16="http://schemas.microsoft.com/office/drawing/2014/main" id="{959F0029-8240-6B95-CD5B-54073502EDAA}"/>
              </a:ext>
            </a:extLst>
          </p:cNvPr>
          <p:cNvSpPr/>
          <p:nvPr/>
        </p:nvSpPr>
        <p:spPr>
          <a:xfrm rot="2724874">
            <a:off x="5445987" y="4915199"/>
            <a:ext cx="1283544" cy="1286721"/>
          </a:xfrm>
          <a:prstGeom prst="plus">
            <a:avLst>
              <a:gd name="adj" fmla="val 4809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十字形 7">
            <a:extLst>
              <a:ext uri="{FF2B5EF4-FFF2-40B4-BE49-F238E27FC236}">
                <a16:creationId xmlns:a16="http://schemas.microsoft.com/office/drawing/2014/main" id="{E334497E-7778-2BDC-B888-D168BAEFF9F6}"/>
              </a:ext>
            </a:extLst>
          </p:cNvPr>
          <p:cNvSpPr/>
          <p:nvPr/>
        </p:nvSpPr>
        <p:spPr>
          <a:xfrm rot="2724874">
            <a:off x="7841982" y="4917726"/>
            <a:ext cx="1283544" cy="1286721"/>
          </a:xfrm>
          <a:prstGeom prst="plus">
            <a:avLst>
              <a:gd name="adj" fmla="val 4809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十字形 11">
            <a:extLst>
              <a:ext uri="{FF2B5EF4-FFF2-40B4-BE49-F238E27FC236}">
                <a16:creationId xmlns:a16="http://schemas.microsoft.com/office/drawing/2014/main" id="{2708E67E-6531-8454-C772-20CB7B22BABB}"/>
              </a:ext>
            </a:extLst>
          </p:cNvPr>
          <p:cNvSpPr/>
          <p:nvPr/>
        </p:nvSpPr>
        <p:spPr>
          <a:xfrm rot="2724874">
            <a:off x="665215" y="4943727"/>
            <a:ext cx="1283544" cy="1286721"/>
          </a:xfrm>
          <a:prstGeom prst="plus">
            <a:avLst>
              <a:gd name="adj" fmla="val 4809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十字形 1">
            <a:extLst>
              <a:ext uri="{FF2B5EF4-FFF2-40B4-BE49-F238E27FC236}">
                <a16:creationId xmlns:a16="http://schemas.microsoft.com/office/drawing/2014/main" id="{A55EE919-62D3-A77B-59CB-8E68149104FC}"/>
              </a:ext>
            </a:extLst>
          </p:cNvPr>
          <p:cNvSpPr/>
          <p:nvPr/>
        </p:nvSpPr>
        <p:spPr>
          <a:xfrm rot="2724874">
            <a:off x="10243243" y="4895694"/>
            <a:ext cx="1283544" cy="1286721"/>
          </a:xfrm>
          <a:prstGeom prst="plus">
            <a:avLst>
              <a:gd name="adj" fmla="val 48096"/>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078530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23892BF-3458-7FC3-98D1-C7DB71381B90}"/>
              </a:ext>
            </a:extLst>
          </p:cNvPr>
          <p:cNvSpPr>
            <a:spLocks noGrp="1"/>
          </p:cNvSpPr>
          <p:nvPr>
            <p:ph type="body" sz="quarter" idx="11"/>
          </p:nvPr>
        </p:nvSpPr>
        <p:spPr/>
        <p:txBody>
          <a:bodyPr>
            <a:normAutofit fontScale="92500" lnSpcReduction="20000"/>
          </a:bodyPr>
          <a:lstStyle/>
          <a:p>
            <a:endParaRPr kumimoji="1" lang="ja-JP" altLang="en-US"/>
          </a:p>
        </p:txBody>
      </p:sp>
      <p:sp>
        <p:nvSpPr>
          <p:cNvPr id="5" name="角丸四角形 4">
            <a:extLst>
              <a:ext uri="{FF2B5EF4-FFF2-40B4-BE49-F238E27FC236}">
                <a16:creationId xmlns:a16="http://schemas.microsoft.com/office/drawing/2014/main" id="{44DC7D55-4EE1-2A24-5719-A1C57D893BF7}"/>
              </a:ext>
            </a:extLst>
          </p:cNvPr>
          <p:cNvSpPr/>
          <p:nvPr/>
        </p:nvSpPr>
        <p:spPr>
          <a:xfrm>
            <a:off x="1443794" y="3761642"/>
            <a:ext cx="2479752" cy="1993762"/>
          </a:xfrm>
          <a:prstGeom prst="roundRect">
            <a:avLst/>
          </a:prstGeom>
          <a:solidFill>
            <a:srgbClr val="C00000">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角丸四角形 7">
            <a:extLst>
              <a:ext uri="{FF2B5EF4-FFF2-40B4-BE49-F238E27FC236}">
                <a16:creationId xmlns:a16="http://schemas.microsoft.com/office/drawing/2014/main" id="{74F4E46F-3AEF-8E5E-83F8-4715DAC1D8E2}"/>
              </a:ext>
            </a:extLst>
          </p:cNvPr>
          <p:cNvSpPr/>
          <p:nvPr/>
        </p:nvSpPr>
        <p:spPr>
          <a:xfrm>
            <a:off x="193090" y="4384537"/>
            <a:ext cx="2479752" cy="2150948"/>
          </a:xfrm>
          <a:prstGeom prst="roundRect">
            <a:avLst/>
          </a:prstGeom>
          <a:solidFill>
            <a:schemeClr val="accent1">
              <a:lumMod val="20000"/>
              <a:lumOff val="80000"/>
              <a:alpha val="5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角丸四角形 8">
            <a:extLst>
              <a:ext uri="{FF2B5EF4-FFF2-40B4-BE49-F238E27FC236}">
                <a16:creationId xmlns:a16="http://schemas.microsoft.com/office/drawing/2014/main" id="{39ECA596-D05E-11A7-73B1-61A63159DF22}"/>
              </a:ext>
            </a:extLst>
          </p:cNvPr>
          <p:cNvSpPr/>
          <p:nvPr/>
        </p:nvSpPr>
        <p:spPr>
          <a:xfrm>
            <a:off x="1439098" y="5159389"/>
            <a:ext cx="2479752" cy="1376095"/>
          </a:xfrm>
          <a:prstGeom prst="roundRect">
            <a:avLst/>
          </a:prstGeom>
          <a:solidFill>
            <a:schemeClr val="accent6">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9E87A843-66CE-2D8B-81D7-DDFA5F0CA2FA}"/>
              </a:ext>
            </a:extLst>
          </p:cNvPr>
          <p:cNvSpPr/>
          <p:nvPr/>
        </p:nvSpPr>
        <p:spPr>
          <a:xfrm>
            <a:off x="8300955" y="6016932"/>
            <a:ext cx="720000" cy="36000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ysClr val="windowText" lastClr="000000"/>
                </a:solidFill>
              </a:rPr>
              <a:t>e3</a:t>
            </a:r>
            <a:endParaRPr kumimoji="1" lang="ja-JP" altLang="en-US" sz="1200">
              <a:solidFill>
                <a:sysClr val="windowText" lastClr="000000"/>
              </a:solidFill>
            </a:endParaRPr>
          </a:p>
        </p:txBody>
      </p:sp>
      <p:sp>
        <p:nvSpPr>
          <p:cNvPr id="24" name="正方形/長方形 23">
            <a:extLst>
              <a:ext uri="{FF2B5EF4-FFF2-40B4-BE49-F238E27FC236}">
                <a16:creationId xmlns:a16="http://schemas.microsoft.com/office/drawing/2014/main" id="{4B5F3EE6-805C-C274-B2B5-B11920D8D8A6}"/>
              </a:ext>
            </a:extLst>
          </p:cNvPr>
          <p:cNvSpPr/>
          <p:nvPr/>
        </p:nvSpPr>
        <p:spPr>
          <a:xfrm>
            <a:off x="5585015" y="5336001"/>
            <a:ext cx="720000" cy="36000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ysClr val="windowText" lastClr="000000"/>
                </a:solidFill>
              </a:rPr>
              <a:t>e2</a:t>
            </a:r>
            <a:endParaRPr kumimoji="1" lang="ja-JP" altLang="en-US" sz="1200">
              <a:solidFill>
                <a:sysClr val="windowText" lastClr="000000"/>
              </a:solidFill>
            </a:endParaRPr>
          </a:p>
        </p:txBody>
      </p:sp>
      <p:sp>
        <p:nvSpPr>
          <p:cNvPr id="25" name="正方形/長方形 24">
            <a:extLst>
              <a:ext uri="{FF2B5EF4-FFF2-40B4-BE49-F238E27FC236}">
                <a16:creationId xmlns:a16="http://schemas.microsoft.com/office/drawing/2014/main" id="{9E848F7A-7AE5-7BA5-9CBE-8328E468683A}"/>
              </a:ext>
            </a:extLst>
          </p:cNvPr>
          <p:cNvSpPr/>
          <p:nvPr/>
        </p:nvSpPr>
        <p:spPr>
          <a:xfrm>
            <a:off x="6944875" y="4670878"/>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a:t>
            </a:r>
            <a:r>
              <a:rPr lang="en-US" altLang="ja-JP" sz="1200" dirty="0"/>
              <a:t>2</a:t>
            </a:r>
            <a:endParaRPr kumimoji="1" lang="ja-JP" altLang="en-US" sz="1200"/>
          </a:p>
        </p:txBody>
      </p:sp>
      <p:sp>
        <p:nvSpPr>
          <p:cNvPr id="26" name="正方形/長方形 25">
            <a:extLst>
              <a:ext uri="{FF2B5EF4-FFF2-40B4-BE49-F238E27FC236}">
                <a16:creationId xmlns:a16="http://schemas.microsoft.com/office/drawing/2014/main" id="{68583C04-2F56-9334-AEF4-5032AC2D8C5A}"/>
              </a:ext>
            </a:extLst>
          </p:cNvPr>
          <p:cNvSpPr/>
          <p:nvPr/>
        </p:nvSpPr>
        <p:spPr>
          <a:xfrm>
            <a:off x="6944875" y="5343905"/>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v5</a:t>
            </a:r>
            <a:endParaRPr kumimoji="1" lang="ja-JP" altLang="en-US" sz="1200"/>
          </a:p>
        </p:txBody>
      </p:sp>
      <p:sp>
        <p:nvSpPr>
          <p:cNvPr id="27" name="正方形/長方形 26">
            <a:extLst>
              <a:ext uri="{FF2B5EF4-FFF2-40B4-BE49-F238E27FC236}">
                <a16:creationId xmlns:a16="http://schemas.microsoft.com/office/drawing/2014/main" id="{9B91F191-291E-0573-2CE9-40256717147D}"/>
              </a:ext>
            </a:extLst>
          </p:cNvPr>
          <p:cNvSpPr/>
          <p:nvPr/>
        </p:nvSpPr>
        <p:spPr>
          <a:xfrm>
            <a:off x="8299323" y="4670878"/>
            <a:ext cx="720000" cy="36000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ysClr val="windowText" lastClr="000000"/>
                </a:solidFill>
              </a:rPr>
              <a:t>e1</a:t>
            </a:r>
            <a:endParaRPr kumimoji="1" lang="ja-JP" altLang="en-US" sz="1200">
              <a:solidFill>
                <a:sysClr val="windowText" lastClr="000000"/>
              </a:solidFill>
            </a:endParaRPr>
          </a:p>
        </p:txBody>
      </p:sp>
      <p:sp>
        <p:nvSpPr>
          <p:cNvPr id="28" name="正方形/長方形 27">
            <a:extLst>
              <a:ext uri="{FF2B5EF4-FFF2-40B4-BE49-F238E27FC236}">
                <a16:creationId xmlns:a16="http://schemas.microsoft.com/office/drawing/2014/main" id="{D0030079-0F94-BDB2-ADFA-317E81CD52D3}"/>
              </a:ext>
            </a:extLst>
          </p:cNvPr>
          <p:cNvSpPr/>
          <p:nvPr/>
        </p:nvSpPr>
        <p:spPr>
          <a:xfrm>
            <a:off x="8299323" y="3997851"/>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v1</a:t>
            </a:r>
            <a:endParaRPr kumimoji="1" lang="ja-JP" altLang="en-US" sz="1200"/>
          </a:p>
        </p:txBody>
      </p:sp>
      <p:sp>
        <p:nvSpPr>
          <p:cNvPr id="29" name="正方形/長方形 28">
            <a:extLst>
              <a:ext uri="{FF2B5EF4-FFF2-40B4-BE49-F238E27FC236}">
                <a16:creationId xmlns:a16="http://schemas.microsoft.com/office/drawing/2014/main" id="{30CFF595-62BC-5EDB-CA25-A3CA9D4364EC}"/>
              </a:ext>
            </a:extLst>
          </p:cNvPr>
          <p:cNvSpPr/>
          <p:nvPr/>
        </p:nvSpPr>
        <p:spPr>
          <a:xfrm>
            <a:off x="8299323" y="5343905"/>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t>v3</a:t>
            </a:r>
            <a:endParaRPr kumimoji="1" lang="ja-JP" altLang="en-US" sz="1200"/>
          </a:p>
        </p:txBody>
      </p:sp>
      <p:cxnSp>
        <p:nvCxnSpPr>
          <p:cNvPr id="31" name="直線コネクタ 30">
            <a:extLst>
              <a:ext uri="{FF2B5EF4-FFF2-40B4-BE49-F238E27FC236}">
                <a16:creationId xmlns:a16="http://schemas.microsoft.com/office/drawing/2014/main" id="{2C15413C-2142-310F-96D8-58CB4A419938}"/>
              </a:ext>
            </a:extLst>
          </p:cNvPr>
          <p:cNvCxnSpPr>
            <a:stCxn id="28" idx="2"/>
            <a:endCxn id="27" idx="0"/>
          </p:cNvCxnSpPr>
          <p:nvPr/>
        </p:nvCxnSpPr>
        <p:spPr>
          <a:xfrm>
            <a:off x="8659323" y="4357851"/>
            <a:ext cx="0" cy="3130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2FD69E00-E5FF-CCAE-3E05-EB1A39A2792B}"/>
              </a:ext>
            </a:extLst>
          </p:cNvPr>
          <p:cNvCxnSpPr>
            <a:cxnSpLocks/>
            <a:stCxn id="27" idx="2"/>
            <a:endCxn id="29" idx="0"/>
          </p:cNvCxnSpPr>
          <p:nvPr/>
        </p:nvCxnSpPr>
        <p:spPr>
          <a:xfrm>
            <a:off x="8659323" y="5030878"/>
            <a:ext cx="0" cy="313027"/>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直線コネクタ 34">
            <a:extLst>
              <a:ext uri="{FF2B5EF4-FFF2-40B4-BE49-F238E27FC236}">
                <a16:creationId xmlns:a16="http://schemas.microsoft.com/office/drawing/2014/main" id="{F1891792-7390-2D13-EFD5-562A742E4570}"/>
              </a:ext>
            </a:extLst>
          </p:cNvPr>
          <p:cNvCxnSpPr>
            <a:cxnSpLocks/>
            <a:stCxn id="27" idx="1"/>
            <a:endCxn id="25" idx="3"/>
          </p:cNvCxnSpPr>
          <p:nvPr/>
        </p:nvCxnSpPr>
        <p:spPr>
          <a:xfrm flipH="1">
            <a:off x="7664875" y="4850878"/>
            <a:ext cx="63444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B4DC768C-2F05-1FDC-47C3-AE2E4BB74F9A}"/>
              </a:ext>
            </a:extLst>
          </p:cNvPr>
          <p:cNvCxnSpPr>
            <a:cxnSpLocks/>
            <a:stCxn id="24" idx="3"/>
            <a:endCxn id="26" idx="1"/>
          </p:cNvCxnSpPr>
          <p:nvPr/>
        </p:nvCxnSpPr>
        <p:spPr>
          <a:xfrm>
            <a:off x="6305015" y="5516001"/>
            <a:ext cx="639860" cy="7904"/>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4203ADD3-8625-A52C-6847-71F546C34CC3}"/>
              </a:ext>
            </a:extLst>
          </p:cNvPr>
          <p:cNvCxnSpPr>
            <a:cxnSpLocks/>
            <a:stCxn id="24" idx="0"/>
            <a:endCxn id="25" idx="1"/>
          </p:cNvCxnSpPr>
          <p:nvPr/>
        </p:nvCxnSpPr>
        <p:spPr>
          <a:xfrm flipV="1">
            <a:off x="5945015" y="4850878"/>
            <a:ext cx="999860" cy="485123"/>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直線コネクタ 44">
            <a:extLst>
              <a:ext uri="{FF2B5EF4-FFF2-40B4-BE49-F238E27FC236}">
                <a16:creationId xmlns:a16="http://schemas.microsoft.com/office/drawing/2014/main" id="{9A1B5290-3762-5A68-B8AD-16527942057A}"/>
              </a:ext>
            </a:extLst>
          </p:cNvPr>
          <p:cNvCxnSpPr>
            <a:cxnSpLocks/>
            <a:stCxn id="29" idx="2"/>
            <a:endCxn id="15" idx="0"/>
          </p:cNvCxnSpPr>
          <p:nvPr/>
        </p:nvCxnSpPr>
        <p:spPr>
          <a:xfrm>
            <a:off x="8659323" y="5703905"/>
            <a:ext cx="1632" cy="313027"/>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直線コネクタ 47">
            <a:extLst>
              <a:ext uri="{FF2B5EF4-FFF2-40B4-BE49-F238E27FC236}">
                <a16:creationId xmlns:a16="http://schemas.microsoft.com/office/drawing/2014/main" id="{CB48CB23-0DDB-832F-3D40-05CAEDF0B4FE}"/>
              </a:ext>
            </a:extLst>
          </p:cNvPr>
          <p:cNvCxnSpPr>
            <a:cxnSpLocks/>
          </p:cNvCxnSpPr>
          <p:nvPr/>
        </p:nvCxnSpPr>
        <p:spPr>
          <a:xfrm>
            <a:off x="7661095" y="5703905"/>
            <a:ext cx="638228" cy="313027"/>
          </a:xfrm>
          <a:prstGeom prst="line">
            <a:avLst/>
          </a:prstGeom>
        </p:spPr>
        <p:style>
          <a:lnRef idx="2">
            <a:schemeClr val="accent1"/>
          </a:lnRef>
          <a:fillRef idx="0">
            <a:schemeClr val="accent1"/>
          </a:fillRef>
          <a:effectRef idx="1">
            <a:schemeClr val="accent1"/>
          </a:effectRef>
          <a:fontRef idx="minor">
            <a:schemeClr val="tx1"/>
          </a:fontRef>
        </p:style>
      </p:cxnSp>
      <p:sp>
        <p:nvSpPr>
          <p:cNvPr id="55" name="正方形/長方形 54">
            <a:extLst>
              <a:ext uri="{FF2B5EF4-FFF2-40B4-BE49-F238E27FC236}">
                <a16:creationId xmlns:a16="http://schemas.microsoft.com/office/drawing/2014/main" id="{CD1F3AB4-8E22-79FE-C41D-657B29D41626}"/>
              </a:ext>
            </a:extLst>
          </p:cNvPr>
          <p:cNvSpPr/>
          <p:nvPr/>
        </p:nvSpPr>
        <p:spPr>
          <a:xfrm>
            <a:off x="5585015" y="6016932"/>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v4</a:t>
            </a:r>
            <a:endParaRPr kumimoji="1" lang="ja-JP" altLang="en-US" sz="1200"/>
          </a:p>
        </p:txBody>
      </p:sp>
      <p:cxnSp>
        <p:nvCxnSpPr>
          <p:cNvPr id="56" name="直線コネクタ 55">
            <a:extLst>
              <a:ext uri="{FF2B5EF4-FFF2-40B4-BE49-F238E27FC236}">
                <a16:creationId xmlns:a16="http://schemas.microsoft.com/office/drawing/2014/main" id="{D0C188E6-E44F-D41E-5B73-478B71F1B746}"/>
              </a:ext>
            </a:extLst>
          </p:cNvPr>
          <p:cNvCxnSpPr>
            <a:cxnSpLocks/>
            <a:stCxn id="24" idx="2"/>
            <a:endCxn id="55" idx="0"/>
          </p:cNvCxnSpPr>
          <p:nvPr/>
        </p:nvCxnSpPr>
        <p:spPr>
          <a:xfrm>
            <a:off x="5945015" y="5696001"/>
            <a:ext cx="0" cy="320931"/>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直線コネクタ 85">
            <a:extLst>
              <a:ext uri="{FF2B5EF4-FFF2-40B4-BE49-F238E27FC236}">
                <a16:creationId xmlns:a16="http://schemas.microsoft.com/office/drawing/2014/main" id="{60BE551D-70A7-273E-4BDD-4B5D3C24ABE1}"/>
              </a:ext>
            </a:extLst>
          </p:cNvPr>
          <p:cNvCxnSpPr>
            <a:cxnSpLocks/>
          </p:cNvCxnSpPr>
          <p:nvPr/>
        </p:nvCxnSpPr>
        <p:spPr>
          <a:xfrm flipV="1">
            <a:off x="7663243" y="5030878"/>
            <a:ext cx="636080" cy="305123"/>
          </a:xfrm>
          <a:prstGeom prst="line">
            <a:avLst/>
          </a:prstGeom>
        </p:spPr>
        <p:style>
          <a:lnRef idx="2">
            <a:schemeClr val="accent1"/>
          </a:lnRef>
          <a:fillRef idx="0">
            <a:schemeClr val="accent1"/>
          </a:fillRef>
          <a:effectRef idx="1">
            <a:schemeClr val="accent1"/>
          </a:effectRef>
          <a:fontRef idx="minor">
            <a:schemeClr val="tx1"/>
          </a:fontRef>
        </p:style>
      </p:cxnSp>
      <p:sp>
        <p:nvSpPr>
          <p:cNvPr id="97" name="正方形/長方形 96">
            <a:extLst>
              <a:ext uri="{FF2B5EF4-FFF2-40B4-BE49-F238E27FC236}">
                <a16:creationId xmlns:a16="http://schemas.microsoft.com/office/drawing/2014/main" id="{1C87C412-A1F6-18EE-9DB7-11EB8D0DF1DA}"/>
              </a:ext>
            </a:extLst>
          </p:cNvPr>
          <p:cNvSpPr/>
          <p:nvPr/>
        </p:nvSpPr>
        <p:spPr>
          <a:xfrm>
            <a:off x="3051296" y="5965444"/>
            <a:ext cx="7200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ysClr val="windowText" lastClr="000000"/>
                </a:solidFill>
              </a:rPr>
              <a:t>e3</a:t>
            </a:r>
            <a:endParaRPr kumimoji="1" lang="ja-JP" altLang="en-US" sz="1200">
              <a:solidFill>
                <a:sysClr val="windowText" lastClr="000000"/>
              </a:solidFill>
            </a:endParaRPr>
          </a:p>
        </p:txBody>
      </p:sp>
      <p:sp>
        <p:nvSpPr>
          <p:cNvPr id="98" name="正方形/長方形 97">
            <a:extLst>
              <a:ext uri="{FF2B5EF4-FFF2-40B4-BE49-F238E27FC236}">
                <a16:creationId xmlns:a16="http://schemas.microsoft.com/office/drawing/2014/main" id="{22A28826-D765-A111-0EF7-354EDE4D4853}"/>
              </a:ext>
            </a:extLst>
          </p:cNvPr>
          <p:cNvSpPr/>
          <p:nvPr/>
        </p:nvSpPr>
        <p:spPr>
          <a:xfrm>
            <a:off x="335356" y="5284513"/>
            <a:ext cx="7200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ysClr val="windowText" lastClr="000000"/>
                </a:solidFill>
              </a:rPr>
              <a:t>e2</a:t>
            </a:r>
            <a:endParaRPr kumimoji="1" lang="ja-JP" altLang="en-US" sz="1200">
              <a:solidFill>
                <a:sysClr val="windowText" lastClr="000000"/>
              </a:solidFill>
            </a:endParaRPr>
          </a:p>
        </p:txBody>
      </p:sp>
      <p:sp>
        <p:nvSpPr>
          <p:cNvPr id="99" name="正方形/長方形 98">
            <a:extLst>
              <a:ext uri="{FF2B5EF4-FFF2-40B4-BE49-F238E27FC236}">
                <a16:creationId xmlns:a16="http://schemas.microsoft.com/office/drawing/2014/main" id="{CF6A5929-6B1F-4883-A0BF-5B74BE1C113E}"/>
              </a:ext>
            </a:extLst>
          </p:cNvPr>
          <p:cNvSpPr/>
          <p:nvPr/>
        </p:nvSpPr>
        <p:spPr>
          <a:xfrm>
            <a:off x="1695216" y="4619390"/>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a:t>
            </a:r>
            <a:r>
              <a:rPr lang="en-US" altLang="ja-JP" sz="1200" dirty="0"/>
              <a:t>2</a:t>
            </a:r>
            <a:endParaRPr kumimoji="1" lang="ja-JP" altLang="en-US" sz="1200"/>
          </a:p>
        </p:txBody>
      </p:sp>
      <p:sp>
        <p:nvSpPr>
          <p:cNvPr id="100" name="正方形/長方形 99">
            <a:extLst>
              <a:ext uri="{FF2B5EF4-FFF2-40B4-BE49-F238E27FC236}">
                <a16:creationId xmlns:a16="http://schemas.microsoft.com/office/drawing/2014/main" id="{199A5128-7B4B-BA9A-B506-FD823E6D0BEF}"/>
              </a:ext>
            </a:extLst>
          </p:cNvPr>
          <p:cNvSpPr/>
          <p:nvPr/>
        </p:nvSpPr>
        <p:spPr>
          <a:xfrm>
            <a:off x="1695216" y="5292417"/>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v5</a:t>
            </a:r>
            <a:endParaRPr kumimoji="1" lang="ja-JP" altLang="en-US" sz="1200"/>
          </a:p>
        </p:txBody>
      </p:sp>
      <p:sp>
        <p:nvSpPr>
          <p:cNvPr id="101" name="正方形/長方形 100">
            <a:extLst>
              <a:ext uri="{FF2B5EF4-FFF2-40B4-BE49-F238E27FC236}">
                <a16:creationId xmlns:a16="http://schemas.microsoft.com/office/drawing/2014/main" id="{066D63FD-C77C-FB31-FEE4-70E47261BDB7}"/>
              </a:ext>
            </a:extLst>
          </p:cNvPr>
          <p:cNvSpPr/>
          <p:nvPr/>
        </p:nvSpPr>
        <p:spPr>
          <a:xfrm>
            <a:off x="3049664" y="4619390"/>
            <a:ext cx="720000"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ysClr val="windowText" lastClr="000000"/>
                </a:solidFill>
              </a:rPr>
              <a:t>e1</a:t>
            </a:r>
            <a:endParaRPr kumimoji="1" lang="ja-JP" altLang="en-US" sz="1200">
              <a:solidFill>
                <a:sysClr val="windowText" lastClr="000000"/>
              </a:solidFill>
            </a:endParaRPr>
          </a:p>
        </p:txBody>
      </p:sp>
      <p:sp>
        <p:nvSpPr>
          <p:cNvPr id="102" name="正方形/長方形 101">
            <a:extLst>
              <a:ext uri="{FF2B5EF4-FFF2-40B4-BE49-F238E27FC236}">
                <a16:creationId xmlns:a16="http://schemas.microsoft.com/office/drawing/2014/main" id="{0E1C48D6-82D7-7A25-5956-2025CC201BAE}"/>
              </a:ext>
            </a:extLst>
          </p:cNvPr>
          <p:cNvSpPr/>
          <p:nvPr/>
        </p:nvSpPr>
        <p:spPr>
          <a:xfrm>
            <a:off x="3049664" y="3946363"/>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v1</a:t>
            </a:r>
            <a:endParaRPr kumimoji="1" lang="ja-JP" altLang="en-US" sz="1200"/>
          </a:p>
        </p:txBody>
      </p:sp>
      <p:sp>
        <p:nvSpPr>
          <p:cNvPr id="103" name="正方形/長方形 102">
            <a:extLst>
              <a:ext uri="{FF2B5EF4-FFF2-40B4-BE49-F238E27FC236}">
                <a16:creationId xmlns:a16="http://schemas.microsoft.com/office/drawing/2014/main" id="{C757FF8E-4706-0483-C854-0495B4121978}"/>
              </a:ext>
            </a:extLst>
          </p:cNvPr>
          <p:cNvSpPr/>
          <p:nvPr/>
        </p:nvSpPr>
        <p:spPr>
          <a:xfrm>
            <a:off x="3049664" y="5292417"/>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t>v3</a:t>
            </a:r>
            <a:endParaRPr kumimoji="1" lang="ja-JP" altLang="en-US" sz="1200"/>
          </a:p>
        </p:txBody>
      </p:sp>
      <p:sp>
        <p:nvSpPr>
          <p:cNvPr id="111" name="正方形/長方形 110">
            <a:extLst>
              <a:ext uri="{FF2B5EF4-FFF2-40B4-BE49-F238E27FC236}">
                <a16:creationId xmlns:a16="http://schemas.microsoft.com/office/drawing/2014/main" id="{03751DAE-721B-E59F-5196-637E0F48F122}"/>
              </a:ext>
            </a:extLst>
          </p:cNvPr>
          <p:cNvSpPr/>
          <p:nvPr/>
        </p:nvSpPr>
        <p:spPr>
          <a:xfrm>
            <a:off x="335356" y="5965444"/>
            <a:ext cx="720000" cy="36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v4</a:t>
            </a:r>
            <a:endParaRPr kumimoji="1" lang="ja-JP" altLang="en-US" sz="1200"/>
          </a:p>
        </p:txBody>
      </p:sp>
      <p:sp>
        <p:nvSpPr>
          <p:cNvPr id="115" name="正方形/長方形 114">
            <a:extLst>
              <a:ext uri="{FF2B5EF4-FFF2-40B4-BE49-F238E27FC236}">
                <a16:creationId xmlns:a16="http://schemas.microsoft.com/office/drawing/2014/main" id="{9177A7C8-39DF-FE90-4623-58660DEA3FD5}"/>
              </a:ext>
            </a:extLst>
          </p:cNvPr>
          <p:cNvSpPr/>
          <p:nvPr/>
        </p:nvSpPr>
        <p:spPr>
          <a:xfrm>
            <a:off x="8620738" y="1459630"/>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A</a:t>
            </a:r>
            <a:endParaRPr kumimoji="1" lang="ja-JP" altLang="en-US" sz="1200"/>
          </a:p>
        </p:txBody>
      </p:sp>
      <p:sp>
        <p:nvSpPr>
          <p:cNvPr id="116" name="正方形/長方形 115">
            <a:extLst>
              <a:ext uri="{FF2B5EF4-FFF2-40B4-BE49-F238E27FC236}">
                <a16:creationId xmlns:a16="http://schemas.microsoft.com/office/drawing/2014/main" id="{DF96E56E-379D-902E-4FB4-15D6233AEEE2}"/>
              </a:ext>
            </a:extLst>
          </p:cNvPr>
          <p:cNvSpPr/>
          <p:nvPr/>
        </p:nvSpPr>
        <p:spPr>
          <a:xfrm>
            <a:off x="9395350" y="4132209"/>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企業</a:t>
            </a:r>
            <a:r>
              <a:rPr lang="en-US" altLang="ja-JP" sz="1200" dirty="0"/>
              <a:t>a</a:t>
            </a:r>
            <a:endParaRPr kumimoji="1" lang="ja-JP" altLang="en-US" sz="1200"/>
          </a:p>
        </p:txBody>
      </p:sp>
      <p:sp>
        <p:nvSpPr>
          <p:cNvPr id="117" name="正方形/長方形 116">
            <a:extLst>
              <a:ext uri="{FF2B5EF4-FFF2-40B4-BE49-F238E27FC236}">
                <a16:creationId xmlns:a16="http://schemas.microsoft.com/office/drawing/2014/main" id="{DFE13ACF-F458-21E4-CA18-65DD01051224}"/>
              </a:ext>
            </a:extLst>
          </p:cNvPr>
          <p:cNvSpPr/>
          <p:nvPr/>
        </p:nvSpPr>
        <p:spPr>
          <a:xfrm>
            <a:off x="10238096" y="4484755"/>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人物</a:t>
            </a:r>
            <a:r>
              <a:rPr lang="en-US" altLang="ja-JP" sz="1200" dirty="0"/>
              <a:t>b</a:t>
            </a:r>
            <a:endParaRPr kumimoji="1" lang="ja-JP" altLang="en-US" sz="1200"/>
          </a:p>
        </p:txBody>
      </p:sp>
      <p:sp>
        <p:nvSpPr>
          <p:cNvPr id="118" name="正方形/長方形 117">
            <a:extLst>
              <a:ext uri="{FF2B5EF4-FFF2-40B4-BE49-F238E27FC236}">
                <a16:creationId xmlns:a16="http://schemas.microsoft.com/office/drawing/2014/main" id="{E872C0A5-CD31-CF1A-7A45-FE1ED9FB5E8A}"/>
              </a:ext>
            </a:extLst>
          </p:cNvPr>
          <p:cNvSpPr/>
          <p:nvPr/>
        </p:nvSpPr>
        <p:spPr>
          <a:xfrm>
            <a:off x="9395350" y="4853954"/>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商品</a:t>
            </a:r>
            <a:r>
              <a:rPr lang="en-US" altLang="ja-JP" sz="1200" dirty="0"/>
              <a:t>c</a:t>
            </a:r>
            <a:endParaRPr kumimoji="1" lang="ja-JP" altLang="en-US" sz="1200"/>
          </a:p>
        </p:txBody>
      </p:sp>
      <p:sp>
        <p:nvSpPr>
          <p:cNvPr id="119" name="正方形/長方形 118">
            <a:extLst>
              <a:ext uri="{FF2B5EF4-FFF2-40B4-BE49-F238E27FC236}">
                <a16:creationId xmlns:a16="http://schemas.microsoft.com/office/drawing/2014/main" id="{2B606E02-3D3F-8E6F-8E65-D2D0BE3FE966}"/>
              </a:ext>
            </a:extLst>
          </p:cNvPr>
          <p:cNvSpPr/>
          <p:nvPr/>
        </p:nvSpPr>
        <p:spPr>
          <a:xfrm>
            <a:off x="10223216" y="5187388"/>
            <a:ext cx="663926"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t>場所</a:t>
            </a:r>
            <a:r>
              <a:rPr lang="en-US" altLang="ja-JP" sz="1200" dirty="0"/>
              <a:t>d</a:t>
            </a:r>
            <a:endParaRPr kumimoji="1" lang="ja-JP" altLang="en-US" sz="1200"/>
          </a:p>
        </p:txBody>
      </p:sp>
      <p:sp>
        <p:nvSpPr>
          <p:cNvPr id="120" name="正方形/長方形 119">
            <a:extLst>
              <a:ext uri="{FF2B5EF4-FFF2-40B4-BE49-F238E27FC236}">
                <a16:creationId xmlns:a16="http://schemas.microsoft.com/office/drawing/2014/main" id="{5ABCD223-43A8-BBEE-CE8E-ED38BC8E8FC2}"/>
              </a:ext>
            </a:extLst>
          </p:cNvPr>
          <p:cNvSpPr/>
          <p:nvPr/>
        </p:nvSpPr>
        <p:spPr>
          <a:xfrm>
            <a:off x="8541491" y="1363348"/>
            <a:ext cx="3162562" cy="5037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正方形/長方形 120">
            <a:extLst>
              <a:ext uri="{FF2B5EF4-FFF2-40B4-BE49-F238E27FC236}">
                <a16:creationId xmlns:a16="http://schemas.microsoft.com/office/drawing/2014/main" id="{53A31766-61AB-D6D7-CBB5-153ADAC00D05}"/>
              </a:ext>
            </a:extLst>
          </p:cNvPr>
          <p:cNvSpPr/>
          <p:nvPr/>
        </p:nvSpPr>
        <p:spPr>
          <a:xfrm>
            <a:off x="9401824" y="1466343"/>
            <a:ext cx="657498"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B</a:t>
            </a:r>
            <a:endParaRPr kumimoji="1" lang="ja-JP" altLang="en-US" sz="1200"/>
          </a:p>
        </p:txBody>
      </p:sp>
      <p:sp>
        <p:nvSpPr>
          <p:cNvPr id="122" name="正方形/長方形 121">
            <a:extLst>
              <a:ext uri="{FF2B5EF4-FFF2-40B4-BE49-F238E27FC236}">
                <a16:creationId xmlns:a16="http://schemas.microsoft.com/office/drawing/2014/main" id="{682B4522-11FA-B640-D928-57D6F497AD00}"/>
              </a:ext>
            </a:extLst>
          </p:cNvPr>
          <p:cNvSpPr/>
          <p:nvPr/>
        </p:nvSpPr>
        <p:spPr>
          <a:xfrm>
            <a:off x="9278236" y="4026841"/>
            <a:ext cx="1695145"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テキスト ボックス 122">
            <a:extLst>
              <a:ext uri="{FF2B5EF4-FFF2-40B4-BE49-F238E27FC236}">
                <a16:creationId xmlns:a16="http://schemas.microsoft.com/office/drawing/2014/main" id="{4840356A-718B-7F95-37E6-65966EB41F42}"/>
              </a:ext>
            </a:extLst>
          </p:cNvPr>
          <p:cNvSpPr txBox="1"/>
          <p:nvPr/>
        </p:nvSpPr>
        <p:spPr>
          <a:xfrm>
            <a:off x="9463668" y="2118236"/>
            <a:ext cx="1312514" cy="1738938"/>
          </a:xfrm>
          <a:prstGeom prst="rect">
            <a:avLst/>
          </a:prstGeom>
          <a:noFill/>
        </p:spPr>
        <p:txBody>
          <a:bodyPr wrap="square" rtlCol="0">
            <a:spAutoFit/>
          </a:bodyPr>
          <a:lstStyle/>
          <a:p>
            <a:pPr algn="ctr"/>
            <a:r>
              <a:rPr kumimoji="1" lang="ja-JP" altLang="en-US" sz="1400" b="1"/>
              <a:t>エンティティ</a:t>
            </a:r>
            <a:endParaRPr kumimoji="1" lang="en-US" altLang="ja-JP" sz="1400" b="1" dirty="0"/>
          </a:p>
          <a:p>
            <a:pPr algn="ctr"/>
            <a:r>
              <a:rPr kumimoji="1" lang="ja-JP" altLang="en-US" sz="1400"/>
              <a:t>企業</a:t>
            </a:r>
            <a:r>
              <a:rPr lang="en-US" altLang="ja-JP" sz="1400" dirty="0"/>
              <a:t>a</a:t>
            </a:r>
            <a:r>
              <a:rPr lang="ja-JP" altLang="en-US" sz="1400"/>
              <a:t>　人物</a:t>
            </a:r>
            <a:r>
              <a:rPr lang="en-US" altLang="ja-JP" sz="1400" dirty="0"/>
              <a:t>b</a:t>
            </a:r>
          </a:p>
          <a:p>
            <a:pPr algn="ctr"/>
            <a:r>
              <a:rPr lang="ja-JP" altLang="en-US" sz="1400"/>
              <a:t>商品</a:t>
            </a:r>
            <a:r>
              <a:rPr lang="en-US" altLang="ja-JP" sz="1400" dirty="0"/>
              <a:t>c</a:t>
            </a:r>
            <a:r>
              <a:rPr lang="ja-JP" altLang="en-US" sz="1400"/>
              <a:t>　場所</a:t>
            </a:r>
            <a:r>
              <a:rPr lang="en-US" altLang="ja-JP" sz="1400" dirty="0"/>
              <a:t>d</a:t>
            </a:r>
          </a:p>
          <a:p>
            <a:pPr algn="ctr"/>
            <a:endParaRPr lang="en-US" altLang="ja-JP" sz="600" dirty="0"/>
          </a:p>
          <a:p>
            <a:pPr algn="ctr"/>
            <a:r>
              <a:rPr lang="ja-JP" altLang="en-US" sz="1400" b="1"/>
              <a:t>関係</a:t>
            </a:r>
            <a:endParaRPr lang="en-US" altLang="ja-JP" sz="1400" b="1" dirty="0"/>
          </a:p>
          <a:p>
            <a:pPr algn="ctr"/>
            <a:r>
              <a:rPr lang="en-US" altLang="ja-JP" sz="1400" dirty="0"/>
              <a:t>b</a:t>
            </a:r>
            <a:r>
              <a:rPr lang="ja-JP" altLang="en-US" sz="1400"/>
              <a:t>は</a:t>
            </a:r>
            <a:r>
              <a:rPr lang="en-US" altLang="ja-JP" sz="1400" dirty="0"/>
              <a:t>a</a:t>
            </a:r>
            <a:r>
              <a:rPr lang="ja-JP" altLang="en-US" sz="1400"/>
              <a:t>に所属</a:t>
            </a:r>
            <a:endParaRPr lang="en-US" altLang="ja-JP" sz="1400" dirty="0"/>
          </a:p>
          <a:p>
            <a:pPr algn="ctr"/>
            <a:r>
              <a:rPr lang="en-US" altLang="ja-JP" sz="1400" dirty="0"/>
              <a:t>c</a:t>
            </a:r>
            <a:r>
              <a:rPr lang="ja-JP" altLang="en-US" sz="1400"/>
              <a:t>は</a:t>
            </a:r>
            <a:r>
              <a:rPr lang="en-US" altLang="ja-JP" sz="1400" dirty="0"/>
              <a:t>a</a:t>
            </a:r>
            <a:r>
              <a:rPr lang="ja-JP" altLang="en-US" sz="1400"/>
              <a:t>が開発</a:t>
            </a:r>
            <a:endParaRPr lang="en-US" altLang="ja-JP" sz="1400" dirty="0"/>
          </a:p>
          <a:p>
            <a:pPr algn="ctr"/>
            <a:r>
              <a:rPr lang="en-US" altLang="ja-JP" sz="1400" dirty="0"/>
              <a:t>b</a:t>
            </a:r>
            <a:r>
              <a:rPr lang="ja-JP" altLang="en-US" sz="1400"/>
              <a:t>は</a:t>
            </a:r>
            <a:r>
              <a:rPr lang="en-US" altLang="ja-JP" sz="1400" dirty="0"/>
              <a:t>d</a:t>
            </a:r>
            <a:r>
              <a:rPr lang="ja-JP" altLang="en-US" sz="1400"/>
              <a:t>に居住</a:t>
            </a:r>
            <a:endParaRPr lang="en-US" altLang="ja-JP" sz="1400" dirty="0"/>
          </a:p>
        </p:txBody>
      </p:sp>
      <p:cxnSp>
        <p:nvCxnSpPr>
          <p:cNvPr id="124" name="直線矢印コネクタ 123">
            <a:extLst>
              <a:ext uri="{FF2B5EF4-FFF2-40B4-BE49-F238E27FC236}">
                <a16:creationId xmlns:a16="http://schemas.microsoft.com/office/drawing/2014/main" id="{BF633816-7F28-4082-5913-7516D8279945}"/>
              </a:ext>
            </a:extLst>
          </p:cNvPr>
          <p:cNvCxnSpPr>
            <a:cxnSpLocks/>
            <a:stCxn id="120" idx="2"/>
            <a:endCxn id="123" idx="0"/>
          </p:cNvCxnSpPr>
          <p:nvPr/>
        </p:nvCxnSpPr>
        <p:spPr>
          <a:xfrm flipH="1">
            <a:off x="10119925" y="1867072"/>
            <a:ext cx="2847" cy="251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直線矢印コネクタ 124">
            <a:extLst>
              <a:ext uri="{FF2B5EF4-FFF2-40B4-BE49-F238E27FC236}">
                <a16:creationId xmlns:a16="http://schemas.microsoft.com/office/drawing/2014/main" id="{1C366AE6-CB2D-B5CE-FF87-3A22C9211858}"/>
              </a:ext>
            </a:extLst>
          </p:cNvPr>
          <p:cNvCxnSpPr>
            <a:cxnSpLocks/>
            <a:stCxn id="134" idx="2"/>
            <a:endCxn id="122" idx="0"/>
          </p:cNvCxnSpPr>
          <p:nvPr/>
        </p:nvCxnSpPr>
        <p:spPr>
          <a:xfrm>
            <a:off x="10123814" y="3760701"/>
            <a:ext cx="1995" cy="266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直線矢印コネクタ 125">
            <a:extLst>
              <a:ext uri="{FF2B5EF4-FFF2-40B4-BE49-F238E27FC236}">
                <a16:creationId xmlns:a16="http://schemas.microsoft.com/office/drawing/2014/main" id="{9D26BAD0-DD4C-6F18-DA17-471CC345E562}"/>
              </a:ext>
            </a:extLst>
          </p:cNvPr>
          <p:cNvCxnSpPr>
            <a:cxnSpLocks/>
            <a:stCxn id="116" idx="2"/>
            <a:endCxn id="118" idx="0"/>
          </p:cNvCxnSpPr>
          <p:nvPr/>
        </p:nvCxnSpPr>
        <p:spPr>
          <a:xfrm>
            <a:off x="9727313" y="4453753"/>
            <a:ext cx="0" cy="4002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直線矢印コネクタ 126">
            <a:extLst>
              <a:ext uri="{FF2B5EF4-FFF2-40B4-BE49-F238E27FC236}">
                <a16:creationId xmlns:a16="http://schemas.microsoft.com/office/drawing/2014/main" id="{7D9695B1-3B86-4813-8502-DF442B47D83A}"/>
              </a:ext>
            </a:extLst>
          </p:cNvPr>
          <p:cNvCxnSpPr>
            <a:cxnSpLocks/>
            <a:stCxn id="117" idx="0"/>
            <a:endCxn id="116" idx="3"/>
          </p:cNvCxnSpPr>
          <p:nvPr/>
        </p:nvCxnSpPr>
        <p:spPr>
          <a:xfrm flipH="1" flipV="1">
            <a:off x="10059276" y="4292981"/>
            <a:ext cx="510783" cy="191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直線矢印コネクタ 127">
            <a:extLst>
              <a:ext uri="{FF2B5EF4-FFF2-40B4-BE49-F238E27FC236}">
                <a16:creationId xmlns:a16="http://schemas.microsoft.com/office/drawing/2014/main" id="{D68BFC3B-A0C2-F817-F3C8-BBA9868F3538}"/>
              </a:ext>
            </a:extLst>
          </p:cNvPr>
          <p:cNvCxnSpPr>
            <a:cxnSpLocks/>
            <a:stCxn id="117" idx="2"/>
            <a:endCxn id="119" idx="0"/>
          </p:cNvCxnSpPr>
          <p:nvPr/>
        </p:nvCxnSpPr>
        <p:spPr>
          <a:xfrm flipH="1">
            <a:off x="10555179" y="4806299"/>
            <a:ext cx="14880" cy="381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1E73C415-61BF-7B90-22D9-D31C7EB93BA2}"/>
              </a:ext>
            </a:extLst>
          </p:cNvPr>
          <p:cNvSpPr txBox="1"/>
          <p:nvPr/>
        </p:nvSpPr>
        <p:spPr>
          <a:xfrm>
            <a:off x="9378063" y="4516176"/>
            <a:ext cx="698500" cy="276999"/>
          </a:xfrm>
          <a:prstGeom prst="rect">
            <a:avLst/>
          </a:prstGeom>
          <a:noFill/>
        </p:spPr>
        <p:txBody>
          <a:bodyPr wrap="square" rtlCol="0">
            <a:spAutoFit/>
          </a:bodyPr>
          <a:lstStyle/>
          <a:p>
            <a:pPr algn="ctr"/>
            <a:r>
              <a:rPr kumimoji="1" lang="ja-JP" altLang="en-US" sz="1200"/>
              <a:t>開発</a:t>
            </a:r>
          </a:p>
        </p:txBody>
      </p:sp>
      <p:sp>
        <p:nvSpPr>
          <p:cNvPr id="130" name="テキスト ボックス 129">
            <a:extLst>
              <a:ext uri="{FF2B5EF4-FFF2-40B4-BE49-F238E27FC236}">
                <a16:creationId xmlns:a16="http://schemas.microsoft.com/office/drawing/2014/main" id="{2AC22F7D-4A9C-CC2E-BCD8-F2BF0EFE913D}"/>
              </a:ext>
            </a:extLst>
          </p:cNvPr>
          <p:cNvSpPr txBox="1"/>
          <p:nvPr/>
        </p:nvSpPr>
        <p:spPr>
          <a:xfrm>
            <a:off x="10084009" y="4173687"/>
            <a:ext cx="698500" cy="276999"/>
          </a:xfrm>
          <a:prstGeom prst="rect">
            <a:avLst/>
          </a:prstGeom>
          <a:noFill/>
        </p:spPr>
        <p:txBody>
          <a:bodyPr wrap="square" rtlCol="0">
            <a:spAutoFit/>
          </a:bodyPr>
          <a:lstStyle/>
          <a:p>
            <a:pPr algn="ctr"/>
            <a:r>
              <a:rPr kumimoji="1" lang="ja-JP" altLang="en-US" sz="1200"/>
              <a:t>所属</a:t>
            </a:r>
          </a:p>
        </p:txBody>
      </p:sp>
      <p:sp>
        <p:nvSpPr>
          <p:cNvPr id="131" name="テキスト ボックス 130">
            <a:extLst>
              <a:ext uri="{FF2B5EF4-FFF2-40B4-BE49-F238E27FC236}">
                <a16:creationId xmlns:a16="http://schemas.microsoft.com/office/drawing/2014/main" id="{894F747D-9E19-2E81-0B20-FAD3E3046BCC}"/>
              </a:ext>
            </a:extLst>
          </p:cNvPr>
          <p:cNvSpPr txBox="1"/>
          <p:nvPr/>
        </p:nvSpPr>
        <p:spPr>
          <a:xfrm>
            <a:off x="10220809" y="4850878"/>
            <a:ext cx="698500" cy="276999"/>
          </a:xfrm>
          <a:prstGeom prst="rect">
            <a:avLst/>
          </a:prstGeom>
          <a:noFill/>
        </p:spPr>
        <p:txBody>
          <a:bodyPr wrap="square" rtlCol="0">
            <a:spAutoFit/>
          </a:bodyPr>
          <a:lstStyle/>
          <a:p>
            <a:pPr algn="ctr"/>
            <a:r>
              <a:rPr kumimoji="1" lang="ja-JP" altLang="en-US" sz="1200"/>
              <a:t>居住</a:t>
            </a:r>
          </a:p>
        </p:txBody>
      </p:sp>
      <p:sp>
        <p:nvSpPr>
          <p:cNvPr id="132" name="正方形/長方形 131">
            <a:extLst>
              <a:ext uri="{FF2B5EF4-FFF2-40B4-BE49-F238E27FC236}">
                <a16:creationId xmlns:a16="http://schemas.microsoft.com/office/drawing/2014/main" id="{13B506BC-76DC-0A51-013E-1EB739BE2CF0}"/>
              </a:ext>
            </a:extLst>
          </p:cNvPr>
          <p:cNvSpPr/>
          <p:nvPr/>
        </p:nvSpPr>
        <p:spPr>
          <a:xfrm>
            <a:off x="10182910" y="1466343"/>
            <a:ext cx="664519"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kumimoji="1" lang="en-US" altLang="ja-JP" sz="1200" dirty="0"/>
              <a:t>C</a:t>
            </a:r>
            <a:endParaRPr kumimoji="1" lang="ja-JP" altLang="en-US" sz="1200"/>
          </a:p>
        </p:txBody>
      </p:sp>
      <p:sp>
        <p:nvSpPr>
          <p:cNvPr id="133" name="正方形/長方形 132">
            <a:extLst>
              <a:ext uri="{FF2B5EF4-FFF2-40B4-BE49-F238E27FC236}">
                <a16:creationId xmlns:a16="http://schemas.microsoft.com/office/drawing/2014/main" id="{2C66A4AF-D51A-87BA-7618-E485C8B9155B}"/>
              </a:ext>
            </a:extLst>
          </p:cNvPr>
          <p:cNvSpPr/>
          <p:nvPr/>
        </p:nvSpPr>
        <p:spPr>
          <a:xfrm>
            <a:off x="10973381" y="1464608"/>
            <a:ext cx="659313" cy="32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t>文書</a:t>
            </a:r>
            <a:r>
              <a:rPr lang="en-US" altLang="ja-JP" sz="1200" dirty="0"/>
              <a:t>D</a:t>
            </a:r>
            <a:endParaRPr kumimoji="1" lang="ja-JP" altLang="en-US" sz="1200"/>
          </a:p>
        </p:txBody>
      </p:sp>
      <p:sp>
        <p:nvSpPr>
          <p:cNvPr id="134" name="正方形/長方形 133">
            <a:extLst>
              <a:ext uri="{FF2B5EF4-FFF2-40B4-BE49-F238E27FC236}">
                <a16:creationId xmlns:a16="http://schemas.microsoft.com/office/drawing/2014/main" id="{7E5A7CE0-70DD-F884-8839-7AE2436482FE}"/>
              </a:ext>
            </a:extLst>
          </p:cNvPr>
          <p:cNvSpPr/>
          <p:nvPr/>
        </p:nvSpPr>
        <p:spPr>
          <a:xfrm>
            <a:off x="9465118" y="2133212"/>
            <a:ext cx="1317391" cy="162748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右矢印 144">
            <a:extLst>
              <a:ext uri="{FF2B5EF4-FFF2-40B4-BE49-F238E27FC236}">
                <a16:creationId xmlns:a16="http://schemas.microsoft.com/office/drawing/2014/main" id="{7E7C8139-2B92-A9E0-3102-6D13EE0F93FB}"/>
              </a:ext>
            </a:extLst>
          </p:cNvPr>
          <p:cNvSpPr/>
          <p:nvPr/>
        </p:nvSpPr>
        <p:spPr>
          <a:xfrm>
            <a:off x="4543077" y="5030878"/>
            <a:ext cx="558800" cy="39602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2324375"/>
      </p:ext>
    </p:extLst>
  </p:cSld>
  <p:clrMapOvr>
    <a:masterClrMapping/>
  </p:clrMapOvr>
</p:sld>
</file>

<file path=ppt/theme/theme1.xml><?xml version="1.0" encoding="utf-8"?>
<a:theme xmlns:a="http://schemas.openxmlformats.org/drawingml/2006/main" name="Office テーマ">
  <a:themeElements>
    <a:clrScheme name="ユーザー定義 8">
      <a:dk1>
        <a:srgbClr val="4D4D4D"/>
      </a:dk1>
      <a:lt1>
        <a:srgbClr val="F8F8F8"/>
      </a:lt1>
      <a:dk2>
        <a:srgbClr val="7F7F7F"/>
      </a:dk2>
      <a:lt2>
        <a:srgbClr val="B2B2B2"/>
      </a:lt2>
      <a:accent1>
        <a:srgbClr val="2E5B96"/>
      </a:accent1>
      <a:accent2>
        <a:srgbClr val="C03936"/>
      </a:accent2>
      <a:accent3>
        <a:srgbClr val="ED7D31"/>
      </a:accent3>
      <a:accent4>
        <a:srgbClr val="3E9288"/>
      </a:accent4>
      <a:accent5>
        <a:srgbClr val="4747C1"/>
      </a:accent5>
      <a:accent6>
        <a:srgbClr val="70AD47"/>
      </a:accent6>
      <a:hlink>
        <a:srgbClr val="0563C1"/>
      </a:hlink>
      <a:folHlink>
        <a:srgbClr val="954F72"/>
      </a:folHlink>
    </a:clrScheme>
    <a:fontScheme name="ユーザー定義 2">
      <a:majorFont>
        <a:latin typeface="Segoe UI"/>
        <a:ea typeface="游ゴシック Medium"/>
        <a:cs typeface=""/>
      </a:majorFont>
      <a:minorFont>
        <a:latin typeface="Segoe UI"/>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10603" id="{875A7519-CEBA-9F40-8574-9DFCA997956B}" vid="{C394D31F-9D95-7345-A2D6-C1192C6684A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7783413B678BA4F83764129A5DB4607" ma:contentTypeVersion="0" ma:contentTypeDescription="新しいドキュメントを作成します。" ma:contentTypeScope="" ma:versionID="36bbfa3e05015206d9e02241ed477da6">
  <xsd:schema xmlns:xsd="http://www.w3.org/2001/XMLSchema" xmlns:xs="http://www.w3.org/2001/XMLSchema" xmlns:p="http://schemas.microsoft.com/office/2006/metadata/properties" targetNamespace="http://schemas.microsoft.com/office/2006/metadata/properties" ma:root="true" ma:fieldsID="bfa5fc393d419cfd9816b88a984ff78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33ED81-A378-482E-B710-0D21A32023B2}">
  <ds:schemaRefs>
    <ds:schemaRef ds:uri="http://schemas.microsoft.com/office/infopath/2007/PartnerControls"/>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http://purl.org/dc/dcmitype/"/>
    <ds:schemaRef ds:uri="http://purl.org/dc/elements/1.1/"/>
    <ds:schemaRef ds:uri="http://purl.org/dc/terms/"/>
  </ds:schemaRefs>
</ds:datastoreItem>
</file>

<file path=customXml/itemProps2.xml><?xml version="1.0" encoding="utf-8"?>
<ds:datastoreItem xmlns:ds="http://schemas.openxmlformats.org/officeDocument/2006/customXml" ds:itemID="{BE74453E-F96D-478A-A3EE-1788D5BEB2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0EFD21F3-24CC-4605-A5CE-D678D2531A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テーマ</Template>
  <TotalTime>197447</TotalTime>
  <Words>6064</Words>
  <Application>Microsoft Macintosh PowerPoint</Application>
  <PresentationFormat>ワイド画面</PresentationFormat>
  <Paragraphs>657</Paragraphs>
  <Slides>22</Slides>
  <Notes>2</Notes>
  <HiddenSlides>13</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22</vt:i4>
      </vt:variant>
    </vt:vector>
  </HeadingPairs>
  <TitlesOfParts>
    <vt:vector size="30" baseType="lpstr">
      <vt:lpstr>游ゴシック</vt:lpstr>
      <vt:lpstr>游ゴシック</vt:lpstr>
      <vt:lpstr>游ゴシック Medium</vt:lpstr>
      <vt:lpstr>Arial</vt:lpstr>
      <vt:lpstr>Cambria Math</vt:lpstr>
      <vt:lpstr>Segoe UI</vt:lpstr>
      <vt:lpstr>Wingdings</vt:lpstr>
      <vt:lpstr>Office テーマ</vt:lpstr>
      <vt:lpstr>TF-IDFを用いた軽量な　　　　グラフベースRAG手法</vt:lpstr>
      <vt:lpstr>PowerPoint プレゼンテーション</vt:lpstr>
      <vt:lpstr>PowerPoint プレゼンテーション</vt:lpstr>
      <vt:lpstr>PowerPoint プレゼンテーション</vt:lpstr>
      <vt:lpstr>PowerPoint プレゼンテーション</vt:lpstr>
      <vt:lpstr>index (事前構築) 時間を大幅に短縮</vt:lpstr>
      <vt:lpstr>各項目でRAGを超える精度</vt:lpstr>
      <vt:lpstr>PowerPoint プレゼンテーション</vt:lpstr>
      <vt:lpstr>PowerPoint プレゼンテーション</vt:lpstr>
      <vt:lpstr>Q：気候変動政策に関するニュース記事で表明される見解は、先進国と発展途上国でどのように異なり、これらの差異は世界の世論にどのような影響を与えるのか？</vt:lpstr>
      <vt:lpstr>PowerPoint プレゼンテーション</vt:lpstr>
      <vt:lpstr>Q：気候変動政策に関するニュース記事で表明される見解は、先進国と発展途上国でどのように異なり、これらの差異は世界の世論にどのような影響を与えるのか？</vt:lpstr>
      <vt:lpstr>PowerPoint プレゼンテーション</vt:lpstr>
      <vt:lpstr>各項目でRAGを超える精度</vt:lpstr>
      <vt:lpstr>各項目でRAGを超える精度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zico@inl.ics.keio.ac.jp</dc:creator>
  <cp:lastModifiedBy>ranmaruishikawa@keio.jp</cp:lastModifiedBy>
  <cp:revision>53</cp:revision>
  <dcterms:created xsi:type="dcterms:W3CDTF">2022-02-04T07:45:03Z</dcterms:created>
  <dcterms:modified xsi:type="dcterms:W3CDTF">2026-01-29T08:10:47Z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0x010100E7783413B678BA4F83764129A5DB4607</vt:lpwstr>
  </property>
</Properties>
</file>